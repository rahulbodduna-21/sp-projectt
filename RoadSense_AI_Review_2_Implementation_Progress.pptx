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53" y="-47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803136"/>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457200" cy="6858000"/>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endParaRPr/>
          </a:p>
        </p:txBody>
      </p:sp>
      <p:sp>
        <p:nvSpPr>
          <p:cNvPr id="5" name="Rectangle 4"/>
          <p:cNvSpPr/>
          <p:nvPr/>
        </p:nvSpPr>
        <p:spPr>
          <a:xfrm>
            <a:off x="685800" y="228600"/>
            <a:ext cx="2286000" cy="4114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9144000" cy="411480"/>
          </a:xfrm>
          <a:prstGeom prst="rect">
            <a:avLst/>
          </a:prstGeom>
        </p:spPr>
        <p:style>
          <a:lnRef idx="2">
            <a:schemeClr val="accent1"/>
          </a:lnRef>
          <a:fillRef idx="1">
            <a:schemeClr val="lt1"/>
          </a:fillRef>
          <a:effectRef idx="0">
            <a:schemeClr val="accent1"/>
          </a:effectRef>
          <a:fontRef idx="minor">
            <a:schemeClr val="dk1"/>
          </a:fontRef>
        </p:style>
        <p:txBody>
          <a:bodyPr wrap="square"/>
          <a:lstStyle/>
          <a:p>
            <a:pPr algn="l"/>
            <a:r>
              <a:rPr sz="1100" b="1" i="0" dirty="0">
                <a:solidFill>
                  <a:srgbClr val="0D1B2A"/>
                </a:solidFill>
                <a:latin typeface="Calibri"/>
              </a:rPr>
              <a:t>REVIEW 2 — PROJECT IMPLEMENTATION PROGRESS</a:t>
            </a:r>
          </a:p>
        </p:txBody>
      </p:sp>
      <p:sp>
        <p:nvSpPr>
          <p:cNvPr id="7" name="TextBox 6"/>
          <p:cNvSpPr txBox="1"/>
          <p:nvPr/>
        </p:nvSpPr>
        <p:spPr>
          <a:xfrm>
            <a:off x="685800" y="822960"/>
            <a:ext cx="11247120" cy="219456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lstStyle/>
          <a:p>
            <a:pPr algn="l"/>
            <a:r>
              <a:rPr sz="3000" b="1" i="0">
                <a:solidFill>
                  <a:srgbClr val="FFFFFF"/>
                </a:solidFill>
                <a:latin typeface="Calibri"/>
              </a:rPr>
              <a:t>Vehicle-Independent Road Anomaly Classification
Through DSP-Based Signal Calibration
Across Diverse Vehicle and Road Conditions</a:t>
            </a:r>
          </a:p>
        </p:txBody>
      </p:sp>
      <p:sp>
        <p:nvSpPr>
          <p:cNvPr id="8" name="Rectangle 7"/>
          <p:cNvSpPr/>
          <p:nvPr/>
        </p:nvSpPr>
        <p:spPr>
          <a:xfrm>
            <a:off x="685800" y="3063240"/>
            <a:ext cx="10515600" cy="36576"/>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5800" y="3200400"/>
            <a:ext cx="5120640" cy="25603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10" name="TextBox 9"/>
          <p:cNvSpPr txBox="1"/>
          <p:nvPr/>
        </p:nvSpPr>
        <p:spPr>
          <a:xfrm>
            <a:off x="868680" y="3291840"/>
            <a:ext cx="4754880" cy="2377440"/>
          </a:xfrm>
          <a:prstGeom prst="rect">
            <a:avLst/>
          </a:prstGeom>
          <a:noFill/>
        </p:spPr>
        <p:txBody>
          <a:bodyPr wrap="square">
            <a:spAutoFit/>
          </a:bodyPr>
          <a:lstStyle/>
          <a:p>
            <a:pPr algn="l">
              <a:lnSpc>
                <a:spcPts val="1800"/>
              </a:lnSpc>
            </a:pPr>
            <a:r>
              <a:rPr sz="1300" b="1">
                <a:solidFill>
                  <a:srgbClr val="00C8FF"/>
                </a:solidFill>
                <a:latin typeface="Calibri"/>
              </a:rPr>
              <a:t>Team Members</a:t>
            </a:r>
          </a:p>
          <a:p>
            <a:pPr algn="l">
              <a:lnSpc>
                <a:spcPts val="1800"/>
              </a:lnSpc>
            </a:pPr>
            <a:r>
              <a:rPr sz="1200" b="0">
                <a:solidFill>
                  <a:srgbClr val="D0D8E8"/>
                </a:solidFill>
                <a:latin typeface="Calibri"/>
              </a:rPr>
              <a:t>Rahul Bodduna          —  2520040001</a:t>
            </a:r>
          </a:p>
          <a:p>
            <a:pPr algn="l">
              <a:lnSpc>
                <a:spcPts val="1800"/>
              </a:lnSpc>
            </a:pPr>
            <a:r>
              <a:rPr sz="1200" b="0">
                <a:solidFill>
                  <a:srgbClr val="D0D8E8"/>
                </a:solidFill>
                <a:latin typeface="Calibri"/>
              </a:rPr>
              <a:t>Guna Shekar             —  2520040100</a:t>
            </a:r>
          </a:p>
          <a:p>
            <a:pPr algn="l">
              <a:lnSpc>
                <a:spcPts val="1800"/>
              </a:lnSpc>
            </a:pPr>
            <a:r>
              <a:rPr sz="1200" b="0">
                <a:solidFill>
                  <a:srgbClr val="D0D8E8"/>
                </a:solidFill>
                <a:latin typeface="Calibri"/>
              </a:rPr>
              <a:t>Pavan Biradhar         —  2520040102</a:t>
            </a:r>
          </a:p>
          <a:p>
            <a:pPr algn="l">
              <a:lnSpc>
                <a:spcPts val="1800"/>
              </a:lnSpc>
            </a:pPr>
            <a:endParaRPr sz="1200" b="0">
              <a:solidFill>
                <a:srgbClr val="D0D8E8"/>
              </a:solidFill>
              <a:latin typeface="Calibri"/>
            </a:endParaRPr>
          </a:p>
          <a:p>
            <a:pPr algn="l">
              <a:lnSpc>
                <a:spcPts val="1800"/>
              </a:lnSpc>
            </a:pPr>
            <a:r>
              <a:rPr sz="1300" b="1">
                <a:solidFill>
                  <a:srgbClr val="00C8FF"/>
                </a:solidFill>
                <a:latin typeface="Calibri"/>
              </a:rPr>
              <a:t>Supervisor</a:t>
            </a:r>
          </a:p>
          <a:p>
            <a:pPr algn="l">
              <a:lnSpc>
                <a:spcPts val="1800"/>
              </a:lnSpc>
            </a:pPr>
            <a:r>
              <a:rPr sz="1200" b="0">
                <a:solidFill>
                  <a:srgbClr val="D0D8E8"/>
                </a:solidFill>
                <a:latin typeface="Calibri"/>
              </a:rPr>
              <a:t>Dr. V. Sahiti</a:t>
            </a:r>
          </a:p>
          <a:p>
            <a:pPr algn="l">
              <a:lnSpc>
                <a:spcPts val="1800"/>
              </a:lnSpc>
            </a:pPr>
            <a:endParaRPr sz="1200" b="0">
              <a:solidFill>
                <a:srgbClr val="D0D8E8"/>
              </a:solidFill>
              <a:latin typeface="Calibri"/>
            </a:endParaRPr>
          </a:p>
          <a:p>
            <a:pPr algn="l">
              <a:lnSpc>
                <a:spcPts val="1800"/>
              </a:lnSpc>
            </a:pPr>
            <a:r>
              <a:rPr sz="1100" b="0">
                <a:solidFill>
                  <a:srgbClr val="D0D8E8"/>
                </a:solidFill>
                <a:latin typeface="Calibri"/>
              </a:rPr>
              <a:t>Department:  ECE, KLH University, Hyderabad</a:t>
            </a:r>
          </a:p>
          <a:p>
            <a:pPr algn="l">
              <a:lnSpc>
                <a:spcPts val="1800"/>
              </a:lnSpc>
            </a:pPr>
            <a:r>
              <a:rPr sz="1100" b="0">
                <a:solidFill>
                  <a:srgbClr val="D0D8E8"/>
                </a:solidFill>
                <a:latin typeface="Calibri"/>
              </a:rPr>
              <a:t>Academic Year:  2025–26</a:t>
            </a:r>
          </a:p>
        </p:txBody>
      </p:sp>
      <p:sp>
        <p:nvSpPr>
          <p:cNvPr id="11" name="Rectangle 10"/>
          <p:cNvSpPr/>
          <p:nvPr/>
        </p:nvSpPr>
        <p:spPr>
          <a:xfrm>
            <a:off x="6035040" y="3200400"/>
            <a:ext cx="5577840" cy="25603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12" name="TextBox 11"/>
          <p:cNvSpPr txBox="1"/>
          <p:nvPr/>
        </p:nvSpPr>
        <p:spPr>
          <a:xfrm>
            <a:off x="6217920" y="3291840"/>
            <a:ext cx="5212080" cy="237744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algn="l">
              <a:lnSpc>
                <a:spcPts val="1800"/>
              </a:lnSpc>
            </a:pPr>
            <a:r>
              <a:rPr sz="1300" b="1">
                <a:solidFill>
                  <a:srgbClr val="00C8FF"/>
                </a:solidFill>
                <a:latin typeface="Calibri"/>
              </a:rPr>
              <a:t>Implementation Status</a:t>
            </a:r>
          </a:p>
          <a:p>
            <a:pPr algn="l">
              <a:lnSpc>
                <a:spcPts val="1800"/>
              </a:lnSpc>
            </a:pPr>
            <a:r>
              <a:rPr sz="1100" b="0">
                <a:solidFill>
                  <a:srgbClr val="00C864"/>
                </a:solidFill>
                <a:latin typeface="Calibri"/>
              </a:rPr>
              <a:t>✔  CSV Upload &amp; Validation</a:t>
            </a:r>
          </a:p>
          <a:p>
            <a:pPr algn="l">
              <a:lnSpc>
                <a:spcPts val="1800"/>
              </a:lnSpc>
            </a:pPr>
            <a:r>
              <a:rPr sz="1100" b="0">
                <a:solidFill>
                  <a:srgbClr val="00C864"/>
                </a:solidFill>
                <a:latin typeface="Calibri"/>
              </a:rPr>
              <a:t>✔  DSP Signal Processing Pipeline</a:t>
            </a:r>
          </a:p>
          <a:p>
            <a:pPr algn="l">
              <a:lnSpc>
                <a:spcPts val="1800"/>
              </a:lnSpc>
            </a:pPr>
            <a:r>
              <a:rPr sz="1100" b="0">
                <a:solidFill>
                  <a:srgbClr val="00C864"/>
                </a:solidFill>
                <a:latin typeface="Calibri"/>
              </a:rPr>
              <a:t>✔  Machine-Learning Classification</a:t>
            </a:r>
          </a:p>
          <a:p>
            <a:pPr algn="l">
              <a:lnSpc>
                <a:spcPts val="1800"/>
              </a:lnSpc>
            </a:pPr>
            <a:r>
              <a:rPr sz="1100" b="0">
                <a:solidFill>
                  <a:srgbClr val="00C864"/>
                </a:solidFill>
                <a:latin typeface="Calibri"/>
              </a:rPr>
              <a:t>✔  GPS Map Visualization</a:t>
            </a:r>
          </a:p>
          <a:p>
            <a:pPr algn="l">
              <a:lnSpc>
                <a:spcPts val="1800"/>
              </a:lnSpc>
            </a:pPr>
            <a:r>
              <a:rPr sz="1100" b="0">
                <a:solidFill>
                  <a:srgbClr val="00C864"/>
                </a:solidFill>
                <a:latin typeface="Calibri"/>
              </a:rPr>
              <a:t>✔  Three-Vehicle Datasets Collected</a:t>
            </a:r>
          </a:p>
          <a:p>
            <a:pPr algn="l">
              <a:lnSpc>
                <a:spcPts val="1800"/>
              </a:lnSpc>
            </a:pPr>
            <a:r>
              <a:rPr sz="1100" b="0">
                <a:solidFill>
                  <a:srgbClr val="00C864"/>
                </a:solidFill>
                <a:latin typeface="Calibri"/>
              </a:rPr>
              <a:t>✔  Cross-Vehicle Experiments Executed</a:t>
            </a:r>
          </a:p>
          <a:p>
            <a:pPr algn="l">
              <a:lnSpc>
                <a:spcPts val="1800"/>
              </a:lnSpc>
            </a:pPr>
            <a:r>
              <a:rPr sz="1100" b="0">
                <a:solidFill>
                  <a:srgbClr val="FF8C00"/>
                </a:solidFill>
                <a:latin typeface="Calibri"/>
              </a:rPr>
              <a:t>⏳  Ablation Calibration Tuning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Project Overview &amp; Implementation Progress</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Research Question: Can DSP calibration reduce vehicle-dependent sensor variation for road anomaly classification?</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182880" y="1051560"/>
            <a:ext cx="3840480" cy="320040"/>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 y="1051560"/>
            <a:ext cx="3840480" cy="320040"/>
          </a:xfrm>
          <a:prstGeom prst="rect">
            <a:avLst/>
          </a:prstGeom>
          <a:noFill/>
        </p:spPr>
        <p:txBody>
          <a:bodyPr wrap="square"/>
          <a:lstStyle/>
          <a:p>
            <a:pPr algn="ctr"/>
            <a:r>
              <a:rPr sz="1000" b="1" i="0">
                <a:solidFill>
                  <a:srgbClr val="0D1B2A"/>
                </a:solidFill>
                <a:latin typeface="Calibri"/>
              </a:rPr>
              <a:t>IMPLEMENTED &amp; WORKING</a:t>
            </a:r>
          </a:p>
        </p:txBody>
      </p:sp>
      <p:sp>
        <p:nvSpPr>
          <p:cNvPr id="11" name="Rectangle 10"/>
          <p:cNvSpPr/>
          <p:nvPr/>
        </p:nvSpPr>
        <p:spPr>
          <a:xfrm>
            <a:off x="182880" y="1371600"/>
            <a:ext cx="3840480" cy="4983480"/>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12" name="TextBox 11"/>
          <p:cNvSpPr txBox="1"/>
          <p:nvPr/>
        </p:nvSpPr>
        <p:spPr>
          <a:xfrm>
            <a:off x="274320" y="1463040"/>
            <a:ext cx="3657600" cy="2127442"/>
          </a:xfrm>
          <a:prstGeom prst="rect">
            <a:avLst/>
          </a:prstGeom>
          <a:noFill/>
        </p:spPr>
        <p:txBody>
          <a:bodyPr wrap="square">
            <a:spAutoFit/>
          </a:bodyPr>
          <a:lstStyle/>
          <a:p>
            <a:pPr algn="l">
              <a:lnSpc>
                <a:spcPts val="2000"/>
              </a:lnSpc>
            </a:pPr>
            <a:r>
              <a:rPr sz="1400" b="0" dirty="0">
                <a:solidFill>
                  <a:srgbClr val="FFFFFF"/>
                </a:solidFill>
                <a:latin typeface="Calibri"/>
              </a:rPr>
              <a:t>• CSV upload with schema validation</a:t>
            </a:r>
          </a:p>
          <a:p>
            <a:pPr algn="l">
              <a:lnSpc>
                <a:spcPts val="2000"/>
              </a:lnSpc>
            </a:pPr>
            <a:r>
              <a:rPr sz="1400" b="0" dirty="0">
                <a:solidFill>
                  <a:srgbClr val="FFFFFF"/>
                </a:solidFill>
                <a:latin typeface="Calibri"/>
              </a:rPr>
              <a:t>• 8-stage DSP pipeline (Hampel → Gravity Sep. → Butterworth → Jerk → Calibration)</a:t>
            </a:r>
          </a:p>
          <a:p>
            <a:pPr algn="l">
              <a:lnSpc>
                <a:spcPts val="2000"/>
              </a:lnSpc>
            </a:pPr>
            <a:r>
              <a:rPr sz="1400" b="0" dirty="0">
                <a:solidFill>
                  <a:srgbClr val="FFFFFF"/>
                </a:solidFill>
                <a:latin typeface="Calibri"/>
              </a:rPr>
              <a:t>• 77-feature extraction (time-domain + FFT)</a:t>
            </a:r>
          </a:p>
          <a:p>
            <a:pPr algn="l">
              <a:lnSpc>
                <a:spcPts val="2000"/>
              </a:lnSpc>
            </a:pPr>
            <a:r>
              <a:rPr sz="1400" b="0" dirty="0">
                <a:solidFill>
                  <a:srgbClr val="FFFFFF"/>
                </a:solidFill>
                <a:latin typeface="Calibri"/>
              </a:rPr>
              <a:t>• Random Forest classifier (300 trees)</a:t>
            </a:r>
          </a:p>
          <a:p>
            <a:pPr algn="l">
              <a:lnSpc>
                <a:spcPts val="2000"/>
              </a:lnSpc>
            </a:pPr>
            <a:r>
              <a:rPr sz="1400" b="0" dirty="0">
                <a:solidFill>
                  <a:srgbClr val="FFFFFF"/>
                </a:solidFill>
                <a:latin typeface="Calibri"/>
              </a:rPr>
              <a:t>• Interactive GPS Folium map</a:t>
            </a:r>
          </a:p>
          <a:p>
            <a:pPr algn="l">
              <a:lnSpc>
                <a:spcPts val="2000"/>
              </a:lnSpc>
            </a:pPr>
            <a:r>
              <a:rPr sz="1400" b="0" dirty="0">
                <a:solidFill>
                  <a:srgbClr val="FFFFFF"/>
                </a:solidFill>
                <a:latin typeface="Calibri"/>
              </a:rPr>
              <a:t>• 3 vehicle datasets collected</a:t>
            </a:r>
          </a:p>
          <a:p>
            <a:pPr algn="l">
              <a:lnSpc>
                <a:spcPts val="2000"/>
              </a:lnSpc>
            </a:pPr>
            <a:r>
              <a:rPr sz="1400" b="0" dirty="0">
                <a:solidFill>
                  <a:srgbClr val="FFFFFF"/>
                </a:solidFill>
                <a:latin typeface="Calibri"/>
              </a:rPr>
              <a:t>• Adaptive jerk-based anomaly detection</a:t>
            </a:r>
          </a:p>
        </p:txBody>
      </p:sp>
      <p:sp>
        <p:nvSpPr>
          <p:cNvPr id="13" name="Rectangle 12"/>
          <p:cNvSpPr/>
          <p:nvPr/>
        </p:nvSpPr>
        <p:spPr>
          <a:xfrm>
            <a:off x="4160520" y="1051560"/>
            <a:ext cx="3840480" cy="3200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60520" y="1051560"/>
            <a:ext cx="3840480" cy="320040"/>
          </a:xfrm>
          <a:prstGeom prst="rect">
            <a:avLst/>
          </a:prstGeom>
          <a:noFill/>
        </p:spPr>
        <p:txBody>
          <a:bodyPr wrap="square"/>
          <a:lstStyle/>
          <a:p>
            <a:pPr algn="ctr"/>
            <a:r>
              <a:rPr sz="1000" b="1" i="0">
                <a:solidFill>
                  <a:srgbClr val="0D1B2A"/>
                </a:solidFill>
                <a:latin typeface="Calibri"/>
              </a:rPr>
              <a:t>MEASURED &amp; EVALUATED</a:t>
            </a:r>
          </a:p>
        </p:txBody>
      </p:sp>
      <p:sp>
        <p:nvSpPr>
          <p:cNvPr id="15" name="Rectangle 14"/>
          <p:cNvSpPr/>
          <p:nvPr/>
        </p:nvSpPr>
        <p:spPr>
          <a:xfrm>
            <a:off x="4160520" y="1371600"/>
            <a:ext cx="3840480" cy="4983480"/>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16" name="TextBox 15"/>
          <p:cNvSpPr txBox="1"/>
          <p:nvPr/>
        </p:nvSpPr>
        <p:spPr>
          <a:xfrm>
            <a:off x="4251960" y="1463040"/>
            <a:ext cx="3657600" cy="2127442"/>
          </a:xfrm>
          <a:prstGeom prst="rect">
            <a:avLst/>
          </a:prstGeom>
          <a:noFill/>
        </p:spPr>
        <p:txBody>
          <a:bodyPr wrap="square">
            <a:spAutoFit/>
          </a:bodyPr>
          <a:lstStyle/>
          <a:p>
            <a:pPr algn="l">
              <a:lnSpc>
                <a:spcPts val="2000"/>
              </a:lnSpc>
            </a:pPr>
            <a:r>
              <a:rPr sz="1400" b="0" dirty="0">
                <a:solidFill>
                  <a:srgbClr val="FFFFFF"/>
                </a:solidFill>
                <a:latin typeface="Calibri"/>
              </a:rPr>
              <a:t>• Individual vehicle accuracy (Exp A)</a:t>
            </a:r>
          </a:p>
          <a:p>
            <a:pPr algn="l">
              <a:lnSpc>
                <a:spcPts val="2000"/>
              </a:lnSpc>
            </a:pPr>
            <a:r>
              <a:rPr sz="1400" b="0" dirty="0">
                <a:solidFill>
                  <a:srgbClr val="FFFFFF"/>
                </a:solidFill>
                <a:latin typeface="Calibri"/>
              </a:rPr>
              <a:t>• Cross-vehicle generalization (Exp B)</a:t>
            </a:r>
          </a:p>
          <a:p>
            <a:pPr algn="l">
              <a:lnSpc>
                <a:spcPts val="2000"/>
              </a:lnSpc>
            </a:pPr>
            <a:r>
              <a:rPr sz="1400" b="0" dirty="0">
                <a:solidFill>
                  <a:srgbClr val="FFFFFF"/>
                </a:solidFill>
                <a:latin typeface="Calibri"/>
              </a:rPr>
              <a:t>• Combined 3-vehicle model (Exp C)</a:t>
            </a:r>
          </a:p>
          <a:p>
            <a:pPr algn="l">
              <a:lnSpc>
                <a:spcPts val="2000"/>
              </a:lnSpc>
            </a:pPr>
            <a:r>
              <a:rPr sz="1400" b="0" dirty="0">
                <a:solidFill>
                  <a:srgbClr val="FFFFFF"/>
                </a:solidFill>
                <a:latin typeface="Calibri"/>
              </a:rPr>
              <a:t>• Anomaly intensity scores (0–100)</a:t>
            </a:r>
          </a:p>
          <a:p>
            <a:pPr algn="l">
              <a:lnSpc>
                <a:spcPts val="2000"/>
              </a:lnSpc>
            </a:pPr>
            <a:r>
              <a:rPr sz="1400" b="0" dirty="0">
                <a:solidFill>
                  <a:srgbClr val="FFFFFF"/>
                </a:solidFill>
                <a:latin typeface="Calibri"/>
              </a:rPr>
              <a:t>• Road segment classification (SMOOTH/ROUGH)</a:t>
            </a:r>
          </a:p>
          <a:p>
            <a:pPr algn="l">
              <a:lnSpc>
                <a:spcPts val="2000"/>
              </a:lnSpc>
            </a:pPr>
            <a:r>
              <a:rPr sz="1400" b="0" dirty="0">
                <a:solidFill>
                  <a:srgbClr val="FFFFFF"/>
                </a:solidFill>
                <a:latin typeface="Calibri"/>
              </a:rPr>
              <a:t>• Session-aware GroupShuffleSplit evaluation</a:t>
            </a:r>
          </a:p>
          <a:p>
            <a:pPr algn="l">
              <a:lnSpc>
                <a:spcPts val="2000"/>
              </a:lnSpc>
            </a:pPr>
            <a:r>
              <a:rPr sz="1400" b="0" dirty="0">
                <a:solidFill>
                  <a:srgbClr val="FFFFFF"/>
                </a:solidFill>
                <a:latin typeface="Calibri"/>
              </a:rPr>
              <a:t>• Multi-vehicle GPS map with vehicle filter</a:t>
            </a:r>
          </a:p>
        </p:txBody>
      </p:sp>
      <p:sp>
        <p:nvSpPr>
          <p:cNvPr id="17" name="Rectangle 16"/>
          <p:cNvSpPr/>
          <p:nvPr/>
        </p:nvSpPr>
        <p:spPr>
          <a:xfrm>
            <a:off x="8138160" y="1051560"/>
            <a:ext cx="3840480" cy="3200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1051560"/>
            <a:ext cx="3840480" cy="320040"/>
          </a:xfrm>
          <a:prstGeom prst="rect">
            <a:avLst/>
          </a:prstGeom>
          <a:noFill/>
        </p:spPr>
        <p:txBody>
          <a:bodyPr wrap="square"/>
          <a:lstStyle/>
          <a:p>
            <a:pPr algn="ctr"/>
            <a:r>
              <a:rPr sz="1000" b="1" i="0">
                <a:solidFill>
                  <a:srgbClr val="0D1B2A"/>
                </a:solidFill>
                <a:latin typeface="Calibri"/>
              </a:rPr>
              <a:t>UNDER EVALUATION / PLANNED</a:t>
            </a:r>
          </a:p>
        </p:txBody>
      </p:sp>
      <p:sp>
        <p:nvSpPr>
          <p:cNvPr id="19" name="Rectangle 18"/>
          <p:cNvSpPr/>
          <p:nvPr/>
        </p:nvSpPr>
        <p:spPr>
          <a:xfrm>
            <a:off x="8138160" y="1371600"/>
            <a:ext cx="3840480" cy="4983480"/>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20" name="TextBox 19"/>
          <p:cNvSpPr txBox="1"/>
          <p:nvPr/>
        </p:nvSpPr>
        <p:spPr>
          <a:xfrm>
            <a:off x="8229600" y="1537519"/>
            <a:ext cx="3657600" cy="1614481"/>
          </a:xfrm>
          <a:prstGeom prst="rect">
            <a:avLst/>
          </a:prstGeom>
          <a:noFill/>
        </p:spPr>
        <p:txBody>
          <a:bodyPr wrap="square">
            <a:spAutoFit/>
          </a:bodyPr>
          <a:lstStyle/>
          <a:p>
            <a:pPr algn="l">
              <a:lnSpc>
                <a:spcPts val="2000"/>
              </a:lnSpc>
            </a:pPr>
            <a:r>
              <a:rPr sz="1400" b="0" dirty="0">
                <a:solidFill>
                  <a:srgbClr val="FFFFFF"/>
                </a:solidFill>
                <a:latin typeface="Calibri"/>
              </a:rPr>
              <a:t>• DSP ablation calibration tuning</a:t>
            </a:r>
          </a:p>
          <a:p>
            <a:pPr algn="l">
              <a:lnSpc>
                <a:spcPts val="2000"/>
              </a:lnSpc>
            </a:pPr>
            <a:r>
              <a:rPr sz="1400" b="0" dirty="0">
                <a:solidFill>
                  <a:srgbClr val="FFFFFF"/>
                </a:solidFill>
                <a:latin typeface="Calibri"/>
              </a:rPr>
              <a:t>• Improved POTHOLE class detection</a:t>
            </a:r>
          </a:p>
          <a:p>
            <a:pPr algn="l">
              <a:lnSpc>
                <a:spcPts val="2000"/>
              </a:lnSpc>
            </a:pPr>
            <a:r>
              <a:rPr sz="1400" b="0" dirty="0">
                <a:solidFill>
                  <a:srgbClr val="FFFFFF"/>
                </a:solidFill>
                <a:latin typeface="Calibri"/>
              </a:rPr>
              <a:t>• Class-imbalance correction</a:t>
            </a:r>
          </a:p>
          <a:p>
            <a:pPr algn="l">
              <a:lnSpc>
                <a:spcPts val="2000"/>
              </a:lnSpc>
            </a:pPr>
            <a:r>
              <a:rPr sz="1400" b="0" dirty="0">
                <a:solidFill>
                  <a:srgbClr val="FFFFFF"/>
                </a:solidFill>
                <a:latin typeface="Calibri"/>
              </a:rPr>
              <a:t>• GPS localization accuracy validation</a:t>
            </a:r>
          </a:p>
          <a:p>
            <a:pPr algn="l">
              <a:lnSpc>
                <a:spcPts val="2000"/>
              </a:lnSpc>
            </a:pPr>
            <a:r>
              <a:rPr sz="1400" b="0" dirty="0">
                <a:solidFill>
                  <a:srgbClr val="FFFFFF"/>
                </a:solidFill>
                <a:latin typeface="Calibri"/>
              </a:rPr>
              <a:t>• External independent dataset testing</a:t>
            </a:r>
          </a:p>
          <a:p>
            <a:pPr algn="l">
              <a:lnSpc>
                <a:spcPts val="2000"/>
              </a:lnSpc>
            </a:pPr>
            <a:r>
              <a:rPr sz="1400" b="0" dirty="0">
                <a:solidFill>
                  <a:srgbClr val="FFFFFF"/>
                </a:solidFill>
                <a:latin typeface="Calibri"/>
              </a:rPr>
              <a:t>• Sensor fusion vs. acc-only comparison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System Architecture — End-to-End Pipeline</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Identical DSP pipeline applied to all three vehicle datasets independently</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480060" y="1645920"/>
            <a:ext cx="1463040" cy="1371600"/>
          </a:xfrm>
          <a:prstGeom prst="rect">
            <a:avLst/>
          </a:prstGeom>
          <a:solidFill>
            <a:srgbClr val="007ACC"/>
          </a:solidFill>
          <a:ln w="1905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0060" y="1645920"/>
            <a:ext cx="1463040" cy="1371600"/>
          </a:xfrm>
          <a:prstGeom prst="rect">
            <a:avLst/>
          </a:prstGeom>
          <a:noFill/>
        </p:spPr>
        <p:txBody>
          <a:bodyPr wrap="square"/>
          <a:lstStyle/>
          <a:p>
            <a:pPr algn="ctr"/>
            <a:r>
              <a:rPr sz="1100" b="1" i="0">
                <a:solidFill>
                  <a:srgbClr val="FFFFFF"/>
                </a:solidFill>
                <a:latin typeface="Calibri"/>
              </a:rPr>
              <a:t>Three Vehicle
Datasets
(2W / 3W / 4W)</a:t>
            </a:r>
          </a:p>
        </p:txBody>
      </p:sp>
      <p:sp>
        <p:nvSpPr>
          <p:cNvPr id="11" name="TextBox 10"/>
          <p:cNvSpPr txBox="1"/>
          <p:nvPr/>
        </p:nvSpPr>
        <p:spPr>
          <a:xfrm>
            <a:off x="1961388" y="2194560"/>
            <a:ext cx="146304" cy="365760"/>
          </a:xfrm>
          <a:prstGeom prst="rect">
            <a:avLst/>
          </a:prstGeom>
          <a:noFill/>
        </p:spPr>
        <p:txBody>
          <a:bodyPr wrap="square"/>
          <a:lstStyle/>
          <a:p>
            <a:pPr algn="ctr"/>
            <a:r>
              <a:rPr sz="1400" b="1" i="0">
                <a:solidFill>
                  <a:srgbClr val="00C8FF"/>
                </a:solidFill>
                <a:latin typeface="Calibri"/>
              </a:rPr>
              <a:t>▶</a:t>
            </a:r>
          </a:p>
        </p:txBody>
      </p:sp>
      <p:sp>
        <p:nvSpPr>
          <p:cNvPr id="12" name="Rectangle 11"/>
          <p:cNvSpPr/>
          <p:nvPr/>
        </p:nvSpPr>
        <p:spPr>
          <a:xfrm>
            <a:off x="2107692" y="1645920"/>
            <a:ext cx="1463040" cy="1371600"/>
          </a:xfrm>
          <a:prstGeom prst="rect">
            <a:avLst/>
          </a:prstGeom>
          <a:solidFill>
            <a:srgbClr val="1E3A5F"/>
          </a:solidFill>
          <a:ln w="1905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07692" y="1645920"/>
            <a:ext cx="1463040" cy="1371600"/>
          </a:xfrm>
          <a:prstGeom prst="rect">
            <a:avLst/>
          </a:prstGeom>
          <a:noFill/>
        </p:spPr>
        <p:txBody>
          <a:bodyPr wrap="square"/>
          <a:lstStyle/>
          <a:p>
            <a:pPr algn="ctr"/>
            <a:r>
              <a:rPr sz="1100" b="1" i="0">
                <a:solidFill>
                  <a:srgbClr val="FFFFFF"/>
                </a:solidFill>
                <a:latin typeface="Calibri"/>
              </a:rPr>
              <a:t>CSV Upload
&amp; Validation</a:t>
            </a:r>
          </a:p>
        </p:txBody>
      </p:sp>
      <p:sp>
        <p:nvSpPr>
          <p:cNvPr id="14" name="TextBox 13"/>
          <p:cNvSpPr txBox="1"/>
          <p:nvPr/>
        </p:nvSpPr>
        <p:spPr>
          <a:xfrm>
            <a:off x="3589020" y="2194560"/>
            <a:ext cx="146304" cy="365760"/>
          </a:xfrm>
          <a:prstGeom prst="rect">
            <a:avLst/>
          </a:prstGeom>
          <a:noFill/>
        </p:spPr>
        <p:txBody>
          <a:bodyPr wrap="square"/>
          <a:lstStyle/>
          <a:p>
            <a:pPr algn="ctr"/>
            <a:r>
              <a:rPr sz="1400" b="1" i="0">
                <a:solidFill>
                  <a:srgbClr val="00C8FF"/>
                </a:solidFill>
                <a:latin typeface="Calibri"/>
              </a:rPr>
              <a:t>▶</a:t>
            </a:r>
          </a:p>
        </p:txBody>
      </p:sp>
      <p:sp>
        <p:nvSpPr>
          <p:cNvPr id="15" name="Rectangle 14"/>
          <p:cNvSpPr/>
          <p:nvPr/>
        </p:nvSpPr>
        <p:spPr>
          <a:xfrm>
            <a:off x="3735324" y="1645920"/>
            <a:ext cx="1463040" cy="1371600"/>
          </a:xfrm>
          <a:prstGeom prst="rect">
            <a:avLst/>
          </a:prstGeom>
          <a:solidFill>
            <a:srgbClr val="1E3A5F"/>
          </a:solidFill>
          <a:ln w="1905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35324" y="1645920"/>
            <a:ext cx="1463040" cy="1371600"/>
          </a:xfrm>
          <a:prstGeom prst="rect">
            <a:avLst/>
          </a:prstGeom>
          <a:noFill/>
        </p:spPr>
        <p:txBody>
          <a:bodyPr wrap="square"/>
          <a:lstStyle/>
          <a:p>
            <a:pPr algn="ctr"/>
            <a:r>
              <a:rPr sz="1100" b="1" i="0">
                <a:solidFill>
                  <a:srgbClr val="FFFFFF"/>
                </a:solidFill>
                <a:latin typeface="Calibri"/>
              </a:rPr>
              <a:t>8-Stage DSP
Processing</a:t>
            </a:r>
          </a:p>
        </p:txBody>
      </p:sp>
      <p:sp>
        <p:nvSpPr>
          <p:cNvPr id="17" name="TextBox 16"/>
          <p:cNvSpPr txBox="1"/>
          <p:nvPr/>
        </p:nvSpPr>
        <p:spPr>
          <a:xfrm>
            <a:off x="5216652" y="2194560"/>
            <a:ext cx="146304" cy="365760"/>
          </a:xfrm>
          <a:prstGeom prst="rect">
            <a:avLst/>
          </a:prstGeom>
          <a:noFill/>
        </p:spPr>
        <p:txBody>
          <a:bodyPr wrap="square"/>
          <a:lstStyle/>
          <a:p>
            <a:pPr algn="ctr"/>
            <a:r>
              <a:rPr sz="1400" b="1" i="0">
                <a:solidFill>
                  <a:srgbClr val="00C8FF"/>
                </a:solidFill>
                <a:latin typeface="Calibri"/>
              </a:rPr>
              <a:t>▶</a:t>
            </a:r>
          </a:p>
        </p:txBody>
      </p:sp>
      <p:sp>
        <p:nvSpPr>
          <p:cNvPr id="18" name="Rectangle 17"/>
          <p:cNvSpPr/>
          <p:nvPr/>
        </p:nvSpPr>
        <p:spPr>
          <a:xfrm>
            <a:off x="5362956" y="1645920"/>
            <a:ext cx="1463040" cy="1371600"/>
          </a:xfrm>
          <a:prstGeom prst="rect">
            <a:avLst/>
          </a:prstGeom>
          <a:solidFill>
            <a:srgbClr val="1E3A5F"/>
          </a:solidFill>
          <a:ln w="1905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62956" y="1645920"/>
            <a:ext cx="1463040" cy="1371600"/>
          </a:xfrm>
          <a:prstGeom prst="rect">
            <a:avLst/>
          </a:prstGeom>
          <a:noFill/>
        </p:spPr>
        <p:txBody>
          <a:bodyPr wrap="square"/>
          <a:lstStyle/>
          <a:p>
            <a:pPr algn="ctr"/>
            <a:r>
              <a:rPr sz="1100" b="1" i="0">
                <a:solidFill>
                  <a:srgbClr val="FFFFFF"/>
                </a:solidFill>
                <a:latin typeface="Calibri"/>
              </a:rPr>
              <a:t>Feature
Extraction
(77 features)</a:t>
            </a:r>
          </a:p>
        </p:txBody>
      </p:sp>
      <p:sp>
        <p:nvSpPr>
          <p:cNvPr id="20" name="TextBox 19"/>
          <p:cNvSpPr txBox="1"/>
          <p:nvPr/>
        </p:nvSpPr>
        <p:spPr>
          <a:xfrm>
            <a:off x="6844284" y="2194560"/>
            <a:ext cx="146304" cy="365760"/>
          </a:xfrm>
          <a:prstGeom prst="rect">
            <a:avLst/>
          </a:prstGeom>
          <a:noFill/>
        </p:spPr>
        <p:txBody>
          <a:bodyPr wrap="square"/>
          <a:lstStyle/>
          <a:p>
            <a:pPr algn="ctr"/>
            <a:r>
              <a:rPr sz="1400" b="1" i="0">
                <a:solidFill>
                  <a:srgbClr val="00C8FF"/>
                </a:solidFill>
                <a:latin typeface="Calibri"/>
              </a:rPr>
              <a:t>▶</a:t>
            </a:r>
          </a:p>
        </p:txBody>
      </p:sp>
      <p:sp>
        <p:nvSpPr>
          <p:cNvPr id="21" name="Rectangle 20"/>
          <p:cNvSpPr/>
          <p:nvPr/>
        </p:nvSpPr>
        <p:spPr>
          <a:xfrm>
            <a:off x="6990588" y="1645920"/>
            <a:ext cx="1463040" cy="1371600"/>
          </a:xfrm>
          <a:prstGeom prst="rect">
            <a:avLst/>
          </a:prstGeom>
          <a:solidFill>
            <a:srgbClr val="1E3A5F"/>
          </a:solidFill>
          <a:ln w="1905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0588" y="1645920"/>
            <a:ext cx="1463040" cy="1371600"/>
          </a:xfrm>
          <a:prstGeom prst="rect">
            <a:avLst/>
          </a:prstGeom>
          <a:noFill/>
        </p:spPr>
        <p:txBody>
          <a:bodyPr wrap="square"/>
          <a:lstStyle/>
          <a:p>
            <a:pPr algn="ctr"/>
            <a:r>
              <a:rPr sz="1100" b="1" i="0">
                <a:solidFill>
                  <a:srgbClr val="FFFFFF"/>
                </a:solidFill>
                <a:latin typeface="Calibri"/>
              </a:rPr>
              <a:t>Random Forest
Classification</a:t>
            </a:r>
          </a:p>
        </p:txBody>
      </p:sp>
      <p:sp>
        <p:nvSpPr>
          <p:cNvPr id="23" name="TextBox 22"/>
          <p:cNvSpPr txBox="1"/>
          <p:nvPr/>
        </p:nvSpPr>
        <p:spPr>
          <a:xfrm>
            <a:off x="8471916" y="2194560"/>
            <a:ext cx="146304" cy="365760"/>
          </a:xfrm>
          <a:prstGeom prst="rect">
            <a:avLst/>
          </a:prstGeom>
          <a:noFill/>
        </p:spPr>
        <p:txBody>
          <a:bodyPr wrap="square"/>
          <a:lstStyle/>
          <a:p>
            <a:pPr algn="ctr"/>
            <a:r>
              <a:rPr sz="1400" b="1" i="0">
                <a:solidFill>
                  <a:srgbClr val="00C8FF"/>
                </a:solidFill>
                <a:latin typeface="Calibri"/>
              </a:rPr>
              <a:t>▶</a:t>
            </a:r>
          </a:p>
        </p:txBody>
      </p:sp>
      <p:sp>
        <p:nvSpPr>
          <p:cNvPr id="24" name="Rectangle 23"/>
          <p:cNvSpPr/>
          <p:nvPr/>
        </p:nvSpPr>
        <p:spPr>
          <a:xfrm>
            <a:off x="8618220" y="1645920"/>
            <a:ext cx="1463040" cy="1371600"/>
          </a:xfrm>
          <a:prstGeom prst="rect">
            <a:avLst/>
          </a:prstGeom>
          <a:solidFill>
            <a:srgbClr val="1E3A5F"/>
          </a:solidFill>
          <a:ln w="1905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18220" y="1645920"/>
            <a:ext cx="1463040" cy="1371600"/>
          </a:xfrm>
          <a:prstGeom prst="rect">
            <a:avLst/>
          </a:prstGeom>
          <a:noFill/>
        </p:spPr>
        <p:txBody>
          <a:bodyPr wrap="square"/>
          <a:lstStyle/>
          <a:p>
            <a:pPr algn="ctr"/>
            <a:r>
              <a:rPr sz="1100" b="1" i="0">
                <a:solidFill>
                  <a:srgbClr val="FFFFFF"/>
                </a:solidFill>
                <a:latin typeface="Calibri"/>
              </a:rPr>
              <a:t>GPS Map
Visualization</a:t>
            </a:r>
          </a:p>
        </p:txBody>
      </p:sp>
      <p:sp>
        <p:nvSpPr>
          <p:cNvPr id="26" name="TextBox 25"/>
          <p:cNvSpPr txBox="1"/>
          <p:nvPr/>
        </p:nvSpPr>
        <p:spPr>
          <a:xfrm>
            <a:off x="10099548" y="2194560"/>
            <a:ext cx="146304" cy="365760"/>
          </a:xfrm>
          <a:prstGeom prst="rect">
            <a:avLst/>
          </a:prstGeom>
          <a:noFill/>
        </p:spPr>
        <p:txBody>
          <a:bodyPr wrap="square"/>
          <a:lstStyle/>
          <a:p>
            <a:pPr algn="ctr"/>
            <a:r>
              <a:rPr sz="1400" b="1" i="0">
                <a:solidFill>
                  <a:srgbClr val="00C8FF"/>
                </a:solidFill>
                <a:latin typeface="Calibri"/>
              </a:rPr>
              <a:t>▶</a:t>
            </a:r>
          </a:p>
        </p:txBody>
      </p:sp>
      <p:sp>
        <p:nvSpPr>
          <p:cNvPr id="27" name="Rectangle 26"/>
          <p:cNvSpPr/>
          <p:nvPr/>
        </p:nvSpPr>
        <p:spPr>
          <a:xfrm>
            <a:off x="10245852" y="1645920"/>
            <a:ext cx="1463040" cy="1371600"/>
          </a:xfrm>
          <a:prstGeom prst="rect">
            <a:avLst/>
          </a:prstGeom>
          <a:solidFill>
            <a:srgbClr val="00C864"/>
          </a:solidFill>
          <a:ln w="1905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45852" y="1645920"/>
            <a:ext cx="1463040" cy="1371600"/>
          </a:xfrm>
          <a:prstGeom prst="rect">
            <a:avLst/>
          </a:prstGeom>
          <a:noFill/>
        </p:spPr>
        <p:txBody>
          <a:bodyPr wrap="square"/>
          <a:lstStyle/>
          <a:p>
            <a:pPr algn="ctr"/>
            <a:r>
              <a:rPr sz="1100" b="1" i="0">
                <a:solidFill>
                  <a:srgbClr val="FFFFFF"/>
                </a:solidFill>
                <a:latin typeface="Calibri"/>
              </a:rPr>
              <a:t>Performance
Evaluation
(Exp A / B / C)</a:t>
            </a:r>
          </a:p>
        </p:txBody>
      </p:sp>
      <p:sp>
        <p:nvSpPr>
          <p:cNvPr id="29" name="TextBox 28"/>
          <p:cNvSpPr txBox="1"/>
          <p:nvPr/>
        </p:nvSpPr>
        <p:spPr>
          <a:xfrm>
            <a:off x="91440" y="3291840"/>
            <a:ext cx="1645920" cy="274320"/>
          </a:xfrm>
          <a:prstGeom prst="rect">
            <a:avLst/>
          </a:prstGeom>
          <a:noFill/>
        </p:spPr>
        <p:txBody>
          <a:bodyPr wrap="square"/>
          <a:lstStyle/>
          <a:p>
            <a:pPr algn="l"/>
            <a:r>
              <a:rPr sz="900" b="1" i="0">
                <a:solidFill>
                  <a:srgbClr val="00C8FF"/>
                </a:solidFill>
                <a:latin typeface="Calibri"/>
              </a:rPr>
              <a:t>DSP Pipeline Stages:</a:t>
            </a:r>
          </a:p>
        </p:txBody>
      </p:sp>
      <p:sp>
        <p:nvSpPr>
          <p:cNvPr id="30" name="Rectangle 29"/>
          <p:cNvSpPr/>
          <p:nvPr/>
        </p:nvSpPr>
        <p:spPr>
          <a:xfrm>
            <a:off x="329184" y="3863340"/>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4904" y="4114800"/>
            <a:ext cx="1389888" cy="1234440"/>
          </a:xfrm>
          <a:prstGeom prst="rect">
            <a:avLst/>
          </a:prstGeom>
          <a:noFill/>
        </p:spPr>
        <p:txBody>
          <a:bodyPr wrap="square"/>
          <a:lstStyle/>
          <a:p>
            <a:pPr algn="ctr"/>
            <a:r>
              <a:rPr sz="900" b="0" i="0">
                <a:solidFill>
                  <a:srgbClr val="D0D8E8"/>
                </a:solidFill>
                <a:latin typeface="Calibri"/>
              </a:rPr>
              <a:t>1. Timestamp
Parsing &amp;
SR Estimation</a:t>
            </a:r>
          </a:p>
        </p:txBody>
      </p:sp>
      <p:sp>
        <p:nvSpPr>
          <p:cNvPr id="32" name="TextBox 31"/>
          <p:cNvSpPr txBox="1"/>
          <p:nvPr/>
        </p:nvSpPr>
        <p:spPr>
          <a:xfrm>
            <a:off x="1764792" y="3749040"/>
            <a:ext cx="64008" cy="274320"/>
          </a:xfrm>
          <a:prstGeom prst="rect">
            <a:avLst/>
          </a:prstGeom>
          <a:noFill/>
        </p:spPr>
        <p:txBody>
          <a:bodyPr wrap="square"/>
          <a:lstStyle/>
          <a:p>
            <a:pPr algn="ctr"/>
            <a:r>
              <a:rPr sz="1000" b="1" i="0">
                <a:solidFill>
                  <a:srgbClr val="00C8FF"/>
                </a:solidFill>
                <a:latin typeface="Calibri"/>
              </a:rPr>
              <a:t>→</a:t>
            </a:r>
          </a:p>
        </p:txBody>
      </p:sp>
      <p:sp>
        <p:nvSpPr>
          <p:cNvPr id="33" name="Rectangle 32"/>
          <p:cNvSpPr/>
          <p:nvPr/>
        </p:nvSpPr>
        <p:spPr>
          <a:xfrm>
            <a:off x="1839960" y="3812458"/>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762973" y="4128811"/>
            <a:ext cx="1389888" cy="1234440"/>
          </a:xfrm>
          <a:prstGeom prst="rect">
            <a:avLst/>
          </a:prstGeom>
          <a:noFill/>
        </p:spPr>
        <p:txBody>
          <a:bodyPr wrap="square"/>
          <a:lstStyle/>
          <a:p>
            <a:pPr algn="ctr"/>
            <a:r>
              <a:rPr sz="900" b="0" i="0" dirty="0">
                <a:solidFill>
                  <a:srgbClr val="D0D8E8"/>
                </a:solidFill>
                <a:latin typeface="Calibri"/>
              </a:rPr>
              <a:t>2. Hampel
Outlier
Removal</a:t>
            </a:r>
          </a:p>
        </p:txBody>
      </p:sp>
      <p:sp>
        <p:nvSpPr>
          <p:cNvPr id="35" name="TextBox 34"/>
          <p:cNvSpPr txBox="1"/>
          <p:nvPr/>
        </p:nvSpPr>
        <p:spPr>
          <a:xfrm>
            <a:off x="3200400" y="3749040"/>
            <a:ext cx="64008" cy="274320"/>
          </a:xfrm>
          <a:prstGeom prst="rect">
            <a:avLst/>
          </a:prstGeom>
          <a:noFill/>
        </p:spPr>
        <p:txBody>
          <a:bodyPr wrap="square"/>
          <a:lstStyle/>
          <a:p>
            <a:pPr algn="ctr"/>
            <a:r>
              <a:rPr sz="1000" b="1" i="0">
                <a:solidFill>
                  <a:srgbClr val="00C8FF"/>
                </a:solidFill>
                <a:latin typeface="Calibri"/>
              </a:rPr>
              <a:t>→</a:t>
            </a:r>
          </a:p>
        </p:txBody>
      </p:sp>
      <p:sp>
        <p:nvSpPr>
          <p:cNvPr id="36" name="Rectangle 35"/>
          <p:cNvSpPr/>
          <p:nvPr/>
        </p:nvSpPr>
        <p:spPr>
          <a:xfrm>
            <a:off x="3255362" y="3803609"/>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96215" y="4177726"/>
            <a:ext cx="1389888" cy="1234440"/>
          </a:xfrm>
          <a:prstGeom prst="rect">
            <a:avLst/>
          </a:prstGeom>
          <a:noFill/>
        </p:spPr>
        <p:txBody>
          <a:bodyPr wrap="square"/>
          <a:lstStyle/>
          <a:p>
            <a:pPr algn="ctr"/>
            <a:r>
              <a:rPr sz="900" b="0" i="0">
                <a:solidFill>
                  <a:srgbClr val="D0D8E8"/>
                </a:solidFill>
                <a:latin typeface="Calibri"/>
              </a:rPr>
              <a:t>3. Gravity
Separation
(LP 0.5 Hz)</a:t>
            </a:r>
          </a:p>
        </p:txBody>
      </p:sp>
      <p:sp>
        <p:nvSpPr>
          <p:cNvPr id="38" name="TextBox 37"/>
          <p:cNvSpPr txBox="1"/>
          <p:nvPr/>
        </p:nvSpPr>
        <p:spPr>
          <a:xfrm>
            <a:off x="4636008" y="3749040"/>
            <a:ext cx="64008" cy="274320"/>
          </a:xfrm>
          <a:prstGeom prst="rect">
            <a:avLst/>
          </a:prstGeom>
          <a:noFill/>
        </p:spPr>
        <p:txBody>
          <a:bodyPr wrap="square"/>
          <a:lstStyle/>
          <a:p>
            <a:pPr algn="ctr"/>
            <a:r>
              <a:rPr sz="1000" b="1" i="0">
                <a:solidFill>
                  <a:srgbClr val="00C8FF"/>
                </a:solidFill>
                <a:latin typeface="Calibri"/>
              </a:rPr>
              <a:t>→</a:t>
            </a:r>
          </a:p>
        </p:txBody>
      </p:sp>
      <p:sp>
        <p:nvSpPr>
          <p:cNvPr id="39" name="Rectangle 38"/>
          <p:cNvSpPr/>
          <p:nvPr/>
        </p:nvSpPr>
        <p:spPr>
          <a:xfrm>
            <a:off x="4681728" y="3291840"/>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81728" y="3291840"/>
            <a:ext cx="1389888" cy="1234440"/>
          </a:xfrm>
          <a:prstGeom prst="rect">
            <a:avLst/>
          </a:prstGeom>
          <a:noFill/>
        </p:spPr>
        <p:txBody>
          <a:bodyPr wrap="square"/>
          <a:lstStyle/>
          <a:p>
            <a:pPr algn="ctr"/>
            <a:r>
              <a:rPr sz="900" b="0" i="0">
                <a:solidFill>
                  <a:srgbClr val="D0D8E8"/>
                </a:solidFill>
                <a:latin typeface="Calibri"/>
              </a:rPr>
              <a:t>4. Butterworth
Bandpass
(0.7–15 Hz)</a:t>
            </a:r>
          </a:p>
        </p:txBody>
      </p:sp>
      <p:sp>
        <p:nvSpPr>
          <p:cNvPr id="41" name="TextBox 40"/>
          <p:cNvSpPr txBox="1"/>
          <p:nvPr/>
        </p:nvSpPr>
        <p:spPr>
          <a:xfrm>
            <a:off x="6071616" y="3749040"/>
            <a:ext cx="64008" cy="274320"/>
          </a:xfrm>
          <a:prstGeom prst="rect">
            <a:avLst/>
          </a:prstGeom>
          <a:noFill/>
        </p:spPr>
        <p:txBody>
          <a:bodyPr wrap="square"/>
          <a:lstStyle/>
          <a:p>
            <a:pPr algn="ctr"/>
            <a:r>
              <a:rPr sz="1000" b="1" i="0">
                <a:solidFill>
                  <a:srgbClr val="00C8FF"/>
                </a:solidFill>
                <a:latin typeface="Calibri"/>
              </a:rPr>
              <a:t>→</a:t>
            </a:r>
          </a:p>
        </p:txBody>
      </p:sp>
      <p:sp>
        <p:nvSpPr>
          <p:cNvPr id="42" name="Rectangle 41"/>
          <p:cNvSpPr/>
          <p:nvPr/>
        </p:nvSpPr>
        <p:spPr>
          <a:xfrm>
            <a:off x="6117336" y="3291840"/>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17336" y="3291840"/>
            <a:ext cx="1389888" cy="1234440"/>
          </a:xfrm>
          <a:prstGeom prst="rect">
            <a:avLst/>
          </a:prstGeom>
          <a:noFill/>
        </p:spPr>
        <p:txBody>
          <a:bodyPr wrap="square"/>
          <a:lstStyle/>
          <a:p>
            <a:pPr algn="ctr"/>
            <a:r>
              <a:rPr sz="900" b="0" i="0">
                <a:solidFill>
                  <a:srgbClr val="D0D8E8"/>
                </a:solidFill>
                <a:latin typeface="Calibri"/>
              </a:rPr>
              <a:t>5. Acc &amp; Gyro
Magnitude
Calculation</a:t>
            </a:r>
          </a:p>
        </p:txBody>
      </p:sp>
      <p:sp>
        <p:nvSpPr>
          <p:cNvPr id="44" name="TextBox 43"/>
          <p:cNvSpPr txBox="1"/>
          <p:nvPr/>
        </p:nvSpPr>
        <p:spPr>
          <a:xfrm>
            <a:off x="7507224" y="3749040"/>
            <a:ext cx="64008" cy="274320"/>
          </a:xfrm>
          <a:prstGeom prst="rect">
            <a:avLst/>
          </a:prstGeom>
          <a:noFill/>
        </p:spPr>
        <p:txBody>
          <a:bodyPr wrap="square"/>
          <a:lstStyle/>
          <a:p>
            <a:pPr algn="ctr"/>
            <a:r>
              <a:rPr sz="1000" b="1" i="0">
                <a:solidFill>
                  <a:srgbClr val="00C8FF"/>
                </a:solidFill>
                <a:latin typeface="Calibri"/>
              </a:rPr>
              <a:t>→</a:t>
            </a:r>
          </a:p>
        </p:txBody>
      </p:sp>
      <p:sp>
        <p:nvSpPr>
          <p:cNvPr id="45" name="Rectangle 44"/>
          <p:cNvSpPr/>
          <p:nvPr/>
        </p:nvSpPr>
        <p:spPr>
          <a:xfrm>
            <a:off x="7552944" y="3291840"/>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552944" y="3291840"/>
            <a:ext cx="1389888" cy="1234440"/>
          </a:xfrm>
          <a:prstGeom prst="rect">
            <a:avLst/>
          </a:prstGeom>
          <a:noFill/>
        </p:spPr>
        <p:txBody>
          <a:bodyPr wrap="square"/>
          <a:lstStyle/>
          <a:p>
            <a:pPr algn="ctr"/>
            <a:r>
              <a:rPr sz="900" b="0" i="0">
                <a:solidFill>
                  <a:srgbClr val="D0D8E8"/>
                </a:solidFill>
                <a:latin typeface="Calibri"/>
              </a:rPr>
              <a:t>6. Jerk
Calculation
(Numerical ∂)</a:t>
            </a:r>
          </a:p>
        </p:txBody>
      </p:sp>
      <p:sp>
        <p:nvSpPr>
          <p:cNvPr id="47" name="TextBox 46"/>
          <p:cNvSpPr txBox="1"/>
          <p:nvPr/>
        </p:nvSpPr>
        <p:spPr>
          <a:xfrm>
            <a:off x="8942832" y="3749040"/>
            <a:ext cx="64008" cy="274320"/>
          </a:xfrm>
          <a:prstGeom prst="rect">
            <a:avLst/>
          </a:prstGeom>
          <a:noFill/>
        </p:spPr>
        <p:txBody>
          <a:bodyPr wrap="square"/>
          <a:lstStyle/>
          <a:p>
            <a:pPr algn="ctr"/>
            <a:r>
              <a:rPr sz="1000" b="1" i="0">
                <a:solidFill>
                  <a:srgbClr val="00C8FF"/>
                </a:solidFill>
                <a:latin typeface="Calibri"/>
              </a:rPr>
              <a:t>→</a:t>
            </a:r>
          </a:p>
        </p:txBody>
      </p:sp>
      <p:sp>
        <p:nvSpPr>
          <p:cNvPr id="48" name="Rectangle 47"/>
          <p:cNvSpPr/>
          <p:nvPr/>
        </p:nvSpPr>
        <p:spPr>
          <a:xfrm>
            <a:off x="8988552" y="3291840"/>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988552" y="3291840"/>
            <a:ext cx="1389888" cy="1234440"/>
          </a:xfrm>
          <a:prstGeom prst="rect">
            <a:avLst/>
          </a:prstGeom>
          <a:noFill/>
        </p:spPr>
        <p:txBody>
          <a:bodyPr wrap="square"/>
          <a:lstStyle/>
          <a:p>
            <a:pPr algn="ctr"/>
            <a:r>
              <a:rPr sz="900" b="0" i="0">
                <a:solidFill>
                  <a:srgbClr val="D0D8E8"/>
                </a:solidFill>
                <a:latin typeface="Calibri"/>
              </a:rPr>
              <a:t>7. Median-MAD
Calibration
(Z-score)</a:t>
            </a:r>
          </a:p>
        </p:txBody>
      </p:sp>
      <p:sp>
        <p:nvSpPr>
          <p:cNvPr id="50" name="TextBox 49"/>
          <p:cNvSpPr txBox="1"/>
          <p:nvPr/>
        </p:nvSpPr>
        <p:spPr>
          <a:xfrm>
            <a:off x="10378440" y="3749040"/>
            <a:ext cx="64008" cy="274320"/>
          </a:xfrm>
          <a:prstGeom prst="rect">
            <a:avLst/>
          </a:prstGeom>
          <a:noFill/>
        </p:spPr>
        <p:txBody>
          <a:bodyPr wrap="square"/>
          <a:lstStyle/>
          <a:p>
            <a:pPr algn="ctr"/>
            <a:r>
              <a:rPr sz="1000" b="1" i="0">
                <a:solidFill>
                  <a:srgbClr val="00C8FF"/>
                </a:solidFill>
                <a:latin typeface="Calibri"/>
              </a:rPr>
              <a:t>→</a:t>
            </a:r>
          </a:p>
        </p:txBody>
      </p:sp>
      <p:sp>
        <p:nvSpPr>
          <p:cNvPr id="51" name="Rectangle 50"/>
          <p:cNvSpPr/>
          <p:nvPr/>
        </p:nvSpPr>
        <p:spPr>
          <a:xfrm>
            <a:off x="10424160" y="3291840"/>
            <a:ext cx="1389888" cy="1234440"/>
          </a:xfrm>
          <a:prstGeom prst="rect">
            <a:avLst/>
          </a:prstGeom>
          <a:solidFill>
            <a:srgbClr val="102842"/>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424160" y="3291840"/>
            <a:ext cx="1389888" cy="1234440"/>
          </a:xfrm>
          <a:prstGeom prst="rect">
            <a:avLst/>
          </a:prstGeom>
          <a:noFill/>
        </p:spPr>
        <p:txBody>
          <a:bodyPr wrap="square"/>
          <a:lstStyle/>
          <a:p>
            <a:pPr algn="ctr"/>
            <a:r>
              <a:rPr sz="900" b="0" i="0">
                <a:solidFill>
                  <a:srgbClr val="D0D8E8"/>
                </a:solidFill>
                <a:latin typeface="Calibri"/>
              </a:rPr>
              <a:t>8. Window
Segmentation
(2.0 s windows)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DSP Signal Processing — Implementation Details</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All 8 stages fully implemented in app/dsp/ | Sampling rate calculated from actual timestamps</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91440" y="1051560"/>
            <a:ext cx="3108960" cy="62179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 y="1097280"/>
            <a:ext cx="3017520" cy="566928"/>
          </a:xfrm>
          <a:prstGeom prst="rect">
            <a:avLst/>
          </a:prstGeom>
          <a:noFill/>
        </p:spPr>
        <p:txBody>
          <a:bodyPr wrap="square"/>
          <a:lstStyle/>
          <a:p>
            <a:pPr algn="l"/>
            <a:r>
              <a:rPr sz="1000" b="1" i="0">
                <a:solidFill>
                  <a:srgbClr val="FFFFFF"/>
                </a:solidFill>
                <a:latin typeface="Calibri"/>
              </a:rPr>
              <a:t>Stage 1 — Sampling Rate Estimation</a:t>
            </a:r>
          </a:p>
        </p:txBody>
      </p:sp>
      <p:sp>
        <p:nvSpPr>
          <p:cNvPr id="11" name="Rectangle 10"/>
          <p:cNvSpPr/>
          <p:nvPr/>
        </p:nvSpPr>
        <p:spPr>
          <a:xfrm>
            <a:off x="3246120" y="1051560"/>
            <a:ext cx="8686800" cy="62179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37560" y="1097280"/>
            <a:ext cx="8549640" cy="566928"/>
          </a:xfrm>
          <a:prstGeom prst="rect">
            <a:avLst/>
          </a:prstGeom>
          <a:noFill/>
        </p:spPr>
        <p:txBody>
          <a:bodyPr wrap="square"/>
          <a:lstStyle/>
          <a:p>
            <a:pPr algn="l"/>
            <a:r>
              <a:rPr sz="1000" b="0" i="0">
                <a:solidFill>
                  <a:srgbClr val="D0D8E8"/>
                </a:solidFill>
                <a:latin typeface="Calibri"/>
              </a:rPr>
              <a:t>Reads actual CSV timestamps. Calculates fs = N / duration from real data. Resamples to uniform 50 Hz grid using pandas time-based interpolation. No assumed fixed rate.</a:t>
            </a:r>
          </a:p>
        </p:txBody>
      </p:sp>
      <p:sp>
        <p:nvSpPr>
          <p:cNvPr id="13" name="Rectangle 12"/>
          <p:cNvSpPr/>
          <p:nvPr/>
        </p:nvSpPr>
        <p:spPr>
          <a:xfrm>
            <a:off x="91440" y="1709928"/>
            <a:ext cx="3108960" cy="6217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 y="1755648"/>
            <a:ext cx="3017520" cy="566928"/>
          </a:xfrm>
          <a:prstGeom prst="rect">
            <a:avLst/>
          </a:prstGeom>
          <a:noFill/>
        </p:spPr>
        <p:txBody>
          <a:bodyPr wrap="square"/>
          <a:lstStyle/>
          <a:p>
            <a:pPr algn="l"/>
            <a:r>
              <a:rPr sz="1000" b="1" i="0">
                <a:solidFill>
                  <a:srgbClr val="FFFFFF"/>
                </a:solidFill>
                <a:latin typeface="Calibri"/>
              </a:rPr>
              <a:t>Stage 2 — Hampel Outlier Filter</a:t>
            </a:r>
          </a:p>
        </p:txBody>
      </p:sp>
      <p:sp>
        <p:nvSpPr>
          <p:cNvPr id="15" name="Rectangle 14"/>
          <p:cNvSpPr/>
          <p:nvPr/>
        </p:nvSpPr>
        <p:spPr>
          <a:xfrm>
            <a:off x="3246120" y="1709928"/>
            <a:ext cx="8686800" cy="62179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37560" y="1755648"/>
            <a:ext cx="8549640" cy="566928"/>
          </a:xfrm>
          <a:prstGeom prst="rect">
            <a:avLst/>
          </a:prstGeom>
          <a:noFill/>
        </p:spPr>
        <p:txBody>
          <a:bodyPr wrap="square"/>
          <a:lstStyle/>
          <a:p>
            <a:pPr algn="l"/>
            <a:r>
              <a:rPr sz="1000" b="0" i="0">
                <a:solidFill>
                  <a:srgbClr val="D0D8E8"/>
                </a:solidFill>
                <a:latin typeface="Calibri"/>
              </a:rPr>
              <a:t>Window = 7 samples, σ = 3.0. Replaces spike outliers in acc_x/y/z and gyro_x/y/z with local median. Removes isolated sensor glitches without distorting genuine road events.</a:t>
            </a:r>
          </a:p>
        </p:txBody>
      </p:sp>
      <p:sp>
        <p:nvSpPr>
          <p:cNvPr id="17" name="Rectangle 16"/>
          <p:cNvSpPr/>
          <p:nvPr/>
        </p:nvSpPr>
        <p:spPr>
          <a:xfrm>
            <a:off x="91440" y="2368296"/>
            <a:ext cx="3108960" cy="62179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 y="2414016"/>
            <a:ext cx="3017520" cy="566928"/>
          </a:xfrm>
          <a:prstGeom prst="rect">
            <a:avLst/>
          </a:prstGeom>
          <a:noFill/>
        </p:spPr>
        <p:txBody>
          <a:bodyPr wrap="square"/>
          <a:lstStyle/>
          <a:p>
            <a:pPr algn="l"/>
            <a:r>
              <a:rPr sz="1000" b="1" i="0">
                <a:solidFill>
                  <a:srgbClr val="FFFFFF"/>
                </a:solidFill>
                <a:latin typeface="Calibri"/>
              </a:rPr>
              <a:t>Stage 3 — Gravity Separation</a:t>
            </a:r>
          </a:p>
        </p:txBody>
      </p:sp>
      <p:sp>
        <p:nvSpPr>
          <p:cNvPr id="19" name="Rectangle 18"/>
          <p:cNvSpPr/>
          <p:nvPr/>
        </p:nvSpPr>
        <p:spPr>
          <a:xfrm>
            <a:off x="3246120" y="2368296"/>
            <a:ext cx="8686800" cy="62179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2414016"/>
            <a:ext cx="8549640" cy="566928"/>
          </a:xfrm>
          <a:prstGeom prst="rect">
            <a:avLst/>
          </a:prstGeom>
          <a:noFill/>
        </p:spPr>
        <p:txBody>
          <a:bodyPr wrap="square"/>
          <a:lstStyle/>
          <a:p>
            <a:pPr algn="l"/>
            <a:r>
              <a:rPr sz="1000" b="0" i="0">
                <a:solidFill>
                  <a:srgbClr val="D0D8E8"/>
                </a:solidFill>
                <a:latin typeface="Calibri"/>
              </a:rPr>
              <a:t>Low-pass Butterworth (0.5 Hz, order 3) separates slow gravity component from dynamic acceleration. Dynamic acc = total acc − gravity. Isolates road-induced vibration from tilt/mounting angle.</a:t>
            </a:r>
          </a:p>
        </p:txBody>
      </p:sp>
      <p:sp>
        <p:nvSpPr>
          <p:cNvPr id="21" name="Rectangle 20"/>
          <p:cNvSpPr/>
          <p:nvPr/>
        </p:nvSpPr>
        <p:spPr>
          <a:xfrm>
            <a:off x="91440" y="3026664"/>
            <a:ext cx="3108960" cy="6217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7160" y="3072384"/>
            <a:ext cx="3017520" cy="566928"/>
          </a:xfrm>
          <a:prstGeom prst="rect">
            <a:avLst/>
          </a:prstGeom>
          <a:noFill/>
        </p:spPr>
        <p:txBody>
          <a:bodyPr wrap="square"/>
          <a:lstStyle/>
          <a:p>
            <a:pPr algn="l"/>
            <a:r>
              <a:rPr sz="1000" b="1" i="0">
                <a:solidFill>
                  <a:srgbClr val="FFFFFF"/>
                </a:solidFill>
                <a:latin typeface="Calibri"/>
              </a:rPr>
              <a:t>Stage 4 — Butterworth Bandpass Filter</a:t>
            </a:r>
          </a:p>
        </p:txBody>
      </p:sp>
      <p:sp>
        <p:nvSpPr>
          <p:cNvPr id="23" name="Rectangle 22"/>
          <p:cNvSpPr/>
          <p:nvPr/>
        </p:nvSpPr>
        <p:spPr>
          <a:xfrm>
            <a:off x="3246120" y="3026664"/>
            <a:ext cx="8686800" cy="62179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37560" y="3072384"/>
            <a:ext cx="8549640" cy="566928"/>
          </a:xfrm>
          <a:prstGeom prst="rect">
            <a:avLst/>
          </a:prstGeom>
          <a:noFill/>
        </p:spPr>
        <p:txBody>
          <a:bodyPr wrap="square"/>
          <a:lstStyle/>
          <a:p>
            <a:pPr algn="l"/>
            <a:r>
              <a:rPr sz="1000" b="0" i="0">
                <a:solidFill>
                  <a:srgbClr val="D0D8E8"/>
                </a:solidFill>
                <a:latin typeface="Calibri"/>
              </a:rPr>
              <a:t>0.7–15 Hz bandpass, order 4, zero-phase (sosfiltfilt). Removes DC offset and high-frequency electronic noise. Road events (potholes, speed-breakers) lie within 1–12 Hz band.</a:t>
            </a:r>
          </a:p>
        </p:txBody>
      </p:sp>
      <p:sp>
        <p:nvSpPr>
          <p:cNvPr id="25" name="Rectangle 24"/>
          <p:cNvSpPr/>
          <p:nvPr/>
        </p:nvSpPr>
        <p:spPr>
          <a:xfrm>
            <a:off x="91440" y="3685032"/>
            <a:ext cx="3108960" cy="62179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7160" y="3730752"/>
            <a:ext cx="3017520" cy="566928"/>
          </a:xfrm>
          <a:prstGeom prst="rect">
            <a:avLst/>
          </a:prstGeom>
          <a:noFill/>
        </p:spPr>
        <p:txBody>
          <a:bodyPr wrap="square"/>
          <a:lstStyle/>
          <a:p>
            <a:pPr algn="l"/>
            <a:r>
              <a:rPr sz="1000" b="1" i="0">
                <a:solidFill>
                  <a:srgbClr val="FFFFFF"/>
                </a:solidFill>
                <a:latin typeface="Calibri"/>
              </a:rPr>
              <a:t>Stage 5–6 — Magnitude &amp; Jerk</a:t>
            </a:r>
          </a:p>
        </p:txBody>
      </p:sp>
      <p:sp>
        <p:nvSpPr>
          <p:cNvPr id="27" name="Rectangle 26"/>
          <p:cNvSpPr/>
          <p:nvPr/>
        </p:nvSpPr>
        <p:spPr>
          <a:xfrm>
            <a:off x="3246120" y="3685032"/>
            <a:ext cx="8686800" cy="62179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37560" y="3730752"/>
            <a:ext cx="8549640" cy="566928"/>
          </a:xfrm>
          <a:prstGeom prst="rect">
            <a:avLst/>
          </a:prstGeom>
          <a:noFill/>
        </p:spPr>
        <p:txBody>
          <a:bodyPr wrap="square"/>
          <a:lstStyle/>
          <a:p>
            <a:pPr algn="l"/>
            <a:r>
              <a:rPr sz="1000" b="0" i="0">
                <a:solidFill>
                  <a:srgbClr val="D0D8E8"/>
                </a:solidFill>
                <a:latin typeface="Calibri"/>
              </a:rPr>
              <a:t>||acc|| = √(ax²+ay²+az²). Jerk = Δ||acc||/Δt (numerical derivative). Jerk captures rate-of-change of acceleration — key discriminant for sharp pothole impacts vs smooth bumps.</a:t>
            </a:r>
          </a:p>
        </p:txBody>
      </p:sp>
      <p:sp>
        <p:nvSpPr>
          <p:cNvPr id="29" name="Rectangle 28"/>
          <p:cNvSpPr/>
          <p:nvPr/>
        </p:nvSpPr>
        <p:spPr>
          <a:xfrm>
            <a:off x="91440" y="4343400"/>
            <a:ext cx="3108960" cy="6217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7160" y="4389120"/>
            <a:ext cx="3017520" cy="566928"/>
          </a:xfrm>
          <a:prstGeom prst="rect">
            <a:avLst/>
          </a:prstGeom>
          <a:noFill/>
        </p:spPr>
        <p:txBody>
          <a:bodyPr wrap="square"/>
          <a:lstStyle/>
          <a:p>
            <a:pPr algn="l"/>
            <a:r>
              <a:rPr sz="1000" b="1" i="0">
                <a:solidFill>
                  <a:srgbClr val="FFFFFF"/>
                </a:solidFill>
                <a:latin typeface="Calibri"/>
              </a:rPr>
              <a:t>Stage 7 — Median-MAD Calibration</a:t>
            </a:r>
          </a:p>
        </p:txBody>
      </p:sp>
      <p:sp>
        <p:nvSpPr>
          <p:cNvPr id="31" name="Rectangle 30"/>
          <p:cNvSpPr/>
          <p:nvPr/>
        </p:nvSpPr>
        <p:spPr>
          <a:xfrm>
            <a:off x="3246120" y="4343400"/>
            <a:ext cx="8686800" cy="62179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37560" y="4389120"/>
            <a:ext cx="8549640" cy="566928"/>
          </a:xfrm>
          <a:prstGeom prst="rect">
            <a:avLst/>
          </a:prstGeom>
          <a:noFill/>
        </p:spPr>
        <p:txBody>
          <a:bodyPr wrap="square"/>
          <a:lstStyle/>
          <a:p>
            <a:pPr algn="l"/>
            <a:r>
              <a:rPr sz="1000" b="0" i="0">
                <a:solidFill>
                  <a:srgbClr val="D0D8E8"/>
                </a:solidFill>
                <a:latin typeface="Calibri"/>
              </a:rPr>
              <a:t>z = (x − median) / (1.4826 × MAD). Normalises sensor amplitude across different vehicle mass, suspension stiffness, and mounting positions. Reduces vehicle-dependent signal variation.</a:t>
            </a:r>
          </a:p>
        </p:txBody>
      </p:sp>
      <p:sp>
        <p:nvSpPr>
          <p:cNvPr id="33" name="Rectangle 32"/>
          <p:cNvSpPr/>
          <p:nvPr/>
        </p:nvSpPr>
        <p:spPr>
          <a:xfrm>
            <a:off x="91440" y="5001768"/>
            <a:ext cx="3108960" cy="62179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7160" y="5047488"/>
            <a:ext cx="3017520" cy="566928"/>
          </a:xfrm>
          <a:prstGeom prst="rect">
            <a:avLst/>
          </a:prstGeom>
          <a:noFill/>
        </p:spPr>
        <p:txBody>
          <a:bodyPr wrap="square"/>
          <a:lstStyle/>
          <a:p>
            <a:pPr algn="l"/>
            <a:r>
              <a:rPr sz="1000" b="1" i="0">
                <a:solidFill>
                  <a:srgbClr val="FFFFFF"/>
                </a:solidFill>
                <a:latin typeface="Calibri"/>
              </a:rPr>
              <a:t>Stage 8 — Window Segmentation &amp; Feature Extraction</a:t>
            </a:r>
          </a:p>
        </p:txBody>
      </p:sp>
      <p:sp>
        <p:nvSpPr>
          <p:cNvPr id="35" name="Rectangle 34"/>
          <p:cNvSpPr/>
          <p:nvPr/>
        </p:nvSpPr>
        <p:spPr>
          <a:xfrm>
            <a:off x="3246120" y="5001768"/>
            <a:ext cx="8686800" cy="62179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337560" y="5047488"/>
            <a:ext cx="8549640" cy="566928"/>
          </a:xfrm>
          <a:prstGeom prst="rect">
            <a:avLst/>
          </a:prstGeom>
          <a:noFill/>
        </p:spPr>
        <p:txBody>
          <a:bodyPr wrap="square"/>
          <a:lstStyle/>
          <a:p>
            <a:pPr algn="l"/>
            <a:r>
              <a:rPr sz="1000" b="0" i="0">
                <a:solidFill>
                  <a:srgbClr val="D0D8E8"/>
                </a:solidFill>
                <a:latin typeface="Calibri"/>
              </a:rPr>
              <a:t>2.0 s non-overlapping windows = 100 samples @ 50 Hz. Extracts 77 features: time-domain statistics (mean, std, RMS, kurtosis, skewness) + FFT spectral energy per channel.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Machine-Learning Classification — Implementation</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Classifier: Random Forest (n_estimators=300, class_weight='balanced') | Validation: GroupShuffleSplit (session-aware)</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91440" y="1051560"/>
            <a:ext cx="3657600" cy="5303520"/>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 y="1097280"/>
            <a:ext cx="3474720" cy="320040"/>
          </a:xfrm>
          <a:prstGeom prst="rect">
            <a:avLst/>
          </a:prstGeom>
          <a:noFill/>
        </p:spPr>
        <p:txBody>
          <a:bodyPr wrap="square"/>
          <a:lstStyle/>
          <a:p>
            <a:pPr algn="l"/>
            <a:r>
              <a:rPr sz="1300" b="1" i="0">
                <a:solidFill>
                  <a:srgbClr val="00C8FF"/>
                </a:solidFill>
                <a:latin typeface="Calibri"/>
              </a:rPr>
              <a:t>Road Condition Classes</a:t>
            </a:r>
          </a:p>
        </p:txBody>
      </p:sp>
      <p:sp>
        <p:nvSpPr>
          <p:cNvPr id="11" name="Rectangle 10"/>
          <p:cNvSpPr/>
          <p:nvPr/>
        </p:nvSpPr>
        <p:spPr>
          <a:xfrm>
            <a:off x="182880" y="1508760"/>
            <a:ext cx="3291840" cy="256032"/>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508760"/>
            <a:ext cx="3200400" cy="256032"/>
          </a:xfrm>
          <a:prstGeom prst="rect">
            <a:avLst/>
          </a:prstGeom>
          <a:noFill/>
        </p:spPr>
        <p:txBody>
          <a:bodyPr wrap="square"/>
          <a:lstStyle/>
          <a:p>
            <a:pPr algn="ctr"/>
            <a:r>
              <a:rPr sz="1000" b="1" i="0">
                <a:solidFill>
                  <a:srgbClr val="FFFFFF"/>
                </a:solidFill>
                <a:latin typeface="Calibri"/>
              </a:rPr>
              <a:t>SMOOTH</a:t>
            </a:r>
          </a:p>
        </p:txBody>
      </p:sp>
      <p:sp>
        <p:nvSpPr>
          <p:cNvPr id="13" name="TextBox 12"/>
          <p:cNvSpPr txBox="1"/>
          <p:nvPr/>
        </p:nvSpPr>
        <p:spPr>
          <a:xfrm>
            <a:off x="228600" y="1764792"/>
            <a:ext cx="3200400" cy="384048"/>
          </a:xfrm>
          <a:prstGeom prst="rect">
            <a:avLst/>
          </a:prstGeom>
          <a:noFill/>
        </p:spPr>
        <p:txBody>
          <a:bodyPr wrap="square"/>
          <a:lstStyle/>
          <a:p>
            <a:pPr algn="l"/>
            <a:r>
              <a:rPr sz="900" b="0" i="0">
                <a:solidFill>
                  <a:srgbClr val="D0D8E8"/>
                </a:solidFill>
                <a:latin typeface="Calibri"/>
              </a:rPr>
              <a:t>Continuous uniform road surface, low jerk variance</a:t>
            </a:r>
          </a:p>
        </p:txBody>
      </p:sp>
      <p:sp>
        <p:nvSpPr>
          <p:cNvPr id="14" name="Rectangle 13"/>
          <p:cNvSpPr/>
          <p:nvPr/>
        </p:nvSpPr>
        <p:spPr>
          <a:xfrm>
            <a:off x="182880" y="2258568"/>
            <a:ext cx="3291840" cy="25603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2258568"/>
            <a:ext cx="3200400" cy="256032"/>
          </a:xfrm>
          <a:prstGeom prst="rect">
            <a:avLst/>
          </a:prstGeom>
          <a:noFill/>
        </p:spPr>
        <p:txBody>
          <a:bodyPr wrap="square"/>
          <a:lstStyle/>
          <a:p>
            <a:pPr algn="ctr"/>
            <a:r>
              <a:rPr sz="1000" b="1" i="0">
                <a:solidFill>
                  <a:srgbClr val="FFFFFF"/>
                </a:solidFill>
                <a:latin typeface="Calibri"/>
              </a:rPr>
              <a:t>ROUGH</a:t>
            </a:r>
          </a:p>
        </p:txBody>
      </p:sp>
      <p:sp>
        <p:nvSpPr>
          <p:cNvPr id="16" name="TextBox 15"/>
          <p:cNvSpPr txBox="1"/>
          <p:nvPr/>
        </p:nvSpPr>
        <p:spPr>
          <a:xfrm>
            <a:off x="228600" y="2514600"/>
            <a:ext cx="3200400" cy="384048"/>
          </a:xfrm>
          <a:prstGeom prst="rect">
            <a:avLst/>
          </a:prstGeom>
          <a:noFill/>
        </p:spPr>
        <p:txBody>
          <a:bodyPr wrap="square"/>
          <a:lstStyle/>
          <a:p>
            <a:pPr algn="l"/>
            <a:r>
              <a:rPr sz="900" b="0" i="0">
                <a:solidFill>
                  <a:srgbClr val="D0D8E8"/>
                </a:solidFill>
                <a:latin typeface="Calibri"/>
              </a:rPr>
              <a:t>Elevated rolling vibration, higher jerk RMS</a:t>
            </a:r>
          </a:p>
        </p:txBody>
      </p:sp>
      <p:sp>
        <p:nvSpPr>
          <p:cNvPr id="17" name="Rectangle 16"/>
          <p:cNvSpPr/>
          <p:nvPr/>
        </p:nvSpPr>
        <p:spPr>
          <a:xfrm>
            <a:off x="182880" y="3008376"/>
            <a:ext cx="3291840" cy="256032"/>
          </a:xfrm>
          <a:prstGeom prst="rect">
            <a:avLst/>
          </a:prstGeom>
          <a:solidFill>
            <a:srgbClr val="E600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3008376"/>
            <a:ext cx="3200400" cy="256032"/>
          </a:xfrm>
          <a:prstGeom prst="rect">
            <a:avLst/>
          </a:prstGeom>
          <a:noFill/>
        </p:spPr>
        <p:txBody>
          <a:bodyPr wrap="square"/>
          <a:lstStyle/>
          <a:p>
            <a:pPr algn="ctr"/>
            <a:r>
              <a:rPr sz="1000" b="1" i="0">
                <a:solidFill>
                  <a:srgbClr val="FFFFFF"/>
                </a:solidFill>
                <a:latin typeface="Calibri"/>
              </a:rPr>
              <a:t>POTHOLE</a:t>
            </a:r>
          </a:p>
        </p:txBody>
      </p:sp>
      <p:sp>
        <p:nvSpPr>
          <p:cNvPr id="19" name="TextBox 18"/>
          <p:cNvSpPr txBox="1"/>
          <p:nvPr/>
        </p:nvSpPr>
        <p:spPr>
          <a:xfrm>
            <a:off x="228600" y="3264408"/>
            <a:ext cx="3200400" cy="384048"/>
          </a:xfrm>
          <a:prstGeom prst="rect">
            <a:avLst/>
          </a:prstGeom>
          <a:noFill/>
        </p:spPr>
        <p:txBody>
          <a:bodyPr wrap="square"/>
          <a:lstStyle/>
          <a:p>
            <a:pPr algn="l"/>
            <a:r>
              <a:rPr sz="900" b="0" i="0">
                <a:solidFill>
                  <a:srgbClr val="D0D8E8"/>
                </a:solidFill>
                <a:latin typeface="Calibri"/>
              </a:rPr>
              <a:t>Sharp transient vertical drop, short duration (&lt;2 s)</a:t>
            </a:r>
          </a:p>
        </p:txBody>
      </p:sp>
      <p:sp>
        <p:nvSpPr>
          <p:cNvPr id="20" name="Rectangle 19"/>
          <p:cNvSpPr/>
          <p:nvPr/>
        </p:nvSpPr>
        <p:spPr>
          <a:xfrm>
            <a:off x="182880" y="3758184"/>
            <a:ext cx="3291840" cy="256032"/>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3758184"/>
            <a:ext cx="3200400" cy="256032"/>
          </a:xfrm>
          <a:prstGeom prst="rect">
            <a:avLst/>
          </a:prstGeom>
          <a:noFill/>
        </p:spPr>
        <p:txBody>
          <a:bodyPr wrap="square"/>
          <a:lstStyle/>
          <a:p>
            <a:pPr algn="ctr"/>
            <a:r>
              <a:rPr sz="1000" b="1" i="0">
                <a:solidFill>
                  <a:srgbClr val="FFFFFF"/>
                </a:solidFill>
                <a:latin typeface="Calibri"/>
              </a:rPr>
              <a:t>SPEED BREAKER</a:t>
            </a:r>
          </a:p>
        </p:txBody>
      </p:sp>
      <p:sp>
        <p:nvSpPr>
          <p:cNvPr id="22" name="TextBox 21"/>
          <p:cNvSpPr txBox="1"/>
          <p:nvPr/>
        </p:nvSpPr>
        <p:spPr>
          <a:xfrm>
            <a:off x="228600" y="4014216"/>
            <a:ext cx="3200400" cy="384048"/>
          </a:xfrm>
          <a:prstGeom prst="rect">
            <a:avLst/>
          </a:prstGeom>
          <a:noFill/>
        </p:spPr>
        <p:txBody>
          <a:bodyPr wrap="square"/>
          <a:lstStyle/>
          <a:p>
            <a:pPr algn="l"/>
            <a:r>
              <a:rPr sz="900" b="0" i="0">
                <a:solidFill>
                  <a:srgbClr val="D0D8E8"/>
                </a:solidFill>
                <a:latin typeface="Calibri"/>
              </a:rPr>
              <a:t>Sustained pitch/roll elevation, duration ≥ 2 s or gyro &gt; 3 rad/s</a:t>
            </a:r>
          </a:p>
        </p:txBody>
      </p:sp>
      <p:sp>
        <p:nvSpPr>
          <p:cNvPr id="23" name="TextBox 22"/>
          <p:cNvSpPr txBox="1"/>
          <p:nvPr/>
        </p:nvSpPr>
        <p:spPr>
          <a:xfrm>
            <a:off x="137160" y="5577840"/>
            <a:ext cx="3474720" cy="411480"/>
          </a:xfrm>
          <a:prstGeom prst="rect">
            <a:avLst/>
          </a:prstGeom>
          <a:noFill/>
        </p:spPr>
        <p:txBody>
          <a:bodyPr wrap="square"/>
          <a:lstStyle/>
          <a:p>
            <a:pPr algn="l"/>
            <a:r>
              <a:rPr sz="1000" b="1" i="0">
                <a:solidFill>
                  <a:srgbClr val="FFC000"/>
                </a:solidFill>
                <a:latin typeface="Calibri"/>
              </a:rPr>
              <a:t>⚠ Vehicle type (2W/3W/4W) is METADATA — NOT an ML class label</a:t>
            </a:r>
          </a:p>
        </p:txBody>
      </p:sp>
      <p:sp>
        <p:nvSpPr>
          <p:cNvPr id="24" name="Rectangle 23"/>
          <p:cNvSpPr/>
          <p:nvPr/>
        </p:nvSpPr>
        <p:spPr>
          <a:xfrm>
            <a:off x="3931920" y="1051560"/>
            <a:ext cx="8138160" cy="5303520"/>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23360" y="1097280"/>
            <a:ext cx="7863840" cy="320040"/>
          </a:xfrm>
          <a:prstGeom prst="rect">
            <a:avLst/>
          </a:prstGeom>
          <a:noFill/>
        </p:spPr>
        <p:txBody>
          <a:bodyPr wrap="square"/>
          <a:lstStyle/>
          <a:p>
            <a:pPr algn="l"/>
            <a:r>
              <a:rPr sz="1300" b="1" i="0">
                <a:solidFill>
                  <a:srgbClr val="00C8FF"/>
                </a:solidFill>
                <a:latin typeface="Calibri"/>
              </a:rPr>
              <a:t>Feature → Prediction Pipeline</a:t>
            </a:r>
          </a:p>
        </p:txBody>
      </p:sp>
      <p:sp>
        <p:nvSpPr>
          <p:cNvPr id="26" name="Rectangle 25"/>
          <p:cNvSpPr/>
          <p:nvPr/>
        </p:nvSpPr>
        <p:spPr>
          <a:xfrm>
            <a:off x="4023360" y="1508760"/>
            <a:ext cx="1097280" cy="6400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23360" y="1508760"/>
            <a:ext cx="1097280" cy="640080"/>
          </a:xfrm>
          <a:prstGeom prst="rect">
            <a:avLst/>
          </a:prstGeom>
          <a:noFill/>
        </p:spPr>
        <p:txBody>
          <a:bodyPr wrap="square"/>
          <a:lstStyle/>
          <a:p>
            <a:pPr algn="ctr"/>
            <a:r>
              <a:rPr sz="900" b="1" i="0">
                <a:solidFill>
                  <a:srgbClr val="FFFFFF"/>
                </a:solidFill>
                <a:latin typeface="Calibri"/>
              </a:rPr>
              <a:t>INPUT</a:t>
            </a:r>
          </a:p>
        </p:txBody>
      </p:sp>
      <p:sp>
        <p:nvSpPr>
          <p:cNvPr id="28" name="TextBox 27"/>
          <p:cNvSpPr txBox="1"/>
          <p:nvPr/>
        </p:nvSpPr>
        <p:spPr>
          <a:xfrm>
            <a:off x="5166360" y="1545336"/>
            <a:ext cx="6675120" cy="548640"/>
          </a:xfrm>
          <a:prstGeom prst="rect">
            <a:avLst/>
          </a:prstGeom>
          <a:noFill/>
        </p:spPr>
        <p:txBody>
          <a:bodyPr wrap="square"/>
          <a:lstStyle/>
          <a:p>
            <a:pPr algn="l"/>
            <a:r>
              <a:rPr sz="1000" b="0" i="0">
                <a:solidFill>
                  <a:srgbClr val="D0D8E8"/>
                </a:solidFill>
                <a:latin typeface="Calibri"/>
              </a:rPr>
              <a:t>Calibrated acc_x/y/z, gyro_x/y/z, jerk, impact_score (per 2 s window)</a:t>
            </a:r>
          </a:p>
        </p:txBody>
      </p:sp>
      <p:sp>
        <p:nvSpPr>
          <p:cNvPr id="29" name="TextBox 28"/>
          <p:cNvSpPr txBox="1"/>
          <p:nvPr/>
        </p:nvSpPr>
        <p:spPr>
          <a:xfrm>
            <a:off x="4480560" y="2148840"/>
            <a:ext cx="274320" cy="228600"/>
          </a:xfrm>
          <a:prstGeom prst="rect">
            <a:avLst/>
          </a:prstGeom>
          <a:noFill/>
        </p:spPr>
        <p:txBody>
          <a:bodyPr wrap="square"/>
          <a:lstStyle/>
          <a:p>
            <a:pPr algn="ctr"/>
            <a:r>
              <a:rPr sz="1200" b="1" i="0">
                <a:solidFill>
                  <a:srgbClr val="00C8FF"/>
                </a:solidFill>
                <a:latin typeface="Calibri"/>
              </a:rPr>
              <a:t>↓</a:t>
            </a:r>
          </a:p>
        </p:txBody>
      </p:sp>
      <p:sp>
        <p:nvSpPr>
          <p:cNvPr id="30" name="Rectangle 29"/>
          <p:cNvSpPr/>
          <p:nvPr/>
        </p:nvSpPr>
        <p:spPr>
          <a:xfrm>
            <a:off x="4023360" y="2423160"/>
            <a:ext cx="1097280" cy="6400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23360" y="2423160"/>
            <a:ext cx="1097280" cy="640080"/>
          </a:xfrm>
          <a:prstGeom prst="rect">
            <a:avLst/>
          </a:prstGeom>
          <a:noFill/>
        </p:spPr>
        <p:txBody>
          <a:bodyPr wrap="square"/>
          <a:lstStyle/>
          <a:p>
            <a:pPr algn="ctr"/>
            <a:r>
              <a:rPr sz="900" b="1" i="0">
                <a:solidFill>
                  <a:srgbClr val="FFFFFF"/>
                </a:solidFill>
                <a:latin typeface="Calibri"/>
              </a:rPr>
              <a:t>FEATURES (77)</a:t>
            </a:r>
          </a:p>
        </p:txBody>
      </p:sp>
      <p:sp>
        <p:nvSpPr>
          <p:cNvPr id="32" name="TextBox 31"/>
          <p:cNvSpPr txBox="1"/>
          <p:nvPr/>
        </p:nvSpPr>
        <p:spPr>
          <a:xfrm>
            <a:off x="5166360" y="2459736"/>
            <a:ext cx="6675120" cy="548640"/>
          </a:xfrm>
          <a:prstGeom prst="rect">
            <a:avLst/>
          </a:prstGeom>
          <a:noFill/>
        </p:spPr>
        <p:txBody>
          <a:bodyPr wrap="square"/>
          <a:lstStyle/>
          <a:p>
            <a:pPr algn="l"/>
            <a:r>
              <a:rPr sz="1000" b="0" i="0">
                <a:solidFill>
                  <a:srgbClr val="D0D8E8"/>
                </a:solidFill>
                <a:latin typeface="Calibri"/>
              </a:rPr>
              <a:t>Time-domain: mean, std, RMS, kurtosis, skewness, peak, range, ZCR
Frequency-domain: FFT dominant freq, spectral centroid, spectral energy bands
Channels: acc_x, acc_y, acc_z, acc_magnitude, jerk, gyro_x, gyro_y, gyro_z, gyro_magnitude</a:t>
            </a:r>
          </a:p>
        </p:txBody>
      </p:sp>
      <p:sp>
        <p:nvSpPr>
          <p:cNvPr id="33" name="TextBox 32"/>
          <p:cNvSpPr txBox="1"/>
          <p:nvPr/>
        </p:nvSpPr>
        <p:spPr>
          <a:xfrm>
            <a:off x="4480560" y="3063240"/>
            <a:ext cx="274320" cy="228600"/>
          </a:xfrm>
          <a:prstGeom prst="rect">
            <a:avLst/>
          </a:prstGeom>
          <a:noFill/>
        </p:spPr>
        <p:txBody>
          <a:bodyPr wrap="square"/>
          <a:lstStyle/>
          <a:p>
            <a:pPr algn="ctr"/>
            <a:r>
              <a:rPr sz="1200" b="1" i="0">
                <a:solidFill>
                  <a:srgbClr val="00C8FF"/>
                </a:solidFill>
                <a:latin typeface="Calibri"/>
              </a:rPr>
              <a:t>↓</a:t>
            </a:r>
          </a:p>
        </p:txBody>
      </p:sp>
      <p:sp>
        <p:nvSpPr>
          <p:cNvPr id="34" name="Rectangle 33"/>
          <p:cNvSpPr/>
          <p:nvPr/>
        </p:nvSpPr>
        <p:spPr>
          <a:xfrm>
            <a:off x="4023360" y="3337560"/>
            <a:ext cx="1097280" cy="640080"/>
          </a:xfrm>
          <a:prstGeom prst="rect">
            <a:avLst/>
          </a:prstGeom>
          <a:solidFill>
            <a:srgbClr val="1A4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023360" y="3337560"/>
            <a:ext cx="1097280" cy="640080"/>
          </a:xfrm>
          <a:prstGeom prst="rect">
            <a:avLst/>
          </a:prstGeom>
          <a:noFill/>
        </p:spPr>
        <p:txBody>
          <a:bodyPr wrap="square"/>
          <a:lstStyle/>
          <a:p>
            <a:pPr algn="ctr"/>
            <a:r>
              <a:rPr sz="900" b="1" i="0">
                <a:solidFill>
                  <a:srgbClr val="FFFFFF"/>
                </a:solidFill>
                <a:latin typeface="Calibri"/>
              </a:rPr>
              <a:t>MODEL</a:t>
            </a:r>
          </a:p>
        </p:txBody>
      </p:sp>
      <p:sp>
        <p:nvSpPr>
          <p:cNvPr id="36" name="TextBox 35"/>
          <p:cNvSpPr txBox="1"/>
          <p:nvPr/>
        </p:nvSpPr>
        <p:spPr>
          <a:xfrm>
            <a:off x="5166360" y="3374136"/>
            <a:ext cx="6675120" cy="548640"/>
          </a:xfrm>
          <a:prstGeom prst="rect">
            <a:avLst/>
          </a:prstGeom>
          <a:noFill/>
        </p:spPr>
        <p:txBody>
          <a:bodyPr wrap="square"/>
          <a:lstStyle/>
          <a:p>
            <a:pPr algn="l"/>
            <a:r>
              <a:rPr sz="1000" b="0" i="0">
                <a:solidFill>
                  <a:srgbClr val="D0D8E8"/>
                </a:solidFill>
                <a:latin typeface="Calibri"/>
              </a:rPr>
              <a:t>Random Forest — 300 decision trees, balanced class weighting
Prevents majority-class dominance for SMOOTH road segments</a:t>
            </a:r>
          </a:p>
        </p:txBody>
      </p:sp>
      <p:sp>
        <p:nvSpPr>
          <p:cNvPr id="37" name="TextBox 36"/>
          <p:cNvSpPr txBox="1"/>
          <p:nvPr/>
        </p:nvSpPr>
        <p:spPr>
          <a:xfrm>
            <a:off x="4480560" y="3977640"/>
            <a:ext cx="274320" cy="228600"/>
          </a:xfrm>
          <a:prstGeom prst="rect">
            <a:avLst/>
          </a:prstGeom>
          <a:noFill/>
        </p:spPr>
        <p:txBody>
          <a:bodyPr wrap="square"/>
          <a:lstStyle/>
          <a:p>
            <a:pPr algn="ctr"/>
            <a:r>
              <a:rPr sz="1200" b="1" i="0">
                <a:solidFill>
                  <a:srgbClr val="00C8FF"/>
                </a:solidFill>
                <a:latin typeface="Calibri"/>
              </a:rPr>
              <a:t>↓</a:t>
            </a:r>
          </a:p>
        </p:txBody>
      </p:sp>
      <p:sp>
        <p:nvSpPr>
          <p:cNvPr id="38" name="Rectangle 37"/>
          <p:cNvSpPr/>
          <p:nvPr/>
        </p:nvSpPr>
        <p:spPr>
          <a:xfrm>
            <a:off x="4023360" y="4251960"/>
            <a:ext cx="1097280" cy="640080"/>
          </a:xfrm>
          <a:prstGeom prst="rect">
            <a:avLst/>
          </a:prstGeom>
          <a:solidFill>
            <a:srgbClr val="1A4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023360" y="4251960"/>
            <a:ext cx="1097280" cy="640080"/>
          </a:xfrm>
          <a:prstGeom prst="rect">
            <a:avLst/>
          </a:prstGeom>
          <a:noFill/>
        </p:spPr>
        <p:txBody>
          <a:bodyPr wrap="square"/>
          <a:lstStyle/>
          <a:p>
            <a:pPr algn="ctr"/>
            <a:r>
              <a:rPr sz="900" b="1" i="0">
                <a:solidFill>
                  <a:srgbClr val="FFFFFF"/>
                </a:solidFill>
                <a:latin typeface="Calibri"/>
              </a:rPr>
              <a:t>VALIDATION</a:t>
            </a:r>
          </a:p>
        </p:txBody>
      </p:sp>
      <p:sp>
        <p:nvSpPr>
          <p:cNvPr id="40" name="TextBox 39"/>
          <p:cNvSpPr txBox="1"/>
          <p:nvPr/>
        </p:nvSpPr>
        <p:spPr>
          <a:xfrm>
            <a:off x="5166360" y="4288536"/>
            <a:ext cx="6675120" cy="548640"/>
          </a:xfrm>
          <a:prstGeom prst="rect">
            <a:avLst/>
          </a:prstGeom>
          <a:noFill/>
        </p:spPr>
        <p:txBody>
          <a:bodyPr wrap="square"/>
          <a:lstStyle/>
          <a:p>
            <a:pPr algn="l"/>
            <a:r>
              <a:rPr sz="1000" b="0" i="0">
                <a:solidFill>
                  <a:srgbClr val="D0D8E8"/>
                </a:solidFill>
                <a:latin typeface="Calibri"/>
              </a:rPr>
              <a:t>GroupShuffleSplit on session_id — prevents data leakage
Training and test windows never share the same recording session</a:t>
            </a:r>
          </a:p>
        </p:txBody>
      </p:sp>
      <p:sp>
        <p:nvSpPr>
          <p:cNvPr id="41" name="TextBox 40"/>
          <p:cNvSpPr txBox="1"/>
          <p:nvPr/>
        </p:nvSpPr>
        <p:spPr>
          <a:xfrm>
            <a:off x="4480560" y="4892040"/>
            <a:ext cx="274320" cy="228600"/>
          </a:xfrm>
          <a:prstGeom prst="rect">
            <a:avLst/>
          </a:prstGeom>
          <a:noFill/>
        </p:spPr>
        <p:txBody>
          <a:bodyPr wrap="square"/>
          <a:lstStyle/>
          <a:p>
            <a:pPr algn="ctr"/>
            <a:r>
              <a:rPr sz="1200" b="1" i="0">
                <a:solidFill>
                  <a:srgbClr val="00C8FF"/>
                </a:solidFill>
                <a:latin typeface="Calibri"/>
              </a:rPr>
              <a:t>↓</a:t>
            </a:r>
          </a:p>
        </p:txBody>
      </p:sp>
      <p:sp>
        <p:nvSpPr>
          <p:cNvPr id="42" name="Rectangle 41"/>
          <p:cNvSpPr/>
          <p:nvPr/>
        </p:nvSpPr>
        <p:spPr>
          <a:xfrm>
            <a:off x="4023360" y="5166360"/>
            <a:ext cx="1097280" cy="640080"/>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23360" y="5166360"/>
            <a:ext cx="1097280" cy="640080"/>
          </a:xfrm>
          <a:prstGeom prst="rect">
            <a:avLst/>
          </a:prstGeom>
          <a:noFill/>
        </p:spPr>
        <p:txBody>
          <a:bodyPr wrap="square"/>
          <a:lstStyle/>
          <a:p>
            <a:pPr algn="ctr"/>
            <a:r>
              <a:rPr sz="900" b="1" i="0">
                <a:solidFill>
                  <a:srgbClr val="FFFFFF"/>
                </a:solidFill>
                <a:latin typeface="Calibri"/>
              </a:rPr>
              <a:t>OUTPUT</a:t>
            </a:r>
          </a:p>
        </p:txBody>
      </p:sp>
      <p:sp>
        <p:nvSpPr>
          <p:cNvPr id="44" name="TextBox 43"/>
          <p:cNvSpPr txBox="1"/>
          <p:nvPr/>
        </p:nvSpPr>
        <p:spPr>
          <a:xfrm>
            <a:off x="5166360" y="5202936"/>
            <a:ext cx="6675120" cy="548640"/>
          </a:xfrm>
          <a:prstGeom prst="rect">
            <a:avLst/>
          </a:prstGeom>
          <a:noFill/>
        </p:spPr>
        <p:txBody>
          <a:bodyPr wrap="square"/>
          <a:lstStyle/>
          <a:p>
            <a:pPr algn="l"/>
            <a:r>
              <a:rPr sz="1000" b="0" i="0">
                <a:solidFill>
                  <a:srgbClr val="D0D8E8"/>
                </a:solidFill>
                <a:latin typeface="Calibri"/>
              </a:rPr>
              <a:t>Predicted class per 2 s window → mapped to GPS coordinate
Confidence score stored per prediction</a:t>
            </a:r>
          </a:p>
        </p:txBody>
      </p:sp>
      <p:sp>
        <p:nvSpPr>
          <p:cNvPr id="45" name="TextBox 44"/>
          <p:cNvSpPr txBox="1"/>
          <p:nvPr/>
        </p:nvSpPr>
        <p:spPr>
          <a:xfrm>
            <a:off x="4480560" y="5806440"/>
            <a:ext cx="274320" cy="228600"/>
          </a:xfrm>
          <a:prstGeom prst="rect">
            <a:avLst/>
          </a:prstGeom>
          <a:noFill/>
        </p:spPr>
        <p:txBody>
          <a:bodyPr wrap="square"/>
          <a:lstStyle/>
          <a:p>
            <a:pPr algn="ctr"/>
            <a:r>
              <a:rPr sz="1200" b="1" i="0">
                <a:solidFill>
                  <a:srgbClr val="00C8FF"/>
                </a:solidFill>
                <a:latin typeface="Calibri"/>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Working Application Demonstration</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All pipeline stages are fully functional and tested on real regional smartphone datasets</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91440" y="1051560"/>
            <a:ext cx="292608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 y="1022211"/>
            <a:ext cx="2926080" cy="292608"/>
          </a:xfrm>
          <a:prstGeom prst="rect">
            <a:avLst/>
          </a:prstGeom>
          <a:noFill/>
        </p:spPr>
        <p:txBody>
          <a:bodyPr wrap="square"/>
          <a:lstStyle/>
          <a:p>
            <a:pPr algn="ctr"/>
            <a:r>
              <a:rPr sz="900" b="1" i="0">
                <a:solidFill>
                  <a:srgbClr val="FFFFFF"/>
                </a:solidFill>
                <a:latin typeface="Calibri"/>
              </a:rPr>
              <a:t>Upload &amp;
Validation</a:t>
            </a:r>
          </a:p>
        </p:txBody>
      </p:sp>
      <p:sp>
        <p:nvSpPr>
          <p:cNvPr id="11" name="Rectangle 10"/>
          <p:cNvSpPr/>
          <p:nvPr/>
        </p:nvSpPr>
        <p:spPr>
          <a:xfrm>
            <a:off x="91440" y="1344168"/>
            <a:ext cx="2926080" cy="4005072"/>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13" name="Rectangle 12"/>
          <p:cNvSpPr/>
          <p:nvPr/>
        </p:nvSpPr>
        <p:spPr>
          <a:xfrm>
            <a:off x="3154680" y="1051560"/>
            <a:ext cx="292608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77540" y="1012378"/>
            <a:ext cx="2926080" cy="292608"/>
          </a:xfrm>
          <a:prstGeom prst="rect">
            <a:avLst/>
          </a:prstGeom>
          <a:noFill/>
        </p:spPr>
        <p:txBody>
          <a:bodyPr wrap="square"/>
          <a:lstStyle/>
          <a:p>
            <a:pPr algn="ctr"/>
            <a:r>
              <a:rPr sz="900" b="1" i="0">
                <a:solidFill>
                  <a:srgbClr val="FFFFFF"/>
                </a:solidFill>
                <a:latin typeface="Calibri"/>
              </a:rPr>
              <a:t>DSP
Output</a:t>
            </a:r>
          </a:p>
        </p:txBody>
      </p:sp>
      <p:sp>
        <p:nvSpPr>
          <p:cNvPr id="15" name="Rectangle 14"/>
          <p:cNvSpPr/>
          <p:nvPr/>
        </p:nvSpPr>
        <p:spPr>
          <a:xfrm>
            <a:off x="3154680" y="1344168"/>
            <a:ext cx="2926080" cy="4005072"/>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17" name="Rectangle 16"/>
          <p:cNvSpPr/>
          <p:nvPr/>
        </p:nvSpPr>
        <p:spPr>
          <a:xfrm>
            <a:off x="6217920" y="1051560"/>
            <a:ext cx="292608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992124"/>
            <a:ext cx="2926080" cy="292608"/>
          </a:xfrm>
          <a:prstGeom prst="rect">
            <a:avLst/>
          </a:prstGeom>
          <a:noFill/>
        </p:spPr>
        <p:txBody>
          <a:bodyPr wrap="square"/>
          <a:lstStyle/>
          <a:p>
            <a:pPr algn="ctr"/>
            <a:r>
              <a:rPr sz="900" b="1" i="0" dirty="0">
                <a:solidFill>
                  <a:srgbClr val="FFFFFF"/>
                </a:solidFill>
                <a:latin typeface="Calibri"/>
              </a:rPr>
              <a:t>ML
Predictions</a:t>
            </a:r>
          </a:p>
        </p:txBody>
      </p:sp>
      <p:sp>
        <p:nvSpPr>
          <p:cNvPr id="19" name="Rectangle 18"/>
          <p:cNvSpPr/>
          <p:nvPr/>
        </p:nvSpPr>
        <p:spPr>
          <a:xfrm>
            <a:off x="6217920" y="1344168"/>
            <a:ext cx="2926080" cy="4005072"/>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a:p>
        </p:txBody>
      </p:sp>
      <p:sp>
        <p:nvSpPr>
          <p:cNvPr id="21" name="Rectangle 20"/>
          <p:cNvSpPr/>
          <p:nvPr/>
        </p:nvSpPr>
        <p:spPr>
          <a:xfrm>
            <a:off x="9281160" y="1051560"/>
            <a:ext cx="292608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62872" y="1012378"/>
            <a:ext cx="2926080" cy="292608"/>
          </a:xfrm>
          <a:prstGeom prst="rect">
            <a:avLst/>
          </a:prstGeom>
          <a:noFill/>
        </p:spPr>
        <p:txBody>
          <a:bodyPr wrap="square"/>
          <a:lstStyle/>
          <a:p>
            <a:pPr algn="ctr"/>
            <a:r>
              <a:rPr sz="900" b="1" i="0">
                <a:solidFill>
                  <a:srgbClr val="FFFFFF"/>
                </a:solidFill>
                <a:latin typeface="Calibri"/>
              </a:rPr>
              <a:t>GPS
Map</a:t>
            </a:r>
          </a:p>
        </p:txBody>
      </p:sp>
      <p:sp>
        <p:nvSpPr>
          <p:cNvPr id="23" name="Rectangle 22"/>
          <p:cNvSpPr/>
          <p:nvPr/>
        </p:nvSpPr>
        <p:spPr>
          <a:xfrm>
            <a:off x="9281160" y="1383350"/>
            <a:ext cx="2926080" cy="4005072"/>
          </a:xfrm>
          <a:prstGeom prst="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dirty="0"/>
          </a:p>
        </p:txBody>
      </p:sp>
      <p:pic>
        <p:nvPicPr>
          <p:cNvPr id="25" name="Picture 24">
            <a:extLst>
              <a:ext uri="{FF2B5EF4-FFF2-40B4-BE49-F238E27FC236}">
                <a16:creationId xmlns:a16="http://schemas.microsoft.com/office/drawing/2014/main" id="{B114E6CE-7CE0-B939-1D7E-EECE248F9872}"/>
              </a:ext>
            </a:extLst>
          </p:cNvPr>
          <p:cNvPicPr>
            <a:picLocks noChangeAspect="1"/>
          </p:cNvPicPr>
          <p:nvPr/>
        </p:nvPicPr>
        <p:blipFill>
          <a:blip r:embed="rId2"/>
          <a:stretch>
            <a:fillRect/>
          </a:stretch>
        </p:blipFill>
        <p:spPr>
          <a:xfrm>
            <a:off x="9450387" y="1767643"/>
            <a:ext cx="2587625" cy="3112401"/>
          </a:xfrm>
          <a:prstGeom prst="rect">
            <a:avLst/>
          </a:prstGeom>
        </p:spPr>
      </p:pic>
      <p:pic>
        <p:nvPicPr>
          <p:cNvPr id="27" name="Picture 26">
            <a:extLst>
              <a:ext uri="{FF2B5EF4-FFF2-40B4-BE49-F238E27FC236}">
                <a16:creationId xmlns:a16="http://schemas.microsoft.com/office/drawing/2014/main" id="{F19A563D-3E71-DB80-3914-D7B60D6C0434}"/>
              </a:ext>
            </a:extLst>
          </p:cNvPr>
          <p:cNvPicPr>
            <a:picLocks noChangeAspect="1"/>
          </p:cNvPicPr>
          <p:nvPr/>
        </p:nvPicPr>
        <p:blipFill>
          <a:blip r:embed="rId3"/>
          <a:stretch>
            <a:fillRect/>
          </a:stretch>
        </p:blipFill>
        <p:spPr>
          <a:xfrm>
            <a:off x="3248286" y="1892808"/>
            <a:ext cx="2738867" cy="2433976"/>
          </a:xfrm>
          <a:prstGeom prst="rect">
            <a:avLst/>
          </a:prstGeom>
        </p:spPr>
      </p:pic>
      <p:pic>
        <p:nvPicPr>
          <p:cNvPr id="29" name="Picture 28">
            <a:extLst>
              <a:ext uri="{FF2B5EF4-FFF2-40B4-BE49-F238E27FC236}">
                <a16:creationId xmlns:a16="http://schemas.microsoft.com/office/drawing/2014/main" id="{F0D7CC82-AEC6-D3AD-4A0C-A2F4CF3BBD15}"/>
              </a:ext>
            </a:extLst>
          </p:cNvPr>
          <p:cNvPicPr>
            <a:picLocks noChangeAspect="1"/>
          </p:cNvPicPr>
          <p:nvPr/>
        </p:nvPicPr>
        <p:blipFill>
          <a:blip r:embed="rId4"/>
          <a:stretch>
            <a:fillRect/>
          </a:stretch>
        </p:blipFill>
        <p:spPr>
          <a:xfrm>
            <a:off x="54864" y="1810168"/>
            <a:ext cx="2816353" cy="3073072"/>
          </a:xfrm>
          <a:prstGeom prst="rect">
            <a:avLst/>
          </a:prstGeom>
        </p:spPr>
      </p:pic>
      <p:pic>
        <p:nvPicPr>
          <p:cNvPr id="31" name="Picture 30">
            <a:extLst>
              <a:ext uri="{FF2B5EF4-FFF2-40B4-BE49-F238E27FC236}">
                <a16:creationId xmlns:a16="http://schemas.microsoft.com/office/drawing/2014/main" id="{08042C3D-10FA-80CA-97B8-8E3B4A7981EF}"/>
              </a:ext>
            </a:extLst>
          </p:cNvPr>
          <p:cNvPicPr>
            <a:picLocks noChangeAspect="1"/>
          </p:cNvPicPr>
          <p:nvPr/>
        </p:nvPicPr>
        <p:blipFill>
          <a:blip r:embed="rId5"/>
          <a:stretch>
            <a:fillRect/>
          </a:stretch>
        </p:blipFill>
        <p:spPr>
          <a:xfrm>
            <a:off x="6496874" y="1810168"/>
            <a:ext cx="2555686" cy="29166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Experimental Results — ML Performance (Combined 3-Vehicle Model)</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Classifier: Random Forest | Validation: Session-Aware GroupShuffleSplit | Source: cross_vehicle_results.csv</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91440" y="1051560"/>
            <a:ext cx="1965960" cy="11887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 y="1188720"/>
            <a:ext cx="1965960" cy="502920"/>
          </a:xfrm>
          <a:prstGeom prst="rect">
            <a:avLst/>
          </a:prstGeom>
          <a:noFill/>
        </p:spPr>
        <p:txBody>
          <a:bodyPr wrap="square"/>
          <a:lstStyle/>
          <a:p>
            <a:pPr algn="ctr"/>
            <a:r>
              <a:rPr sz="2200" b="1" i="0">
                <a:solidFill>
                  <a:srgbClr val="FFFFFF"/>
                </a:solidFill>
                <a:latin typeface="Calibri"/>
              </a:rPr>
              <a:t>80.35%</a:t>
            </a:r>
          </a:p>
        </p:txBody>
      </p:sp>
      <p:sp>
        <p:nvSpPr>
          <p:cNvPr id="11" name="TextBox 10"/>
          <p:cNvSpPr txBox="1"/>
          <p:nvPr/>
        </p:nvSpPr>
        <p:spPr>
          <a:xfrm>
            <a:off x="91440" y="1691640"/>
            <a:ext cx="1965960" cy="457200"/>
          </a:xfrm>
          <a:prstGeom prst="rect">
            <a:avLst/>
          </a:prstGeom>
          <a:noFill/>
        </p:spPr>
        <p:txBody>
          <a:bodyPr wrap="square"/>
          <a:lstStyle/>
          <a:p>
            <a:pPr algn="ctr"/>
            <a:r>
              <a:rPr sz="900" b="0" i="0">
                <a:solidFill>
                  <a:srgbClr val="FFFFFF"/>
                </a:solidFill>
                <a:latin typeface="Calibri"/>
              </a:rPr>
              <a:t>Overall Accuracy</a:t>
            </a:r>
          </a:p>
        </p:txBody>
      </p:sp>
      <p:sp>
        <p:nvSpPr>
          <p:cNvPr id="12" name="Rectangle 11"/>
          <p:cNvSpPr/>
          <p:nvPr/>
        </p:nvSpPr>
        <p:spPr>
          <a:xfrm>
            <a:off x="2103120" y="1051560"/>
            <a:ext cx="1965960" cy="1188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03120" y="1188720"/>
            <a:ext cx="1965960" cy="502920"/>
          </a:xfrm>
          <a:prstGeom prst="rect">
            <a:avLst/>
          </a:prstGeom>
          <a:noFill/>
        </p:spPr>
        <p:txBody>
          <a:bodyPr wrap="square"/>
          <a:lstStyle/>
          <a:p>
            <a:pPr algn="ctr"/>
            <a:r>
              <a:rPr sz="2200" b="1" i="0">
                <a:solidFill>
                  <a:srgbClr val="FFFFFF"/>
                </a:solidFill>
                <a:latin typeface="Calibri"/>
              </a:rPr>
              <a:t>53.97%</a:t>
            </a:r>
          </a:p>
        </p:txBody>
      </p:sp>
      <p:sp>
        <p:nvSpPr>
          <p:cNvPr id="14" name="TextBox 13"/>
          <p:cNvSpPr txBox="1"/>
          <p:nvPr/>
        </p:nvSpPr>
        <p:spPr>
          <a:xfrm>
            <a:off x="2103120" y="1691640"/>
            <a:ext cx="1965960" cy="457200"/>
          </a:xfrm>
          <a:prstGeom prst="rect">
            <a:avLst/>
          </a:prstGeom>
          <a:noFill/>
        </p:spPr>
        <p:txBody>
          <a:bodyPr wrap="square"/>
          <a:lstStyle/>
          <a:p>
            <a:pPr algn="ctr"/>
            <a:r>
              <a:rPr sz="900" b="0" i="0">
                <a:solidFill>
                  <a:srgbClr val="FFFFFF"/>
                </a:solidFill>
                <a:latin typeface="Calibri"/>
              </a:rPr>
              <a:t>Macro F1-Score</a:t>
            </a:r>
          </a:p>
        </p:txBody>
      </p:sp>
      <p:sp>
        <p:nvSpPr>
          <p:cNvPr id="15" name="Rectangle 14"/>
          <p:cNvSpPr/>
          <p:nvPr/>
        </p:nvSpPr>
        <p:spPr>
          <a:xfrm>
            <a:off x="4114800" y="1051560"/>
            <a:ext cx="1965960" cy="1188720"/>
          </a:xfrm>
          <a:prstGeom prst="rect">
            <a:avLst/>
          </a:prstGeom>
          <a:solidFill>
            <a:srgbClr val="00A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0" y="1188720"/>
            <a:ext cx="1965960" cy="502920"/>
          </a:xfrm>
          <a:prstGeom prst="rect">
            <a:avLst/>
          </a:prstGeom>
          <a:noFill/>
        </p:spPr>
        <p:txBody>
          <a:bodyPr wrap="square"/>
          <a:lstStyle/>
          <a:p>
            <a:pPr algn="ctr"/>
            <a:r>
              <a:rPr sz="2200" b="1" i="0">
                <a:solidFill>
                  <a:srgbClr val="FFFFFF"/>
                </a:solidFill>
                <a:latin typeface="Calibri"/>
              </a:rPr>
              <a:t>79.74%</a:t>
            </a:r>
          </a:p>
        </p:txBody>
      </p:sp>
      <p:sp>
        <p:nvSpPr>
          <p:cNvPr id="17" name="TextBox 16"/>
          <p:cNvSpPr txBox="1"/>
          <p:nvPr/>
        </p:nvSpPr>
        <p:spPr>
          <a:xfrm>
            <a:off x="4114800" y="1691640"/>
            <a:ext cx="1965960" cy="457200"/>
          </a:xfrm>
          <a:prstGeom prst="rect">
            <a:avLst/>
          </a:prstGeom>
          <a:noFill/>
        </p:spPr>
        <p:txBody>
          <a:bodyPr wrap="square"/>
          <a:lstStyle/>
          <a:p>
            <a:pPr algn="ctr"/>
            <a:r>
              <a:rPr sz="900" b="0" i="0">
                <a:solidFill>
                  <a:srgbClr val="FFFFFF"/>
                </a:solidFill>
                <a:latin typeface="Calibri"/>
              </a:rPr>
              <a:t>Weighted F1-Score</a:t>
            </a:r>
          </a:p>
        </p:txBody>
      </p:sp>
      <p:sp>
        <p:nvSpPr>
          <p:cNvPr id="18" name="Rectangle 17"/>
          <p:cNvSpPr/>
          <p:nvPr/>
        </p:nvSpPr>
        <p:spPr>
          <a:xfrm>
            <a:off x="6126480" y="1051560"/>
            <a:ext cx="1965960" cy="11887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6480" y="1188720"/>
            <a:ext cx="1965960" cy="502920"/>
          </a:xfrm>
          <a:prstGeom prst="rect">
            <a:avLst/>
          </a:prstGeom>
          <a:noFill/>
        </p:spPr>
        <p:txBody>
          <a:bodyPr wrap="square"/>
          <a:lstStyle/>
          <a:p>
            <a:pPr algn="ctr"/>
            <a:r>
              <a:rPr sz="2200" b="1" i="0">
                <a:solidFill>
                  <a:srgbClr val="FFFFFF"/>
                </a:solidFill>
                <a:latin typeface="Calibri"/>
              </a:rPr>
              <a:t>463 windows</a:t>
            </a:r>
          </a:p>
        </p:txBody>
      </p:sp>
      <p:sp>
        <p:nvSpPr>
          <p:cNvPr id="20" name="TextBox 19"/>
          <p:cNvSpPr txBox="1"/>
          <p:nvPr/>
        </p:nvSpPr>
        <p:spPr>
          <a:xfrm>
            <a:off x="6126480" y="1691640"/>
            <a:ext cx="1965960" cy="457200"/>
          </a:xfrm>
          <a:prstGeom prst="rect">
            <a:avLst/>
          </a:prstGeom>
          <a:noFill/>
        </p:spPr>
        <p:txBody>
          <a:bodyPr wrap="square"/>
          <a:lstStyle/>
          <a:p>
            <a:pPr algn="ctr"/>
            <a:r>
              <a:rPr sz="900" b="0" i="0">
                <a:solidFill>
                  <a:srgbClr val="FFFFFF"/>
                </a:solidFill>
                <a:latin typeface="Calibri"/>
              </a:rPr>
              <a:t>Test Samples</a:t>
            </a:r>
          </a:p>
        </p:txBody>
      </p:sp>
      <p:sp>
        <p:nvSpPr>
          <p:cNvPr id="21" name="Rectangle 20"/>
          <p:cNvSpPr/>
          <p:nvPr/>
        </p:nvSpPr>
        <p:spPr>
          <a:xfrm>
            <a:off x="8138160" y="1051560"/>
            <a:ext cx="1965960" cy="118872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0" y="1188720"/>
            <a:ext cx="1965960" cy="502920"/>
          </a:xfrm>
          <a:prstGeom prst="rect">
            <a:avLst/>
          </a:prstGeom>
          <a:noFill/>
        </p:spPr>
        <p:txBody>
          <a:bodyPr wrap="square"/>
          <a:lstStyle/>
          <a:p>
            <a:pPr algn="ctr"/>
            <a:r>
              <a:rPr sz="2200" b="1" i="0">
                <a:solidFill>
                  <a:srgbClr val="FFFFFF"/>
                </a:solidFill>
                <a:latin typeface="Calibri"/>
              </a:rPr>
              <a:t>2,386 windows</a:t>
            </a:r>
          </a:p>
        </p:txBody>
      </p:sp>
      <p:sp>
        <p:nvSpPr>
          <p:cNvPr id="23" name="TextBox 22"/>
          <p:cNvSpPr txBox="1"/>
          <p:nvPr/>
        </p:nvSpPr>
        <p:spPr>
          <a:xfrm>
            <a:off x="8138160" y="1691640"/>
            <a:ext cx="1965960" cy="457200"/>
          </a:xfrm>
          <a:prstGeom prst="rect">
            <a:avLst/>
          </a:prstGeom>
          <a:noFill/>
        </p:spPr>
        <p:txBody>
          <a:bodyPr wrap="square"/>
          <a:lstStyle/>
          <a:p>
            <a:pPr algn="ctr"/>
            <a:r>
              <a:rPr sz="900" b="0" i="0">
                <a:solidFill>
                  <a:srgbClr val="FFFFFF"/>
                </a:solidFill>
                <a:latin typeface="Calibri"/>
              </a:rPr>
              <a:t>Train Samples</a:t>
            </a:r>
          </a:p>
        </p:txBody>
      </p:sp>
      <p:sp>
        <p:nvSpPr>
          <p:cNvPr id="24" name="Rectangle 23"/>
          <p:cNvSpPr/>
          <p:nvPr/>
        </p:nvSpPr>
        <p:spPr>
          <a:xfrm>
            <a:off x="10149840" y="1051560"/>
            <a:ext cx="1965960" cy="1188720"/>
          </a:xfrm>
          <a:prstGeom prst="rect">
            <a:avLst/>
          </a:prstGeom>
          <a:solidFill>
            <a:srgbClr val="AA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49840" y="1188720"/>
            <a:ext cx="1965960" cy="502920"/>
          </a:xfrm>
          <a:prstGeom prst="rect">
            <a:avLst/>
          </a:prstGeom>
          <a:noFill/>
        </p:spPr>
        <p:txBody>
          <a:bodyPr wrap="square"/>
          <a:lstStyle/>
          <a:p>
            <a:pPr algn="ctr"/>
            <a:r>
              <a:rPr sz="2200" b="1" i="0">
                <a:solidFill>
                  <a:srgbClr val="FFFFFF"/>
                </a:solidFill>
                <a:latin typeface="Calibri"/>
              </a:rPr>
              <a:t>77 features</a:t>
            </a:r>
          </a:p>
        </p:txBody>
      </p:sp>
      <p:sp>
        <p:nvSpPr>
          <p:cNvPr id="26" name="TextBox 25"/>
          <p:cNvSpPr txBox="1"/>
          <p:nvPr/>
        </p:nvSpPr>
        <p:spPr>
          <a:xfrm>
            <a:off x="10149840" y="1691640"/>
            <a:ext cx="1965960" cy="457200"/>
          </a:xfrm>
          <a:prstGeom prst="rect">
            <a:avLst/>
          </a:prstGeom>
          <a:noFill/>
        </p:spPr>
        <p:txBody>
          <a:bodyPr wrap="square"/>
          <a:lstStyle/>
          <a:p>
            <a:pPr algn="ctr"/>
            <a:r>
              <a:rPr sz="900" b="0" i="0">
                <a:solidFill>
                  <a:srgbClr val="FFFFFF"/>
                </a:solidFill>
                <a:latin typeface="Calibri"/>
              </a:rPr>
              <a:t>Total Features</a:t>
            </a:r>
          </a:p>
        </p:txBody>
      </p:sp>
      <p:sp>
        <p:nvSpPr>
          <p:cNvPr id="27" name="TextBox 26"/>
          <p:cNvSpPr txBox="1"/>
          <p:nvPr/>
        </p:nvSpPr>
        <p:spPr>
          <a:xfrm>
            <a:off x="91440" y="2377440"/>
            <a:ext cx="11887200" cy="274320"/>
          </a:xfrm>
          <a:prstGeom prst="rect">
            <a:avLst/>
          </a:prstGeom>
          <a:noFill/>
        </p:spPr>
        <p:txBody>
          <a:bodyPr wrap="square"/>
          <a:lstStyle/>
          <a:p>
            <a:pPr algn="l"/>
            <a:r>
              <a:rPr sz="1200" b="1" i="0">
                <a:solidFill>
                  <a:srgbClr val="00C8FF"/>
                </a:solidFill>
                <a:latin typeface="Calibri"/>
              </a:rPr>
              <a:t>Class-Wise Performance  (Experiment C — Combined 3-Vehicle Model)</a:t>
            </a:r>
          </a:p>
        </p:txBody>
      </p:sp>
      <p:sp>
        <p:nvSpPr>
          <p:cNvPr id="28" name="Rectangle 27"/>
          <p:cNvSpPr/>
          <p:nvPr/>
        </p:nvSpPr>
        <p:spPr>
          <a:xfrm>
            <a:off x="91440" y="2697480"/>
            <a:ext cx="1737360" cy="38404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 y="2697480"/>
            <a:ext cx="1737360" cy="384048"/>
          </a:xfrm>
          <a:prstGeom prst="rect">
            <a:avLst/>
          </a:prstGeom>
          <a:noFill/>
        </p:spPr>
        <p:txBody>
          <a:bodyPr wrap="square"/>
          <a:lstStyle/>
          <a:p>
            <a:pPr algn="ctr"/>
            <a:r>
              <a:rPr sz="1000" b="1" i="0">
                <a:solidFill>
                  <a:srgbClr val="FFFFFF"/>
                </a:solidFill>
                <a:latin typeface="Calibri"/>
              </a:rPr>
              <a:t>Road Class</a:t>
            </a:r>
          </a:p>
        </p:txBody>
      </p:sp>
      <p:sp>
        <p:nvSpPr>
          <p:cNvPr id="30" name="Rectangle 29"/>
          <p:cNvSpPr/>
          <p:nvPr/>
        </p:nvSpPr>
        <p:spPr>
          <a:xfrm>
            <a:off x="1847088" y="2697480"/>
            <a:ext cx="1005840" cy="38404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47088" y="2697480"/>
            <a:ext cx="1005840" cy="384048"/>
          </a:xfrm>
          <a:prstGeom prst="rect">
            <a:avLst/>
          </a:prstGeom>
          <a:noFill/>
        </p:spPr>
        <p:txBody>
          <a:bodyPr wrap="square"/>
          <a:lstStyle/>
          <a:p>
            <a:pPr algn="ctr"/>
            <a:r>
              <a:rPr sz="1000" b="1" i="0">
                <a:solidFill>
                  <a:srgbClr val="FFFFFF"/>
                </a:solidFill>
                <a:latin typeface="Calibri"/>
              </a:rPr>
              <a:t>Precision</a:t>
            </a:r>
          </a:p>
        </p:txBody>
      </p:sp>
      <p:sp>
        <p:nvSpPr>
          <p:cNvPr id="32" name="Rectangle 31"/>
          <p:cNvSpPr/>
          <p:nvPr/>
        </p:nvSpPr>
        <p:spPr>
          <a:xfrm>
            <a:off x="2871216" y="2697480"/>
            <a:ext cx="1005840" cy="38404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871216" y="2697480"/>
            <a:ext cx="1005840" cy="384048"/>
          </a:xfrm>
          <a:prstGeom prst="rect">
            <a:avLst/>
          </a:prstGeom>
          <a:noFill/>
        </p:spPr>
        <p:txBody>
          <a:bodyPr wrap="square"/>
          <a:lstStyle/>
          <a:p>
            <a:pPr algn="ctr"/>
            <a:r>
              <a:rPr sz="1000" b="1" i="0">
                <a:solidFill>
                  <a:srgbClr val="FFFFFF"/>
                </a:solidFill>
                <a:latin typeface="Calibri"/>
              </a:rPr>
              <a:t>Recall</a:t>
            </a:r>
          </a:p>
        </p:txBody>
      </p:sp>
      <p:sp>
        <p:nvSpPr>
          <p:cNvPr id="34" name="Rectangle 33"/>
          <p:cNvSpPr/>
          <p:nvPr/>
        </p:nvSpPr>
        <p:spPr>
          <a:xfrm>
            <a:off x="3895344" y="2697480"/>
            <a:ext cx="1005840" cy="38404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95344" y="2697480"/>
            <a:ext cx="1005840" cy="384048"/>
          </a:xfrm>
          <a:prstGeom prst="rect">
            <a:avLst/>
          </a:prstGeom>
          <a:noFill/>
        </p:spPr>
        <p:txBody>
          <a:bodyPr wrap="square"/>
          <a:lstStyle/>
          <a:p>
            <a:pPr algn="ctr"/>
            <a:r>
              <a:rPr sz="1000" b="1" i="0">
                <a:solidFill>
                  <a:srgbClr val="FFFFFF"/>
                </a:solidFill>
                <a:latin typeface="Calibri"/>
              </a:rPr>
              <a:t>F1-Score</a:t>
            </a:r>
          </a:p>
        </p:txBody>
      </p:sp>
      <p:sp>
        <p:nvSpPr>
          <p:cNvPr id="36" name="Rectangle 35"/>
          <p:cNvSpPr/>
          <p:nvPr/>
        </p:nvSpPr>
        <p:spPr>
          <a:xfrm>
            <a:off x="4919472" y="2697480"/>
            <a:ext cx="1920240" cy="38404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19472" y="2697480"/>
            <a:ext cx="1920240" cy="384048"/>
          </a:xfrm>
          <a:prstGeom prst="rect">
            <a:avLst/>
          </a:prstGeom>
          <a:noFill/>
        </p:spPr>
        <p:txBody>
          <a:bodyPr wrap="square"/>
          <a:lstStyle/>
          <a:p>
            <a:pPr algn="ctr"/>
            <a:r>
              <a:rPr sz="1000" b="1" i="0">
                <a:solidFill>
                  <a:srgbClr val="FFFFFF"/>
                </a:solidFill>
                <a:latin typeface="Calibri"/>
              </a:rPr>
              <a:t>Support (windows)</a:t>
            </a:r>
          </a:p>
        </p:txBody>
      </p:sp>
      <p:sp>
        <p:nvSpPr>
          <p:cNvPr id="38" name="Rectangle 37"/>
          <p:cNvSpPr/>
          <p:nvPr/>
        </p:nvSpPr>
        <p:spPr>
          <a:xfrm>
            <a:off x="6858000" y="2697480"/>
            <a:ext cx="5029200" cy="38404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858000" y="2697480"/>
            <a:ext cx="5029200" cy="384048"/>
          </a:xfrm>
          <a:prstGeom prst="rect">
            <a:avLst/>
          </a:prstGeom>
          <a:noFill/>
        </p:spPr>
        <p:txBody>
          <a:bodyPr wrap="square"/>
          <a:lstStyle/>
          <a:p>
            <a:pPr algn="ctr"/>
            <a:r>
              <a:rPr sz="1000" b="1" i="0">
                <a:solidFill>
                  <a:srgbClr val="FFFFFF"/>
                </a:solidFill>
                <a:latin typeface="Calibri"/>
              </a:rPr>
              <a:t>Observation</a:t>
            </a:r>
          </a:p>
        </p:txBody>
      </p:sp>
      <p:sp>
        <p:nvSpPr>
          <p:cNvPr id="40" name="Rectangle 39"/>
          <p:cNvSpPr/>
          <p:nvPr/>
        </p:nvSpPr>
        <p:spPr>
          <a:xfrm>
            <a:off x="91440" y="3081528"/>
            <a:ext cx="1737360" cy="384048"/>
          </a:xfrm>
          <a:prstGeom prst="rect">
            <a:avLst/>
          </a:prstGeom>
          <a:solidFill>
            <a:srgbClr val="E600A9"/>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28016" y="3081528"/>
            <a:ext cx="1682496" cy="384048"/>
          </a:xfrm>
          <a:prstGeom prst="rect">
            <a:avLst/>
          </a:prstGeom>
          <a:noFill/>
        </p:spPr>
        <p:txBody>
          <a:bodyPr wrap="square"/>
          <a:lstStyle/>
          <a:p>
            <a:pPr algn="ctr"/>
            <a:r>
              <a:rPr sz="1000" b="1" i="0">
                <a:solidFill>
                  <a:srgbClr val="FFFFFF"/>
                </a:solidFill>
                <a:latin typeface="Calibri"/>
              </a:rPr>
              <a:t>POTHOLE</a:t>
            </a:r>
          </a:p>
        </p:txBody>
      </p:sp>
      <p:sp>
        <p:nvSpPr>
          <p:cNvPr id="42" name="Rectangle 41"/>
          <p:cNvSpPr/>
          <p:nvPr/>
        </p:nvSpPr>
        <p:spPr>
          <a:xfrm>
            <a:off x="1847088" y="308152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883664" y="3081528"/>
            <a:ext cx="950976" cy="384048"/>
          </a:xfrm>
          <a:prstGeom prst="rect">
            <a:avLst/>
          </a:prstGeom>
          <a:noFill/>
        </p:spPr>
        <p:txBody>
          <a:bodyPr wrap="square"/>
          <a:lstStyle/>
          <a:p>
            <a:pPr algn="ctr"/>
            <a:r>
              <a:rPr sz="1000" b="0" i="0">
                <a:solidFill>
                  <a:srgbClr val="FFFFFF"/>
                </a:solidFill>
                <a:latin typeface="Calibri"/>
              </a:rPr>
              <a:t>0.000</a:t>
            </a:r>
          </a:p>
        </p:txBody>
      </p:sp>
      <p:sp>
        <p:nvSpPr>
          <p:cNvPr id="44" name="Rectangle 43"/>
          <p:cNvSpPr/>
          <p:nvPr/>
        </p:nvSpPr>
        <p:spPr>
          <a:xfrm>
            <a:off x="2871216" y="308152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907792" y="3081528"/>
            <a:ext cx="950976" cy="384048"/>
          </a:xfrm>
          <a:prstGeom prst="rect">
            <a:avLst/>
          </a:prstGeom>
          <a:noFill/>
        </p:spPr>
        <p:txBody>
          <a:bodyPr wrap="square"/>
          <a:lstStyle/>
          <a:p>
            <a:pPr algn="ctr"/>
            <a:r>
              <a:rPr sz="1000" b="0" i="0">
                <a:solidFill>
                  <a:srgbClr val="FFFFFF"/>
                </a:solidFill>
                <a:latin typeface="Calibri"/>
              </a:rPr>
              <a:t>0.000</a:t>
            </a:r>
          </a:p>
        </p:txBody>
      </p:sp>
      <p:sp>
        <p:nvSpPr>
          <p:cNvPr id="46" name="Rectangle 45"/>
          <p:cNvSpPr/>
          <p:nvPr/>
        </p:nvSpPr>
        <p:spPr>
          <a:xfrm>
            <a:off x="3895344" y="308152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931920" y="3081528"/>
            <a:ext cx="950976" cy="384048"/>
          </a:xfrm>
          <a:prstGeom prst="rect">
            <a:avLst/>
          </a:prstGeom>
          <a:noFill/>
        </p:spPr>
        <p:txBody>
          <a:bodyPr wrap="square"/>
          <a:lstStyle/>
          <a:p>
            <a:pPr algn="ctr"/>
            <a:r>
              <a:rPr sz="1000" b="0" i="0">
                <a:solidFill>
                  <a:srgbClr val="FFFFFF"/>
                </a:solidFill>
                <a:latin typeface="Calibri"/>
              </a:rPr>
              <a:t>0.000</a:t>
            </a:r>
          </a:p>
        </p:txBody>
      </p:sp>
      <p:sp>
        <p:nvSpPr>
          <p:cNvPr id="48" name="Rectangle 47"/>
          <p:cNvSpPr/>
          <p:nvPr/>
        </p:nvSpPr>
        <p:spPr>
          <a:xfrm>
            <a:off x="4919472" y="3081528"/>
            <a:ext cx="19202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956048" y="3081528"/>
            <a:ext cx="1865376" cy="384048"/>
          </a:xfrm>
          <a:prstGeom prst="rect">
            <a:avLst/>
          </a:prstGeom>
          <a:noFill/>
        </p:spPr>
        <p:txBody>
          <a:bodyPr wrap="square"/>
          <a:lstStyle/>
          <a:p>
            <a:pPr algn="ctr"/>
            <a:r>
              <a:rPr sz="1000" b="0" i="0">
                <a:solidFill>
                  <a:srgbClr val="FFFFFF"/>
                </a:solidFill>
                <a:latin typeface="Calibri"/>
              </a:rPr>
              <a:t>7</a:t>
            </a:r>
          </a:p>
        </p:txBody>
      </p:sp>
      <p:sp>
        <p:nvSpPr>
          <p:cNvPr id="50" name="Rectangle 49"/>
          <p:cNvSpPr/>
          <p:nvPr/>
        </p:nvSpPr>
        <p:spPr>
          <a:xfrm>
            <a:off x="6858000" y="3081528"/>
            <a:ext cx="502920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94576" y="3081528"/>
            <a:ext cx="4974336" cy="384048"/>
          </a:xfrm>
          <a:prstGeom prst="rect">
            <a:avLst/>
          </a:prstGeom>
          <a:noFill/>
        </p:spPr>
        <p:txBody>
          <a:bodyPr wrap="square"/>
          <a:lstStyle/>
          <a:p>
            <a:pPr algn="l"/>
            <a:r>
              <a:rPr sz="1000" b="0" i="0">
                <a:solidFill>
                  <a:srgbClr val="FFFFFF"/>
                </a:solidFill>
                <a:latin typeface="Calibri"/>
              </a:rPr>
              <a:t>Insufficient labeled samples — imbalanced class</a:t>
            </a:r>
          </a:p>
        </p:txBody>
      </p:sp>
      <p:sp>
        <p:nvSpPr>
          <p:cNvPr id="52" name="Rectangle 51"/>
          <p:cNvSpPr/>
          <p:nvPr/>
        </p:nvSpPr>
        <p:spPr>
          <a:xfrm>
            <a:off x="91440" y="3493008"/>
            <a:ext cx="1737360" cy="384048"/>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28016" y="3493008"/>
            <a:ext cx="1682496" cy="384048"/>
          </a:xfrm>
          <a:prstGeom prst="rect">
            <a:avLst/>
          </a:prstGeom>
          <a:noFill/>
        </p:spPr>
        <p:txBody>
          <a:bodyPr wrap="square"/>
          <a:lstStyle/>
          <a:p>
            <a:pPr algn="ctr"/>
            <a:r>
              <a:rPr sz="1000" b="1" i="0">
                <a:solidFill>
                  <a:srgbClr val="FFFFFF"/>
                </a:solidFill>
                <a:latin typeface="Calibri"/>
              </a:rPr>
              <a:t>SMOOTH</a:t>
            </a:r>
          </a:p>
        </p:txBody>
      </p:sp>
      <p:sp>
        <p:nvSpPr>
          <p:cNvPr id="54" name="Rectangle 53"/>
          <p:cNvSpPr/>
          <p:nvPr/>
        </p:nvSpPr>
        <p:spPr>
          <a:xfrm>
            <a:off x="1847088" y="349300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883664" y="3493008"/>
            <a:ext cx="950976" cy="384048"/>
          </a:xfrm>
          <a:prstGeom prst="rect">
            <a:avLst/>
          </a:prstGeom>
          <a:noFill/>
        </p:spPr>
        <p:txBody>
          <a:bodyPr wrap="square"/>
          <a:lstStyle/>
          <a:p>
            <a:pPr algn="ctr"/>
            <a:r>
              <a:rPr sz="1000" b="0" i="0">
                <a:solidFill>
                  <a:srgbClr val="FFFFFF"/>
                </a:solidFill>
                <a:latin typeface="Calibri"/>
              </a:rPr>
              <a:t>0.792</a:t>
            </a:r>
          </a:p>
        </p:txBody>
      </p:sp>
      <p:sp>
        <p:nvSpPr>
          <p:cNvPr id="56" name="Rectangle 55"/>
          <p:cNvSpPr/>
          <p:nvPr/>
        </p:nvSpPr>
        <p:spPr>
          <a:xfrm>
            <a:off x="2871216" y="349300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07792" y="3493008"/>
            <a:ext cx="950976" cy="384048"/>
          </a:xfrm>
          <a:prstGeom prst="rect">
            <a:avLst/>
          </a:prstGeom>
          <a:noFill/>
        </p:spPr>
        <p:txBody>
          <a:bodyPr wrap="square"/>
          <a:lstStyle/>
          <a:p>
            <a:pPr algn="ctr"/>
            <a:r>
              <a:rPr sz="1000" b="0" i="0">
                <a:solidFill>
                  <a:srgbClr val="FFFFFF"/>
                </a:solidFill>
                <a:latin typeface="Calibri"/>
              </a:rPr>
              <a:t>0.821</a:t>
            </a:r>
          </a:p>
        </p:txBody>
      </p:sp>
      <p:sp>
        <p:nvSpPr>
          <p:cNvPr id="58" name="Rectangle 57"/>
          <p:cNvSpPr/>
          <p:nvPr/>
        </p:nvSpPr>
        <p:spPr>
          <a:xfrm>
            <a:off x="3895344" y="349300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931920" y="3493008"/>
            <a:ext cx="950976" cy="384048"/>
          </a:xfrm>
          <a:prstGeom prst="rect">
            <a:avLst/>
          </a:prstGeom>
          <a:noFill/>
        </p:spPr>
        <p:txBody>
          <a:bodyPr wrap="square"/>
          <a:lstStyle/>
          <a:p>
            <a:pPr algn="ctr"/>
            <a:r>
              <a:rPr sz="1000" b="0" i="0">
                <a:solidFill>
                  <a:srgbClr val="FFFFFF"/>
                </a:solidFill>
                <a:latin typeface="Calibri"/>
              </a:rPr>
              <a:t>0.806</a:t>
            </a:r>
          </a:p>
        </p:txBody>
      </p:sp>
      <p:sp>
        <p:nvSpPr>
          <p:cNvPr id="60" name="Rectangle 59"/>
          <p:cNvSpPr/>
          <p:nvPr/>
        </p:nvSpPr>
        <p:spPr>
          <a:xfrm>
            <a:off x="4919472" y="3493008"/>
            <a:ext cx="19202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956048" y="3493008"/>
            <a:ext cx="1865376" cy="384048"/>
          </a:xfrm>
          <a:prstGeom prst="rect">
            <a:avLst/>
          </a:prstGeom>
          <a:noFill/>
        </p:spPr>
        <p:txBody>
          <a:bodyPr wrap="square"/>
          <a:lstStyle/>
          <a:p>
            <a:pPr algn="ctr"/>
            <a:r>
              <a:rPr sz="1000" b="0" i="0">
                <a:solidFill>
                  <a:srgbClr val="FFFFFF"/>
                </a:solidFill>
                <a:latin typeface="Calibri"/>
              </a:rPr>
              <a:t>223</a:t>
            </a:r>
          </a:p>
        </p:txBody>
      </p:sp>
      <p:sp>
        <p:nvSpPr>
          <p:cNvPr id="62" name="Rectangle 61"/>
          <p:cNvSpPr/>
          <p:nvPr/>
        </p:nvSpPr>
        <p:spPr>
          <a:xfrm>
            <a:off x="6858000" y="3493008"/>
            <a:ext cx="502920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894576" y="3493008"/>
            <a:ext cx="4974336" cy="384048"/>
          </a:xfrm>
          <a:prstGeom prst="rect">
            <a:avLst/>
          </a:prstGeom>
          <a:noFill/>
        </p:spPr>
        <p:txBody>
          <a:bodyPr wrap="square"/>
          <a:lstStyle/>
          <a:p>
            <a:pPr algn="l"/>
            <a:r>
              <a:rPr sz="1000" b="0" i="0">
                <a:solidFill>
                  <a:srgbClr val="FFFFFF"/>
                </a:solidFill>
                <a:latin typeface="Calibri"/>
              </a:rPr>
              <a:t>Good detection — dominant class well represented</a:t>
            </a:r>
          </a:p>
        </p:txBody>
      </p:sp>
      <p:sp>
        <p:nvSpPr>
          <p:cNvPr id="64" name="Rectangle 63"/>
          <p:cNvSpPr/>
          <p:nvPr/>
        </p:nvSpPr>
        <p:spPr>
          <a:xfrm>
            <a:off x="91440" y="3904488"/>
            <a:ext cx="1737360" cy="384048"/>
          </a:xfrm>
          <a:prstGeom prst="rect">
            <a:avLst/>
          </a:prstGeom>
          <a:solidFill>
            <a:srgbClr val="FF7A00"/>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28016" y="3904488"/>
            <a:ext cx="1682496" cy="384048"/>
          </a:xfrm>
          <a:prstGeom prst="rect">
            <a:avLst/>
          </a:prstGeom>
          <a:noFill/>
        </p:spPr>
        <p:txBody>
          <a:bodyPr wrap="square"/>
          <a:lstStyle/>
          <a:p>
            <a:pPr algn="ctr"/>
            <a:r>
              <a:rPr sz="1000" b="1" i="0">
                <a:solidFill>
                  <a:srgbClr val="FFFFFF"/>
                </a:solidFill>
                <a:latin typeface="Calibri"/>
              </a:rPr>
              <a:t>SPEED BREAKER</a:t>
            </a:r>
          </a:p>
        </p:txBody>
      </p:sp>
      <p:sp>
        <p:nvSpPr>
          <p:cNvPr id="66" name="Rectangle 65"/>
          <p:cNvSpPr/>
          <p:nvPr/>
        </p:nvSpPr>
        <p:spPr>
          <a:xfrm>
            <a:off x="1847088" y="390448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883664" y="3904488"/>
            <a:ext cx="950976" cy="384048"/>
          </a:xfrm>
          <a:prstGeom prst="rect">
            <a:avLst/>
          </a:prstGeom>
          <a:noFill/>
        </p:spPr>
        <p:txBody>
          <a:bodyPr wrap="square"/>
          <a:lstStyle/>
          <a:p>
            <a:pPr algn="ctr"/>
            <a:r>
              <a:rPr sz="1000" b="0" i="0">
                <a:solidFill>
                  <a:srgbClr val="FFFFFF"/>
                </a:solidFill>
                <a:latin typeface="Calibri"/>
              </a:rPr>
              <a:t>0.815</a:t>
            </a:r>
          </a:p>
        </p:txBody>
      </p:sp>
      <p:sp>
        <p:nvSpPr>
          <p:cNvPr id="68" name="Rectangle 67"/>
          <p:cNvSpPr/>
          <p:nvPr/>
        </p:nvSpPr>
        <p:spPr>
          <a:xfrm>
            <a:off x="2871216" y="390448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907792" y="3904488"/>
            <a:ext cx="950976" cy="384048"/>
          </a:xfrm>
          <a:prstGeom prst="rect">
            <a:avLst/>
          </a:prstGeom>
          <a:noFill/>
        </p:spPr>
        <p:txBody>
          <a:bodyPr wrap="square"/>
          <a:lstStyle/>
          <a:p>
            <a:pPr algn="ctr"/>
            <a:r>
              <a:rPr sz="1000" b="0" i="0">
                <a:solidFill>
                  <a:srgbClr val="FFFFFF"/>
                </a:solidFill>
                <a:latin typeface="Calibri"/>
              </a:rPr>
              <a:t>0.811</a:t>
            </a:r>
          </a:p>
        </p:txBody>
      </p:sp>
      <p:sp>
        <p:nvSpPr>
          <p:cNvPr id="70" name="Rectangle 69"/>
          <p:cNvSpPr/>
          <p:nvPr/>
        </p:nvSpPr>
        <p:spPr>
          <a:xfrm>
            <a:off x="3895344" y="3904488"/>
            <a:ext cx="10058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931920" y="3904488"/>
            <a:ext cx="950976" cy="384048"/>
          </a:xfrm>
          <a:prstGeom prst="rect">
            <a:avLst/>
          </a:prstGeom>
          <a:noFill/>
        </p:spPr>
        <p:txBody>
          <a:bodyPr wrap="square"/>
          <a:lstStyle/>
          <a:p>
            <a:pPr algn="ctr"/>
            <a:r>
              <a:rPr sz="1000" b="0" i="0">
                <a:solidFill>
                  <a:srgbClr val="FFFFFF"/>
                </a:solidFill>
                <a:latin typeface="Calibri"/>
              </a:rPr>
              <a:t>0.813</a:t>
            </a:r>
          </a:p>
        </p:txBody>
      </p:sp>
      <p:sp>
        <p:nvSpPr>
          <p:cNvPr id="72" name="Rectangle 71"/>
          <p:cNvSpPr/>
          <p:nvPr/>
        </p:nvSpPr>
        <p:spPr>
          <a:xfrm>
            <a:off x="4919472" y="3904488"/>
            <a:ext cx="192024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956048" y="3904488"/>
            <a:ext cx="1865376" cy="384048"/>
          </a:xfrm>
          <a:prstGeom prst="rect">
            <a:avLst/>
          </a:prstGeom>
          <a:noFill/>
        </p:spPr>
        <p:txBody>
          <a:bodyPr wrap="square"/>
          <a:lstStyle/>
          <a:p>
            <a:pPr algn="ctr"/>
            <a:r>
              <a:rPr sz="1000" b="0" i="0">
                <a:solidFill>
                  <a:srgbClr val="FFFFFF"/>
                </a:solidFill>
                <a:latin typeface="Calibri"/>
              </a:rPr>
              <a:t>233</a:t>
            </a:r>
          </a:p>
        </p:txBody>
      </p:sp>
      <p:sp>
        <p:nvSpPr>
          <p:cNvPr id="74" name="Rectangle 73"/>
          <p:cNvSpPr/>
          <p:nvPr/>
        </p:nvSpPr>
        <p:spPr>
          <a:xfrm>
            <a:off x="6858000" y="3904488"/>
            <a:ext cx="5029200" cy="384048"/>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894576" y="3904488"/>
            <a:ext cx="4974336" cy="384048"/>
          </a:xfrm>
          <a:prstGeom prst="rect">
            <a:avLst/>
          </a:prstGeom>
          <a:noFill/>
        </p:spPr>
        <p:txBody>
          <a:bodyPr wrap="square"/>
          <a:lstStyle/>
          <a:p>
            <a:pPr algn="l"/>
            <a:r>
              <a:rPr sz="1000" b="0" i="0">
                <a:solidFill>
                  <a:srgbClr val="FFFFFF"/>
                </a:solidFill>
                <a:latin typeface="Calibri"/>
              </a:rPr>
              <a:t>Good detection — gyro features improve F1</a:t>
            </a:r>
          </a:p>
        </p:txBody>
      </p:sp>
      <p:sp>
        <p:nvSpPr>
          <p:cNvPr id="76" name="TextBox 75"/>
          <p:cNvSpPr txBox="1"/>
          <p:nvPr/>
        </p:nvSpPr>
        <p:spPr>
          <a:xfrm>
            <a:off x="91440" y="5669280"/>
            <a:ext cx="11887200" cy="685800"/>
          </a:xfrm>
          <a:prstGeom prst="rect">
            <a:avLst/>
          </a:prstGeom>
          <a:noFill/>
        </p:spPr>
        <p:txBody>
          <a:bodyPr wrap="square"/>
          <a:lstStyle/>
          <a:p>
            <a:pPr algn="l"/>
            <a:r>
              <a:rPr sz="900" b="0" i="0">
                <a:solidFill>
                  <a:srgbClr val="FFC000"/>
                </a:solidFill>
                <a:latin typeface="Calibri"/>
              </a:rPr>
              <a:t>⚠  POTHOLE class F1 = 0.000 because only 7 labeled pothole windows exist in the combined dataset.
    Signal-derived annotations (annotate_signal_labels) are used to infer classes for the unlabeled field dataset.
    Results reflect signal-based annotation — ground-truth label collection for potholes is an ongoing task.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Three-Vehicle Evaluation — Cross-Vehicle Generalization</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Research Objective: Does DSP calibration allow a model trained on one vehicle to work on another?</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TextBox 8"/>
          <p:cNvSpPr txBox="1"/>
          <p:nvPr/>
        </p:nvSpPr>
        <p:spPr>
          <a:xfrm>
            <a:off x="91440" y="1051560"/>
            <a:ext cx="5486400" cy="274320"/>
          </a:xfrm>
          <a:prstGeom prst="rect">
            <a:avLst/>
          </a:prstGeom>
          <a:noFill/>
        </p:spPr>
        <p:txBody>
          <a:bodyPr wrap="square"/>
          <a:lstStyle/>
          <a:p>
            <a:pPr algn="l"/>
            <a:r>
              <a:rPr sz="1200" b="1" i="0">
                <a:solidFill>
                  <a:srgbClr val="00C8FF"/>
                </a:solidFill>
                <a:latin typeface="Calibri"/>
              </a:rPr>
              <a:t>Dataset Summary</a:t>
            </a:r>
          </a:p>
        </p:txBody>
      </p:sp>
      <p:sp>
        <p:nvSpPr>
          <p:cNvPr id="10" name="Rectangle 9"/>
          <p:cNvSpPr/>
          <p:nvPr/>
        </p:nvSpPr>
        <p:spPr>
          <a:xfrm>
            <a:off x="91440" y="1371600"/>
            <a:ext cx="310896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 y="1371600"/>
            <a:ext cx="3108960" cy="320040"/>
          </a:xfrm>
          <a:prstGeom prst="rect">
            <a:avLst/>
          </a:prstGeom>
          <a:noFill/>
        </p:spPr>
        <p:txBody>
          <a:bodyPr wrap="square"/>
          <a:lstStyle/>
          <a:p>
            <a:pPr algn="ctr"/>
            <a:r>
              <a:rPr sz="900" b="1" i="0">
                <a:solidFill>
                  <a:srgbClr val="FFFFFF"/>
                </a:solidFill>
                <a:latin typeface="Calibri"/>
              </a:rPr>
              <a:t>Vehicle</a:t>
            </a:r>
          </a:p>
        </p:txBody>
      </p:sp>
      <p:sp>
        <p:nvSpPr>
          <p:cNvPr id="12" name="Rectangle 11"/>
          <p:cNvSpPr/>
          <p:nvPr/>
        </p:nvSpPr>
        <p:spPr>
          <a:xfrm>
            <a:off x="3218688" y="1371600"/>
            <a:ext cx="100584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18688" y="1371600"/>
            <a:ext cx="1005840" cy="320040"/>
          </a:xfrm>
          <a:prstGeom prst="rect">
            <a:avLst/>
          </a:prstGeom>
          <a:noFill/>
        </p:spPr>
        <p:txBody>
          <a:bodyPr wrap="square"/>
          <a:lstStyle/>
          <a:p>
            <a:pPr algn="ctr"/>
            <a:r>
              <a:rPr sz="900" b="1" i="0">
                <a:solidFill>
                  <a:srgbClr val="FFFFFF"/>
                </a:solidFill>
                <a:latin typeface="Calibri"/>
              </a:rPr>
              <a:t>CSV Rows</a:t>
            </a:r>
          </a:p>
        </p:txBody>
      </p:sp>
      <p:sp>
        <p:nvSpPr>
          <p:cNvPr id="14" name="Rectangle 13"/>
          <p:cNvSpPr/>
          <p:nvPr/>
        </p:nvSpPr>
        <p:spPr>
          <a:xfrm>
            <a:off x="4242816" y="1371600"/>
            <a:ext cx="109728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42816" y="1371600"/>
            <a:ext cx="1097280" cy="320040"/>
          </a:xfrm>
          <a:prstGeom prst="rect">
            <a:avLst/>
          </a:prstGeom>
          <a:noFill/>
        </p:spPr>
        <p:txBody>
          <a:bodyPr wrap="square"/>
          <a:lstStyle/>
          <a:p>
            <a:pPr algn="ctr"/>
            <a:r>
              <a:rPr sz="900" b="1" i="0">
                <a:solidFill>
                  <a:srgbClr val="FFFFFF"/>
                </a:solidFill>
                <a:latin typeface="Calibri"/>
              </a:rPr>
              <a:t>Duration</a:t>
            </a:r>
          </a:p>
        </p:txBody>
      </p:sp>
      <p:sp>
        <p:nvSpPr>
          <p:cNvPr id="16" name="Rectangle 15"/>
          <p:cNvSpPr/>
          <p:nvPr/>
        </p:nvSpPr>
        <p:spPr>
          <a:xfrm>
            <a:off x="5358384" y="1371600"/>
            <a:ext cx="128016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58384" y="1371600"/>
            <a:ext cx="1280160" cy="320040"/>
          </a:xfrm>
          <a:prstGeom prst="rect">
            <a:avLst/>
          </a:prstGeom>
          <a:noFill/>
        </p:spPr>
        <p:txBody>
          <a:bodyPr wrap="square"/>
          <a:lstStyle/>
          <a:p>
            <a:pPr algn="ctr"/>
            <a:r>
              <a:rPr sz="900" b="1" i="0">
                <a:solidFill>
                  <a:srgbClr val="FFFFFF"/>
                </a:solidFill>
                <a:latin typeface="Calibri"/>
              </a:rPr>
              <a:t>Sampling Rate</a:t>
            </a:r>
          </a:p>
        </p:txBody>
      </p:sp>
      <p:sp>
        <p:nvSpPr>
          <p:cNvPr id="18" name="Rectangle 17"/>
          <p:cNvSpPr/>
          <p:nvPr/>
        </p:nvSpPr>
        <p:spPr>
          <a:xfrm>
            <a:off x="6656832" y="1371600"/>
            <a:ext cx="100584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56832" y="1371600"/>
            <a:ext cx="1005840" cy="320040"/>
          </a:xfrm>
          <a:prstGeom prst="rect">
            <a:avLst/>
          </a:prstGeom>
          <a:noFill/>
        </p:spPr>
        <p:txBody>
          <a:bodyPr wrap="square"/>
          <a:lstStyle/>
          <a:p>
            <a:pPr algn="ctr"/>
            <a:r>
              <a:rPr sz="900" b="1" i="0">
                <a:solidFill>
                  <a:srgbClr val="FFFFFF"/>
                </a:solidFill>
                <a:latin typeface="Calibri"/>
              </a:rPr>
              <a:t>Anomalies</a:t>
            </a:r>
          </a:p>
        </p:txBody>
      </p:sp>
      <p:sp>
        <p:nvSpPr>
          <p:cNvPr id="20" name="Rectangle 19"/>
          <p:cNvSpPr/>
          <p:nvPr/>
        </p:nvSpPr>
        <p:spPr>
          <a:xfrm>
            <a:off x="7680960" y="1371600"/>
            <a:ext cx="100584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0" y="1371600"/>
            <a:ext cx="1005840" cy="320040"/>
          </a:xfrm>
          <a:prstGeom prst="rect">
            <a:avLst/>
          </a:prstGeom>
          <a:noFill/>
        </p:spPr>
        <p:txBody>
          <a:bodyPr wrap="square"/>
          <a:lstStyle/>
          <a:p>
            <a:pPr algn="ctr"/>
            <a:r>
              <a:rPr sz="900" b="1" i="0">
                <a:solidFill>
                  <a:srgbClr val="FFFFFF"/>
                </a:solidFill>
                <a:latin typeface="Calibri"/>
              </a:rPr>
              <a:t>Potholes</a:t>
            </a:r>
          </a:p>
        </p:txBody>
      </p:sp>
      <p:sp>
        <p:nvSpPr>
          <p:cNvPr id="22" name="Rectangle 21"/>
          <p:cNvSpPr/>
          <p:nvPr/>
        </p:nvSpPr>
        <p:spPr>
          <a:xfrm>
            <a:off x="8705088" y="1371600"/>
            <a:ext cx="100584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05088" y="1371600"/>
            <a:ext cx="1005840" cy="320040"/>
          </a:xfrm>
          <a:prstGeom prst="rect">
            <a:avLst/>
          </a:prstGeom>
          <a:noFill/>
        </p:spPr>
        <p:txBody>
          <a:bodyPr wrap="square"/>
          <a:lstStyle/>
          <a:p>
            <a:pPr algn="ctr"/>
            <a:r>
              <a:rPr sz="900" b="1" i="0">
                <a:solidFill>
                  <a:srgbClr val="FFFFFF"/>
                </a:solidFill>
                <a:latin typeface="Calibri"/>
              </a:rPr>
              <a:t>Speed Breakers</a:t>
            </a:r>
          </a:p>
        </p:txBody>
      </p:sp>
      <p:sp>
        <p:nvSpPr>
          <p:cNvPr id="24" name="Rectangle 23"/>
          <p:cNvSpPr/>
          <p:nvPr/>
        </p:nvSpPr>
        <p:spPr>
          <a:xfrm>
            <a:off x="91440" y="1691640"/>
            <a:ext cx="3108960" cy="320040"/>
          </a:xfrm>
          <a:prstGeom prst="rect">
            <a:avLst/>
          </a:prstGeom>
          <a:solidFill>
            <a:srgbClr val="007ACC"/>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 y="1691640"/>
            <a:ext cx="3063240" cy="320040"/>
          </a:xfrm>
          <a:prstGeom prst="rect">
            <a:avLst/>
          </a:prstGeom>
          <a:noFill/>
        </p:spPr>
        <p:txBody>
          <a:bodyPr wrap="square"/>
          <a:lstStyle/>
          <a:p>
            <a:pPr algn="l"/>
            <a:r>
              <a:rPr sz="900" b="1" i="0">
                <a:solidFill>
                  <a:srgbClr val="FFFFFF"/>
                </a:solidFill>
                <a:latin typeface="Calibri"/>
              </a:rPr>
              <a:t>2-WHEELER  (Bike / data1.csv)</a:t>
            </a:r>
          </a:p>
        </p:txBody>
      </p:sp>
      <p:sp>
        <p:nvSpPr>
          <p:cNvPr id="26" name="Rectangle 25"/>
          <p:cNvSpPr/>
          <p:nvPr/>
        </p:nvSpPr>
        <p:spPr>
          <a:xfrm>
            <a:off x="3218688" y="1691640"/>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46120" y="1691640"/>
            <a:ext cx="960120" cy="320040"/>
          </a:xfrm>
          <a:prstGeom prst="rect">
            <a:avLst/>
          </a:prstGeom>
          <a:noFill/>
        </p:spPr>
        <p:txBody>
          <a:bodyPr wrap="square"/>
          <a:lstStyle/>
          <a:p>
            <a:pPr algn="ctr"/>
            <a:r>
              <a:rPr sz="900" b="0" i="0">
                <a:solidFill>
                  <a:srgbClr val="FFFFFF"/>
                </a:solidFill>
                <a:latin typeface="Calibri"/>
              </a:rPr>
              <a:t>51,640 rows</a:t>
            </a:r>
          </a:p>
        </p:txBody>
      </p:sp>
      <p:sp>
        <p:nvSpPr>
          <p:cNvPr id="28" name="Rectangle 27"/>
          <p:cNvSpPr/>
          <p:nvPr/>
        </p:nvSpPr>
        <p:spPr>
          <a:xfrm>
            <a:off x="4242816" y="1691640"/>
            <a:ext cx="109728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70248" y="1691640"/>
            <a:ext cx="1051560" cy="320040"/>
          </a:xfrm>
          <a:prstGeom prst="rect">
            <a:avLst/>
          </a:prstGeom>
          <a:noFill/>
        </p:spPr>
        <p:txBody>
          <a:bodyPr wrap="square"/>
          <a:lstStyle/>
          <a:p>
            <a:pPr algn="ctr"/>
            <a:r>
              <a:rPr sz="900" b="0" i="0">
                <a:solidFill>
                  <a:srgbClr val="FFFFFF"/>
                </a:solidFill>
                <a:latin typeface="Calibri"/>
              </a:rPr>
              <a:t>926.3 s</a:t>
            </a:r>
          </a:p>
        </p:txBody>
      </p:sp>
      <p:sp>
        <p:nvSpPr>
          <p:cNvPr id="30" name="Rectangle 29"/>
          <p:cNvSpPr/>
          <p:nvPr/>
        </p:nvSpPr>
        <p:spPr>
          <a:xfrm>
            <a:off x="5358384" y="1691640"/>
            <a:ext cx="128016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85816" y="1691640"/>
            <a:ext cx="1234440" cy="320040"/>
          </a:xfrm>
          <a:prstGeom prst="rect">
            <a:avLst/>
          </a:prstGeom>
          <a:noFill/>
        </p:spPr>
        <p:txBody>
          <a:bodyPr wrap="square"/>
          <a:lstStyle/>
          <a:p>
            <a:pPr algn="ctr"/>
            <a:r>
              <a:rPr sz="900" b="0" i="0">
                <a:solidFill>
                  <a:srgbClr val="FFFFFF"/>
                </a:solidFill>
                <a:latin typeface="Calibri"/>
              </a:rPr>
              <a:t>58.82 Hz</a:t>
            </a:r>
          </a:p>
        </p:txBody>
      </p:sp>
      <p:sp>
        <p:nvSpPr>
          <p:cNvPr id="32" name="Rectangle 31"/>
          <p:cNvSpPr/>
          <p:nvPr/>
        </p:nvSpPr>
        <p:spPr>
          <a:xfrm>
            <a:off x="6656832" y="1691640"/>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84264" y="1691640"/>
            <a:ext cx="960120" cy="320040"/>
          </a:xfrm>
          <a:prstGeom prst="rect">
            <a:avLst/>
          </a:prstGeom>
          <a:noFill/>
        </p:spPr>
        <p:txBody>
          <a:bodyPr wrap="square"/>
          <a:lstStyle/>
          <a:p>
            <a:pPr algn="ctr"/>
            <a:r>
              <a:rPr sz="900" b="0" i="0">
                <a:solidFill>
                  <a:srgbClr val="FFFFFF"/>
                </a:solidFill>
                <a:latin typeface="Calibri"/>
              </a:rPr>
              <a:t>130</a:t>
            </a:r>
          </a:p>
        </p:txBody>
      </p:sp>
      <p:sp>
        <p:nvSpPr>
          <p:cNvPr id="34" name="Rectangle 33"/>
          <p:cNvSpPr/>
          <p:nvPr/>
        </p:nvSpPr>
        <p:spPr>
          <a:xfrm>
            <a:off x="7680960" y="1691640"/>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08392" y="1691640"/>
            <a:ext cx="960120" cy="320040"/>
          </a:xfrm>
          <a:prstGeom prst="rect">
            <a:avLst/>
          </a:prstGeom>
          <a:noFill/>
        </p:spPr>
        <p:txBody>
          <a:bodyPr wrap="square"/>
          <a:lstStyle/>
          <a:p>
            <a:pPr algn="ctr"/>
            <a:r>
              <a:rPr sz="900" b="0" i="0">
                <a:solidFill>
                  <a:srgbClr val="FFFFFF"/>
                </a:solidFill>
                <a:latin typeface="Calibri"/>
              </a:rPr>
              <a:t>46</a:t>
            </a:r>
          </a:p>
        </p:txBody>
      </p:sp>
      <p:sp>
        <p:nvSpPr>
          <p:cNvPr id="36" name="Rectangle 35"/>
          <p:cNvSpPr/>
          <p:nvPr/>
        </p:nvSpPr>
        <p:spPr>
          <a:xfrm>
            <a:off x="8705088" y="1691640"/>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32520" y="1691640"/>
            <a:ext cx="960120" cy="320040"/>
          </a:xfrm>
          <a:prstGeom prst="rect">
            <a:avLst/>
          </a:prstGeom>
          <a:noFill/>
        </p:spPr>
        <p:txBody>
          <a:bodyPr wrap="square"/>
          <a:lstStyle/>
          <a:p>
            <a:pPr algn="ctr"/>
            <a:r>
              <a:rPr sz="900" b="0" i="0">
                <a:solidFill>
                  <a:srgbClr val="FFFFFF"/>
                </a:solidFill>
                <a:latin typeface="Calibri"/>
              </a:rPr>
              <a:t>84</a:t>
            </a:r>
          </a:p>
        </p:txBody>
      </p:sp>
      <p:sp>
        <p:nvSpPr>
          <p:cNvPr id="38" name="Rectangle 37"/>
          <p:cNvSpPr/>
          <p:nvPr/>
        </p:nvSpPr>
        <p:spPr>
          <a:xfrm>
            <a:off x="91440" y="2029968"/>
            <a:ext cx="3108960" cy="320040"/>
          </a:xfrm>
          <a:prstGeom prst="rect">
            <a:avLst/>
          </a:prstGeom>
          <a:solidFill>
            <a:srgbClr val="2060A0"/>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8872" y="2029968"/>
            <a:ext cx="3063240" cy="320040"/>
          </a:xfrm>
          <a:prstGeom prst="rect">
            <a:avLst/>
          </a:prstGeom>
          <a:noFill/>
        </p:spPr>
        <p:txBody>
          <a:bodyPr wrap="square"/>
          <a:lstStyle/>
          <a:p>
            <a:pPr algn="l"/>
            <a:r>
              <a:rPr sz="900" b="1" i="0">
                <a:solidFill>
                  <a:srgbClr val="FFFFFF"/>
                </a:solidFill>
                <a:latin typeface="Calibri"/>
              </a:rPr>
              <a:t>3-WHEELER  (Auto Rickshaw)</a:t>
            </a:r>
          </a:p>
        </p:txBody>
      </p:sp>
      <p:sp>
        <p:nvSpPr>
          <p:cNvPr id="40" name="Rectangle 39"/>
          <p:cNvSpPr/>
          <p:nvPr/>
        </p:nvSpPr>
        <p:spPr>
          <a:xfrm>
            <a:off x="3218688" y="2029968"/>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46120" y="2029968"/>
            <a:ext cx="960120" cy="320040"/>
          </a:xfrm>
          <a:prstGeom prst="rect">
            <a:avLst/>
          </a:prstGeom>
          <a:noFill/>
        </p:spPr>
        <p:txBody>
          <a:bodyPr wrap="square"/>
          <a:lstStyle/>
          <a:p>
            <a:pPr algn="ctr"/>
            <a:r>
              <a:rPr sz="900" b="0" i="0">
                <a:solidFill>
                  <a:srgbClr val="FFFFFF"/>
                </a:solidFill>
                <a:latin typeface="Calibri"/>
              </a:rPr>
              <a:t>81,934 rows</a:t>
            </a:r>
          </a:p>
        </p:txBody>
      </p:sp>
      <p:sp>
        <p:nvSpPr>
          <p:cNvPr id="42" name="Rectangle 41"/>
          <p:cNvSpPr/>
          <p:nvPr/>
        </p:nvSpPr>
        <p:spPr>
          <a:xfrm>
            <a:off x="4242816" y="2029968"/>
            <a:ext cx="109728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70248" y="2029968"/>
            <a:ext cx="1051560" cy="320040"/>
          </a:xfrm>
          <a:prstGeom prst="rect">
            <a:avLst/>
          </a:prstGeom>
          <a:noFill/>
        </p:spPr>
        <p:txBody>
          <a:bodyPr wrap="square"/>
          <a:lstStyle/>
          <a:p>
            <a:pPr algn="ctr"/>
            <a:r>
              <a:rPr sz="900" b="0" i="0">
                <a:solidFill>
                  <a:srgbClr val="FFFFFF"/>
                </a:solidFill>
                <a:latin typeface="Calibri"/>
              </a:rPr>
              <a:t>2,386.8 s</a:t>
            </a:r>
          </a:p>
        </p:txBody>
      </p:sp>
      <p:sp>
        <p:nvSpPr>
          <p:cNvPr id="44" name="Rectangle 43"/>
          <p:cNvSpPr/>
          <p:nvPr/>
        </p:nvSpPr>
        <p:spPr>
          <a:xfrm>
            <a:off x="5358384" y="2029968"/>
            <a:ext cx="128016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85816" y="2029968"/>
            <a:ext cx="1234440" cy="320040"/>
          </a:xfrm>
          <a:prstGeom prst="rect">
            <a:avLst/>
          </a:prstGeom>
          <a:noFill/>
        </p:spPr>
        <p:txBody>
          <a:bodyPr wrap="square"/>
          <a:lstStyle/>
          <a:p>
            <a:pPr algn="ctr"/>
            <a:r>
              <a:rPr sz="900" b="0" i="0">
                <a:solidFill>
                  <a:srgbClr val="FFFFFF"/>
                </a:solidFill>
                <a:latin typeface="Calibri"/>
              </a:rPr>
              <a:t>58.82 Hz</a:t>
            </a:r>
          </a:p>
        </p:txBody>
      </p:sp>
      <p:sp>
        <p:nvSpPr>
          <p:cNvPr id="46" name="Rectangle 45"/>
          <p:cNvSpPr/>
          <p:nvPr/>
        </p:nvSpPr>
        <p:spPr>
          <a:xfrm>
            <a:off x="6656832" y="2029968"/>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84264" y="2029968"/>
            <a:ext cx="960120" cy="320040"/>
          </a:xfrm>
          <a:prstGeom prst="rect">
            <a:avLst/>
          </a:prstGeom>
          <a:noFill/>
        </p:spPr>
        <p:txBody>
          <a:bodyPr wrap="square"/>
          <a:lstStyle/>
          <a:p>
            <a:pPr algn="ctr"/>
            <a:r>
              <a:rPr sz="900" b="0" i="0">
                <a:solidFill>
                  <a:srgbClr val="FFFFFF"/>
                </a:solidFill>
                <a:latin typeface="Calibri"/>
              </a:rPr>
              <a:t>62</a:t>
            </a:r>
          </a:p>
        </p:txBody>
      </p:sp>
      <p:sp>
        <p:nvSpPr>
          <p:cNvPr id="48" name="Rectangle 47"/>
          <p:cNvSpPr/>
          <p:nvPr/>
        </p:nvSpPr>
        <p:spPr>
          <a:xfrm>
            <a:off x="7680960" y="2029968"/>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08392" y="2029968"/>
            <a:ext cx="960120" cy="320040"/>
          </a:xfrm>
          <a:prstGeom prst="rect">
            <a:avLst/>
          </a:prstGeom>
          <a:noFill/>
        </p:spPr>
        <p:txBody>
          <a:bodyPr wrap="square"/>
          <a:lstStyle/>
          <a:p>
            <a:pPr algn="ctr"/>
            <a:r>
              <a:rPr sz="900" b="0" i="0">
                <a:solidFill>
                  <a:srgbClr val="FFFFFF"/>
                </a:solidFill>
                <a:latin typeface="Calibri"/>
              </a:rPr>
              <a:t>21</a:t>
            </a:r>
          </a:p>
        </p:txBody>
      </p:sp>
      <p:sp>
        <p:nvSpPr>
          <p:cNvPr id="50" name="Rectangle 49"/>
          <p:cNvSpPr/>
          <p:nvPr/>
        </p:nvSpPr>
        <p:spPr>
          <a:xfrm>
            <a:off x="8705088" y="2029968"/>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732520" y="2029968"/>
            <a:ext cx="960120" cy="320040"/>
          </a:xfrm>
          <a:prstGeom prst="rect">
            <a:avLst/>
          </a:prstGeom>
          <a:noFill/>
        </p:spPr>
        <p:txBody>
          <a:bodyPr wrap="square"/>
          <a:lstStyle/>
          <a:p>
            <a:pPr algn="ctr"/>
            <a:r>
              <a:rPr sz="900" b="0" i="0">
                <a:solidFill>
                  <a:srgbClr val="FFFFFF"/>
                </a:solidFill>
                <a:latin typeface="Calibri"/>
              </a:rPr>
              <a:t>41</a:t>
            </a:r>
          </a:p>
        </p:txBody>
      </p:sp>
      <p:sp>
        <p:nvSpPr>
          <p:cNvPr id="52" name="Rectangle 51"/>
          <p:cNvSpPr/>
          <p:nvPr/>
        </p:nvSpPr>
        <p:spPr>
          <a:xfrm>
            <a:off x="91440" y="2368296"/>
            <a:ext cx="3108960" cy="320040"/>
          </a:xfrm>
          <a:prstGeom prst="rect">
            <a:avLst/>
          </a:prstGeom>
          <a:solidFill>
            <a:srgbClr val="20558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18872" y="2368296"/>
            <a:ext cx="3063240" cy="320040"/>
          </a:xfrm>
          <a:prstGeom prst="rect">
            <a:avLst/>
          </a:prstGeom>
          <a:noFill/>
        </p:spPr>
        <p:txBody>
          <a:bodyPr wrap="square"/>
          <a:lstStyle/>
          <a:p>
            <a:pPr algn="l"/>
            <a:r>
              <a:rPr sz="900" b="1" i="0">
                <a:solidFill>
                  <a:srgbClr val="FFFFFF"/>
                </a:solidFill>
                <a:latin typeface="Calibri"/>
              </a:rPr>
              <a:t>4-WHEELER  (Car)</a:t>
            </a:r>
          </a:p>
        </p:txBody>
      </p:sp>
      <p:sp>
        <p:nvSpPr>
          <p:cNvPr id="54" name="Rectangle 53"/>
          <p:cNvSpPr/>
          <p:nvPr/>
        </p:nvSpPr>
        <p:spPr>
          <a:xfrm>
            <a:off x="3218688" y="2368296"/>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46120" y="2368296"/>
            <a:ext cx="960120" cy="320040"/>
          </a:xfrm>
          <a:prstGeom prst="rect">
            <a:avLst/>
          </a:prstGeom>
          <a:noFill/>
        </p:spPr>
        <p:txBody>
          <a:bodyPr wrap="square"/>
          <a:lstStyle/>
          <a:p>
            <a:pPr algn="ctr"/>
            <a:r>
              <a:rPr sz="900" b="0" i="0">
                <a:solidFill>
                  <a:srgbClr val="FFFFFF"/>
                </a:solidFill>
                <a:latin typeface="Calibri"/>
              </a:rPr>
              <a:t>81,934 rows</a:t>
            </a:r>
          </a:p>
        </p:txBody>
      </p:sp>
      <p:sp>
        <p:nvSpPr>
          <p:cNvPr id="56" name="Rectangle 55"/>
          <p:cNvSpPr/>
          <p:nvPr/>
        </p:nvSpPr>
        <p:spPr>
          <a:xfrm>
            <a:off x="4242816" y="2368296"/>
            <a:ext cx="109728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270248" y="2368296"/>
            <a:ext cx="1051560" cy="320040"/>
          </a:xfrm>
          <a:prstGeom prst="rect">
            <a:avLst/>
          </a:prstGeom>
          <a:noFill/>
        </p:spPr>
        <p:txBody>
          <a:bodyPr wrap="square"/>
          <a:lstStyle/>
          <a:p>
            <a:pPr algn="ctr"/>
            <a:r>
              <a:rPr sz="900" b="0" i="0">
                <a:solidFill>
                  <a:srgbClr val="FFFFFF"/>
                </a:solidFill>
                <a:latin typeface="Calibri"/>
              </a:rPr>
              <a:t>2,386.8 s</a:t>
            </a:r>
          </a:p>
        </p:txBody>
      </p:sp>
      <p:sp>
        <p:nvSpPr>
          <p:cNvPr id="58" name="Rectangle 57"/>
          <p:cNvSpPr/>
          <p:nvPr/>
        </p:nvSpPr>
        <p:spPr>
          <a:xfrm>
            <a:off x="5358384" y="2368296"/>
            <a:ext cx="128016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85816" y="2368296"/>
            <a:ext cx="1234440" cy="320040"/>
          </a:xfrm>
          <a:prstGeom prst="rect">
            <a:avLst/>
          </a:prstGeom>
          <a:noFill/>
        </p:spPr>
        <p:txBody>
          <a:bodyPr wrap="square"/>
          <a:lstStyle/>
          <a:p>
            <a:pPr algn="ctr"/>
            <a:r>
              <a:rPr sz="900" b="0" i="0">
                <a:solidFill>
                  <a:srgbClr val="FFFFFF"/>
                </a:solidFill>
                <a:latin typeface="Calibri"/>
              </a:rPr>
              <a:t>58.82 Hz</a:t>
            </a:r>
          </a:p>
        </p:txBody>
      </p:sp>
      <p:sp>
        <p:nvSpPr>
          <p:cNvPr id="60" name="Rectangle 59"/>
          <p:cNvSpPr/>
          <p:nvPr/>
        </p:nvSpPr>
        <p:spPr>
          <a:xfrm>
            <a:off x="6656832" y="2368296"/>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684264" y="2368296"/>
            <a:ext cx="960120" cy="320040"/>
          </a:xfrm>
          <a:prstGeom prst="rect">
            <a:avLst/>
          </a:prstGeom>
          <a:noFill/>
        </p:spPr>
        <p:txBody>
          <a:bodyPr wrap="square"/>
          <a:lstStyle/>
          <a:p>
            <a:pPr algn="ctr"/>
            <a:r>
              <a:rPr sz="900" b="0" i="0">
                <a:solidFill>
                  <a:srgbClr val="FFFFFF"/>
                </a:solidFill>
                <a:latin typeface="Calibri"/>
              </a:rPr>
              <a:t>60</a:t>
            </a:r>
          </a:p>
        </p:txBody>
      </p:sp>
      <p:sp>
        <p:nvSpPr>
          <p:cNvPr id="62" name="Rectangle 61"/>
          <p:cNvSpPr/>
          <p:nvPr/>
        </p:nvSpPr>
        <p:spPr>
          <a:xfrm>
            <a:off x="7680960" y="2368296"/>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708392" y="2368296"/>
            <a:ext cx="960120" cy="320040"/>
          </a:xfrm>
          <a:prstGeom prst="rect">
            <a:avLst/>
          </a:prstGeom>
          <a:noFill/>
        </p:spPr>
        <p:txBody>
          <a:bodyPr wrap="square"/>
          <a:lstStyle/>
          <a:p>
            <a:pPr algn="ctr"/>
            <a:r>
              <a:rPr sz="900" b="0" i="0">
                <a:solidFill>
                  <a:srgbClr val="FFFFFF"/>
                </a:solidFill>
                <a:latin typeface="Calibri"/>
              </a:rPr>
              <a:t>24</a:t>
            </a:r>
          </a:p>
        </p:txBody>
      </p:sp>
      <p:sp>
        <p:nvSpPr>
          <p:cNvPr id="64" name="Rectangle 63"/>
          <p:cNvSpPr/>
          <p:nvPr/>
        </p:nvSpPr>
        <p:spPr>
          <a:xfrm>
            <a:off x="8705088" y="2368296"/>
            <a:ext cx="1005840" cy="32004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732520" y="2368296"/>
            <a:ext cx="960120" cy="320040"/>
          </a:xfrm>
          <a:prstGeom prst="rect">
            <a:avLst/>
          </a:prstGeom>
          <a:noFill/>
        </p:spPr>
        <p:txBody>
          <a:bodyPr wrap="square"/>
          <a:lstStyle/>
          <a:p>
            <a:pPr algn="ctr"/>
            <a:r>
              <a:rPr sz="900" b="0" i="0">
                <a:solidFill>
                  <a:srgbClr val="FFFFFF"/>
                </a:solidFill>
                <a:latin typeface="Calibri"/>
              </a:rPr>
              <a:t>36</a:t>
            </a:r>
          </a:p>
        </p:txBody>
      </p:sp>
      <p:sp>
        <p:nvSpPr>
          <p:cNvPr id="66" name="TextBox 65"/>
          <p:cNvSpPr txBox="1"/>
          <p:nvPr/>
        </p:nvSpPr>
        <p:spPr>
          <a:xfrm>
            <a:off x="91440" y="2834640"/>
            <a:ext cx="11887200" cy="274320"/>
          </a:xfrm>
          <a:prstGeom prst="rect">
            <a:avLst/>
          </a:prstGeom>
          <a:noFill/>
        </p:spPr>
        <p:txBody>
          <a:bodyPr wrap="square"/>
          <a:lstStyle/>
          <a:p>
            <a:pPr algn="l"/>
            <a:r>
              <a:rPr sz="1200" b="1" i="0">
                <a:solidFill>
                  <a:srgbClr val="00C8FF"/>
                </a:solidFill>
                <a:latin typeface="Calibri"/>
              </a:rPr>
              <a:t>Vehicle-Independent Experiment Results</a:t>
            </a:r>
          </a:p>
        </p:txBody>
      </p:sp>
      <p:sp>
        <p:nvSpPr>
          <p:cNvPr id="67" name="Rectangle 66"/>
          <p:cNvSpPr/>
          <p:nvPr/>
        </p:nvSpPr>
        <p:spPr>
          <a:xfrm>
            <a:off x="91440" y="3154680"/>
            <a:ext cx="192024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1440" y="3154680"/>
            <a:ext cx="1920240" cy="310896"/>
          </a:xfrm>
          <a:prstGeom prst="rect">
            <a:avLst/>
          </a:prstGeom>
          <a:noFill/>
        </p:spPr>
        <p:txBody>
          <a:bodyPr wrap="square"/>
          <a:lstStyle/>
          <a:p>
            <a:pPr algn="ctr"/>
            <a:r>
              <a:rPr sz="800" b="1" i="0">
                <a:solidFill>
                  <a:srgbClr val="FFFFFF"/>
                </a:solidFill>
                <a:latin typeface="Calibri"/>
              </a:rPr>
              <a:t>Experiment</a:t>
            </a:r>
          </a:p>
        </p:txBody>
      </p:sp>
      <p:sp>
        <p:nvSpPr>
          <p:cNvPr id="69" name="Rectangle 68"/>
          <p:cNvSpPr/>
          <p:nvPr/>
        </p:nvSpPr>
        <p:spPr>
          <a:xfrm>
            <a:off x="2029968" y="3154680"/>
            <a:ext cx="137160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029968" y="3154680"/>
            <a:ext cx="1371600" cy="310896"/>
          </a:xfrm>
          <a:prstGeom prst="rect">
            <a:avLst/>
          </a:prstGeom>
          <a:noFill/>
        </p:spPr>
        <p:txBody>
          <a:bodyPr wrap="square"/>
          <a:lstStyle/>
          <a:p>
            <a:pPr algn="ctr"/>
            <a:r>
              <a:rPr sz="800" b="1" i="0">
                <a:solidFill>
                  <a:srgbClr val="FFFFFF"/>
                </a:solidFill>
                <a:latin typeface="Calibri"/>
              </a:rPr>
              <a:t>Train Vehicles</a:t>
            </a:r>
          </a:p>
        </p:txBody>
      </p:sp>
      <p:sp>
        <p:nvSpPr>
          <p:cNvPr id="71" name="Rectangle 70"/>
          <p:cNvSpPr/>
          <p:nvPr/>
        </p:nvSpPr>
        <p:spPr>
          <a:xfrm>
            <a:off x="3419856" y="3154680"/>
            <a:ext cx="137160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419856" y="3154680"/>
            <a:ext cx="1371600" cy="310896"/>
          </a:xfrm>
          <a:prstGeom prst="rect">
            <a:avLst/>
          </a:prstGeom>
          <a:noFill/>
        </p:spPr>
        <p:txBody>
          <a:bodyPr wrap="square"/>
          <a:lstStyle/>
          <a:p>
            <a:pPr algn="ctr"/>
            <a:r>
              <a:rPr sz="800" b="1" i="0">
                <a:solidFill>
                  <a:srgbClr val="FFFFFF"/>
                </a:solidFill>
                <a:latin typeface="Calibri"/>
              </a:rPr>
              <a:t>Test Vehicle</a:t>
            </a:r>
          </a:p>
        </p:txBody>
      </p:sp>
      <p:sp>
        <p:nvSpPr>
          <p:cNvPr id="73" name="Rectangle 72"/>
          <p:cNvSpPr/>
          <p:nvPr/>
        </p:nvSpPr>
        <p:spPr>
          <a:xfrm>
            <a:off x="4809744" y="3154680"/>
            <a:ext cx="91440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809744" y="3154680"/>
            <a:ext cx="914400" cy="310896"/>
          </a:xfrm>
          <a:prstGeom prst="rect">
            <a:avLst/>
          </a:prstGeom>
          <a:noFill/>
        </p:spPr>
        <p:txBody>
          <a:bodyPr wrap="square"/>
          <a:lstStyle/>
          <a:p>
            <a:pPr algn="ctr"/>
            <a:r>
              <a:rPr sz="800" b="1" i="0">
                <a:solidFill>
                  <a:srgbClr val="FFFFFF"/>
                </a:solidFill>
                <a:latin typeface="Calibri"/>
              </a:rPr>
              <a:t>Accuracy</a:t>
            </a:r>
          </a:p>
        </p:txBody>
      </p:sp>
      <p:sp>
        <p:nvSpPr>
          <p:cNvPr id="75" name="Rectangle 74"/>
          <p:cNvSpPr/>
          <p:nvPr/>
        </p:nvSpPr>
        <p:spPr>
          <a:xfrm>
            <a:off x="5742432" y="3154680"/>
            <a:ext cx="91440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742432" y="3154680"/>
            <a:ext cx="914400" cy="310896"/>
          </a:xfrm>
          <a:prstGeom prst="rect">
            <a:avLst/>
          </a:prstGeom>
          <a:noFill/>
        </p:spPr>
        <p:txBody>
          <a:bodyPr wrap="square"/>
          <a:lstStyle/>
          <a:p>
            <a:pPr algn="ctr"/>
            <a:r>
              <a:rPr sz="800" b="1" i="0">
                <a:solidFill>
                  <a:srgbClr val="FFFFFF"/>
                </a:solidFill>
                <a:latin typeface="Calibri"/>
              </a:rPr>
              <a:t>Precision</a:t>
            </a:r>
          </a:p>
        </p:txBody>
      </p:sp>
      <p:sp>
        <p:nvSpPr>
          <p:cNvPr id="77" name="Rectangle 76"/>
          <p:cNvSpPr/>
          <p:nvPr/>
        </p:nvSpPr>
        <p:spPr>
          <a:xfrm>
            <a:off x="6675120" y="3154680"/>
            <a:ext cx="91440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675120" y="3154680"/>
            <a:ext cx="914400" cy="310896"/>
          </a:xfrm>
          <a:prstGeom prst="rect">
            <a:avLst/>
          </a:prstGeom>
          <a:noFill/>
        </p:spPr>
        <p:txBody>
          <a:bodyPr wrap="square"/>
          <a:lstStyle/>
          <a:p>
            <a:pPr algn="ctr"/>
            <a:r>
              <a:rPr sz="800" b="1" i="0">
                <a:solidFill>
                  <a:srgbClr val="FFFFFF"/>
                </a:solidFill>
                <a:latin typeface="Calibri"/>
              </a:rPr>
              <a:t>Recall</a:t>
            </a:r>
          </a:p>
        </p:txBody>
      </p:sp>
      <p:sp>
        <p:nvSpPr>
          <p:cNvPr id="79" name="Rectangle 78"/>
          <p:cNvSpPr/>
          <p:nvPr/>
        </p:nvSpPr>
        <p:spPr>
          <a:xfrm>
            <a:off x="7607808" y="3154680"/>
            <a:ext cx="91440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607808" y="3154680"/>
            <a:ext cx="914400" cy="310896"/>
          </a:xfrm>
          <a:prstGeom prst="rect">
            <a:avLst/>
          </a:prstGeom>
          <a:noFill/>
        </p:spPr>
        <p:txBody>
          <a:bodyPr wrap="square"/>
          <a:lstStyle/>
          <a:p>
            <a:pPr algn="ctr"/>
            <a:r>
              <a:rPr sz="800" b="1" i="0">
                <a:solidFill>
                  <a:srgbClr val="FFFFFF"/>
                </a:solidFill>
                <a:latin typeface="Calibri"/>
              </a:rPr>
              <a:t>Macro F1</a:t>
            </a:r>
          </a:p>
        </p:txBody>
      </p:sp>
      <p:sp>
        <p:nvSpPr>
          <p:cNvPr id="81" name="Rectangle 80"/>
          <p:cNvSpPr/>
          <p:nvPr/>
        </p:nvSpPr>
        <p:spPr>
          <a:xfrm>
            <a:off x="8540496" y="3154680"/>
            <a:ext cx="822960" cy="310896"/>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540496" y="3154680"/>
            <a:ext cx="822960" cy="310896"/>
          </a:xfrm>
          <a:prstGeom prst="rect">
            <a:avLst/>
          </a:prstGeom>
          <a:noFill/>
        </p:spPr>
        <p:txBody>
          <a:bodyPr wrap="square"/>
          <a:lstStyle/>
          <a:p>
            <a:pPr algn="ctr"/>
            <a:r>
              <a:rPr sz="800" b="1" i="0">
                <a:solidFill>
                  <a:srgbClr val="FFFFFF"/>
                </a:solidFill>
                <a:latin typeface="Calibri"/>
              </a:rPr>
              <a:t>Status</a:t>
            </a:r>
          </a:p>
        </p:txBody>
      </p:sp>
      <p:sp>
        <p:nvSpPr>
          <p:cNvPr id="83" name="Rectangle 82"/>
          <p:cNvSpPr/>
          <p:nvPr/>
        </p:nvSpPr>
        <p:spPr>
          <a:xfrm>
            <a:off x="91440" y="3465576"/>
            <a:ext cx="192024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18872" y="3465576"/>
            <a:ext cx="1874520" cy="310896"/>
          </a:xfrm>
          <a:prstGeom prst="rect">
            <a:avLst/>
          </a:prstGeom>
          <a:noFill/>
        </p:spPr>
        <p:txBody>
          <a:bodyPr wrap="square"/>
          <a:lstStyle/>
          <a:p>
            <a:pPr algn="l"/>
            <a:r>
              <a:rPr sz="900" b="0" i="0">
                <a:solidFill>
                  <a:srgbClr val="FFFFFF"/>
                </a:solidFill>
                <a:latin typeface="Calibri"/>
              </a:rPr>
              <a:t>Exp A — Individual</a:t>
            </a:r>
          </a:p>
        </p:txBody>
      </p:sp>
      <p:sp>
        <p:nvSpPr>
          <p:cNvPr id="85" name="Rectangle 84"/>
          <p:cNvSpPr/>
          <p:nvPr/>
        </p:nvSpPr>
        <p:spPr>
          <a:xfrm>
            <a:off x="2029968" y="3465576"/>
            <a:ext cx="13716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2057400" y="3465576"/>
            <a:ext cx="1325880" cy="310896"/>
          </a:xfrm>
          <a:prstGeom prst="rect">
            <a:avLst/>
          </a:prstGeom>
          <a:noFill/>
        </p:spPr>
        <p:txBody>
          <a:bodyPr wrap="square"/>
          <a:lstStyle/>
          <a:p>
            <a:pPr algn="l"/>
            <a:r>
              <a:rPr sz="900" b="0" i="0">
                <a:solidFill>
                  <a:srgbClr val="FFFFFF"/>
                </a:solidFill>
                <a:latin typeface="Calibri"/>
              </a:rPr>
              <a:t>2-WHEELER</a:t>
            </a:r>
          </a:p>
        </p:txBody>
      </p:sp>
      <p:sp>
        <p:nvSpPr>
          <p:cNvPr id="87" name="Rectangle 86"/>
          <p:cNvSpPr/>
          <p:nvPr/>
        </p:nvSpPr>
        <p:spPr>
          <a:xfrm>
            <a:off x="3419856" y="3465576"/>
            <a:ext cx="13716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447288" y="3465576"/>
            <a:ext cx="1325880" cy="310896"/>
          </a:xfrm>
          <a:prstGeom prst="rect">
            <a:avLst/>
          </a:prstGeom>
          <a:noFill/>
        </p:spPr>
        <p:txBody>
          <a:bodyPr wrap="square"/>
          <a:lstStyle/>
          <a:p>
            <a:pPr algn="l"/>
            <a:r>
              <a:rPr sz="900" b="0" i="0">
                <a:solidFill>
                  <a:srgbClr val="FFFFFF"/>
                </a:solidFill>
                <a:latin typeface="Calibri"/>
              </a:rPr>
              <a:t>2-WHEELER</a:t>
            </a:r>
          </a:p>
        </p:txBody>
      </p:sp>
      <p:sp>
        <p:nvSpPr>
          <p:cNvPr id="89" name="Rectangle 88"/>
          <p:cNvSpPr/>
          <p:nvPr/>
        </p:nvSpPr>
        <p:spPr>
          <a:xfrm>
            <a:off x="4809744" y="3465576"/>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837176" y="3465576"/>
            <a:ext cx="868680" cy="310896"/>
          </a:xfrm>
          <a:prstGeom prst="rect">
            <a:avLst/>
          </a:prstGeom>
          <a:noFill/>
        </p:spPr>
        <p:txBody>
          <a:bodyPr wrap="square"/>
          <a:lstStyle/>
          <a:p>
            <a:pPr algn="ctr"/>
            <a:r>
              <a:rPr sz="900" b="0" i="0">
                <a:solidFill>
                  <a:srgbClr val="FFFFFF"/>
                </a:solidFill>
                <a:latin typeface="Calibri"/>
              </a:rPr>
              <a:t>89.93%</a:t>
            </a:r>
          </a:p>
        </p:txBody>
      </p:sp>
      <p:sp>
        <p:nvSpPr>
          <p:cNvPr id="91" name="Rectangle 90"/>
          <p:cNvSpPr/>
          <p:nvPr/>
        </p:nvSpPr>
        <p:spPr>
          <a:xfrm>
            <a:off x="5742432" y="3465576"/>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769864" y="3465576"/>
            <a:ext cx="868680" cy="310896"/>
          </a:xfrm>
          <a:prstGeom prst="rect">
            <a:avLst/>
          </a:prstGeom>
          <a:noFill/>
        </p:spPr>
        <p:txBody>
          <a:bodyPr wrap="square"/>
          <a:lstStyle/>
          <a:p>
            <a:pPr algn="ctr"/>
            <a:r>
              <a:rPr sz="900" b="0" i="0">
                <a:solidFill>
                  <a:srgbClr val="FFFFFF"/>
                </a:solidFill>
                <a:latin typeface="Calibri"/>
              </a:rPr>
              <a:t>61.09%</a:t>
            </a:r>
          </a:p>
        </p:txBody>
      </p:sp>
      <p:sp>
        <p:nvSpPr>
          <p:cNvPr id="93" name="Rectangle 92"/>
          <p:cNvSpPr/>
          <p:nvPr/>
        </p:nvSpPr>
        <p:spPr>
          <a:xfrm>
            <a:off x="6675120" y="3465576"/>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702552" y="3465576"/>
            <a:ext cx="868680" cy="310896"/>
          </a:xfrm>
          <a:prstGeom prst="rect">
            <a:avLst/>
          </a:prstGeom>
          <a:noFill/>
        </p:spPr>
        <p:txBody>
          <a:bodyPr wrap="square"/>
          <a:lstStyle/>
          <a:p>
            <a:pPr algn="ctr"/>
            <a:r>
              <a:rPr sz="900" b="0" i="0">
                <a:solidFill>
                  <a:srgbClr val="FFFFFF"/>
                </a:solidFill>
                <a:latin typeface="Calibri"/>
              </a:rPr>
              <a:t>59.78%</a:t>
            </a:r>
          </a:p>
        </p:txBody>
      </p:sp>
      <p:sp>
        <p:nvSpPr>
          <p:cNvPr id="95" name="Rectangle 94"/>
          <p:cNvSpPr/>
          <p:nvPr/>
        </p:nvSpPr>
        <p:spPr>
          <a:xfrm>
            <a:off x="7607808" y="3465576"/>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7635240" y="3465576"/>
            <a:ext cx="868680" cy="310896"/>
          </a:xfrm>
          <a:prstGeom prst="rect">
            <a:avLst/>
          </a:prstGeom>
          <a:noFill/>
        </p:spPr>
        <p:txBody>
          <a:bodyPr wrap="square"/>
          <a:lstStyle/>
          <a:p>
            <a:pPr algn="ctr"/>
            <a:r>
              <a:rPr sz="900" b="0" i="0">
                <a:solidFill>
                  <a:srgbClr val="FFFFFF"/>
                </a:solidFill>
                <a:latin typeface="Calibri"/>
              </a:rPr>
              <a:t>59.99%</a:t>
            </a:r>
          </a:p>
        </p:txBody>
      </p:sp>
      <p:sp>
        <p:nvSpPr>
          <p:cNvPr id="97" name="Rectangle 96"/>
          <p:cNvSpPr/>
          <p:nvPr/>
        </p:nvSpPr>
        <p:spPr>
          <a:xfrm>
            <a:off x="8540496" y="3465576"/>
            <a:ext cx="822960" cy="310896"/>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567928" y="3465576"/>
            <a:ext cx="777240" cy="310896"/>
          </a:xfrm>
          <a:prstGeom prst="rect">
            <a:avLst/>
          </a:prstGeom>
          <a:noFill/>
        </p:spPr>
        <p:txBody>
          <a:bodyPr wrap="square"/>
          <a:lstStyle/>
          <a:p>
            <a:pPr algn="ctr"/>
            <a:r>
              <a:rPr sz="900" b="1" i="0">
                <a:solidFill>
                  <a:srgbClr val="FFFFFF"/>
                </a:solidFill>
                <a:latin typeface="Calibri"/>
              </a:rPr>
              <a:t>✔</a:t>
            </a:r>
          </a:p>
        </p:txBody>
      </p:sp>
      <p:sp>
        <p:nvSpPr>
          <p:cNvPr id="99" name="Rectangle 98"/>
          <p:cNvSpPr/>
          <p:nvPr/>
        </p:nvSpPr>
        <p:spPr>
          <a:xfrm>
            <a:off x="91440" y="3794760"/>
            <a:ext cx="192024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18872" y="3794760"/>
            <a:ext cx="1874520" cy="310896"/>
          </a:xfrm>
          <a:prstGeom prst="rect">
            <a:avLst/>
          </a:prstGeom>
          <a:noFill/>
        </p:spPr>
        <p:txBody>
          <a:bodyPr wrap="square"/>
          <a:lstStyle/>
          <a:p>
            <a:pPr algn="l"/>
            <a:r>
              <a:rPr sz="900" b="0" i="0">
                <a:solidFill>
                  <a:srgbClr val="FFFFFF"/>
                </a:solidFill>
                <a:latin typeface="Calibri"/>
              </a:rPr>
              <a:t>Exp A — Individual</a:t>
            </a:r>
          </a:p>
        </p:txBody>
      </p:sp>
      <p:sp>
        <p:nvSpPr>
          <p:cNvPr id="101" name="Rectangle 100"/>
          <p:cNvSpPr/>
          <p:nvPr/>
        </p:nvSpPr>
        <p:spPr>
          <a:xfrm>
            <a:off x="2029968" y="3794760"/>
            <a:ext cx="13716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2057400" y="3794760"/>
            <a:ext cx="1325880" cy="310896"/>
          </a:xfrm>
          <a:prstGeom prst="rect">
            <a:avLst/>
          </a:prstGeom>
          <a:noFill/>
        </p:spPr>
        <p:txBody>
          <a:bodyPr wrap="square"/>
          <a:lstStyle/>
          <a:p>
            <a:pPr algn="l"/>
            <a:r>
              <a:rPr sz="900" b="0" i="0">
                <a:solidFill>
                  <a:srgbClr val="FFFFFF"/>
                </a:solidFill>
                <a:latin typeface="Calibri"/>
              </a:rPr>
              <a:t>3-WHEELER</a:t>
            </a:r>
          </a:p>
        </p:txBody>
      </p:sp>
      <p:sp>
        <p:nvSpPr>
          <p:cNvPr id="103" name="Rectangle 102"/>
          <p:cNvSpPr/>
          <p:nvPr/>
        </p:nvSpPr>
        <p:spPr>
          <a:xfrm>
            <a:off x="3419856" y="3794760"/>
            <a:ext cx="13716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447288" y="3794760"/>
            <a:ext cx="1325880" cy="310896"/>
          </a:xfrm>
          <a:prstGeom prst="rect">
            <a:avLst/>
          </a:prstGeom>
          <a:noFill/>
        </p:spPr>
        <p:txBody>
          <a:bodyPr wrap="square"/>
          <a:lstStyle/>
          <a:p>
            <a:pPr algn="l"/>
            <a:r>
              <a:rPr sz="900" b="0" i="0">
                <a:solidFill>
                  <a:srgbClr val="FFFFFF"/>
                </a:solidFill>
                <a:latin typeface="Calibri"/>
              </a:rPr>
              <a:t>3-WHEELER</a:t>
            </a:r>
          </a:p>
        </p:txBody>
      </p:sp>
      <p:sp>
        <p:nvSpPr>
          <p:cNvPr id="105" name="Rectangle 104"/>
          <p:cNvSpPr/>
          <p:nvPr/>
        </p:nvSpPr>
        <p:spPr>
          <a:xfrm>
            <a:off x="4809744" y="3794760"/>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837176" y="3794760"/>
            <a:ext cx="868680" cy="310896"/>
          </a:xfrm>
          <a:prstGeom prst="rect">
            <a:avLst/>
          </a:prstGeom>
          <a:noFill/>
        </p:spPr>
        <p:txBody>
          <a:bodyPr wrap="square"/>
          <a:lstStyle/>
          <a:p>
            <a:pPr algn="ctr"/>
            <a:r>
              <a:rPr sz="900" b="0" i="0">
                <a:solidFill>
                  <a:srgbClr val="FFFFFF"/>
                </a:solidFill>
                <a:latin typeface="Calibri"/>
              </a:rPr>
              <a:t>99.44%</a:t>
            </a:r>
          </a:p>
        </p:txBody>
      </p:sp>
      <p:sp>
        <p:nvSpPr>
          <p:cNvPr id="107" name="Rectangle 106"/>
          <p:cNvSpPr/>
          <p:nvPr/>
        </p:nvSpPr>
        <p:spPr>
          <a:xfrm>
            <a:off x="5742432" y="3794760"/>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769864" y="3794760"/>
            <a:ext cx="868680" cy="310896"/>
          </a:xfrm>
          <a:prstGeom prst="rect">
            <a:avLst/>
          </a:prstGeom>
          <a:noFill/>
        </p:spPr>
        <p:txBody>
          <a:bodyPr wrap="square"/>
          <a:lstStyle/>
          <a:p>
            <a:pPr algn="ctr"/>
            <a:r>
              <a:rPr sz="900" b="0" i="0">
                <a:solidFill>
                  <a:srgbClr val="FFFFFF"/>
                </a:solidFill>
                <a:latin typeface="Calibri"/>
              </a:rPr>
              <a:t>66.67%</a:t>
            </a:r>
          </a:p>
        </p:txBody>
      </p:sp>
      <p:sp>
        <p:nvSpPr>
          <p:cNvPr id="109" name="Rectangle 108"/>
          <p:cNvSpPr/>
          <p:nvPr/>
        </p:nvSpPr>
        <p:spPr>
          <a:xfrm>
            <a:off x="6675120" y="3794760"/>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702552" y="3794760"/>
            <a:ext cx="868680" cy="310896"/>
          </a:xfrm>
          <a:prstGeom prst="rect">
            <a:avLst/>
          </a:prstGeom>
          <a:noFill/>
        </p:spPr>
        <p:txBody>
          <a:bodyPr wrap="square"/>
          <a:lstStyle/>
          <a:p>
            <a:pPr algn="ctr"/>
            <a:r>
              <a:rPr sz="900" b="0" i="0">
                <a:solidFill>
                  <a:srgbClr val="FFFFFF"/>
                </a:solidFill>
                <a:latin typeface="Calibri"/>
              </a:rPr>
              <a:t>99.72%</a:t>
            </a:r>
          </a:p>
        </p:txBody>
      </p:sp>
      <p:sp>
        <p:nvSpPr>
          <p:cNvPr id="111" name="Rectangle 110"/>
          <p:cNvSpPr/>
          <p:nvPr/>
        </p:nvSpPr>
        <p:spPr>
          <a:xfrm>
            <a:off x="7607808" y="3794760"/>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635240" y="3794760"/>
            <a:ext cx="868680" cy="310896"/>
          </a:xfrm>
          <a:prstGeom prst="rect">
            <a:avLst/>
          </a:prstGeom>
          <a:noFill/>
        </p:spPr>
        <p:txBody>
          <a:bodyPr wrap="square"/>
          <a:lstStyle/>
          <a:p>
            <a:pPr algn="ctr"/>
            <a:r>
              <a:rPr sz="900" b="0" i="0">
                <a:solidFill>
                  <a:srgbClr val="FFFFFF"/>
                </a:solidFill>
                <a:latin typeface="Calibri"/>
              </a:rPr>
              <a:t>74.86%</a:t>
            </a:r>
          </a:p>
        </p:txBody>
      </p:sp>
      <p:sp>
        <p:nvSpPr>
          <p:cNvPr id="113" name="Rectangle 112"/>
          <p:cNvSpPr/>
          <p:nvPr/>
        </p:nvSpPr>
        <p:spPr>
          <a:xfrm>
            <a:off x="8540496" y="3794760"/>
            <a:ext cx="822960" cy="310896"/>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8567928" y="3794760"/>
            <a:ext cx="777240" cy="310896"/>
          </a:xfrm>
          <a:prstGeom prst="rect">
            <a:avLst/>
          </a:prstGeom>
          <a:noFill/>
        </p:spPr>
        <p:txBody>
          <a:bodyPr wrap="square"/>
          <a:lstStyle/>
          <a:p>
            <a:pPr algn="ctr"/>
            <a:r>
              <a:rPr sz="900" b="1" i="0">
                <a:solidFill>
                  <a:srgbClr val="FFFFFF"/>
                </a:solidFill>
                <a:latin typeface="Calibri"/>
              </a:rPr>
              <a:t>✔</a:t>
            </a:r>
          </a:p>
        </p:txBody>
      </p:sp>
      <p:sp>
        <p:nvSpPr>
          <p:cNvPr id="115" name="Rectangle 114"/>
          <p:cNvSpPr/>
          <p:nvPr/>
        </p:nvSpPr>
        <p:spPr>
          <a:xfrm>
            <a:off x="91440" y="4123944"/>
            <a:ext cx="192024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18872" y="4123944"/>
            <a:ext cx="1874520" cy="310896"/>
          </a:xfrm>
          <a:prstGeom prst="rect">
            <a:avLst/>
          </a:prstGeom>
          <a:noFill/>
        </p:spPr>
        <p:txBody>
          <a:bodyPr wrap="square"/>
          <a:lstStyle/>
          <a:p>
            <a:pPr algn="l"/>
            <a:r>
              <a:rPr sz="900" b="0" i="0">
                <a:solidFill>
                  <a:srgbClr val="FFFFFF"/>
                </a:solidFill>
                <a:latin typeface="Calibri"/>
              </a:rPr>
              <a:t>Exp A — Individual</a:t>
            </a:r>
          </a:p>
        </p:txBody>
      </p:sp>
      <p:sp>
        <p:nvSpPr>
          <p:cNvPr id="117" name="Rectangle 116"/>
          <p:cNvSpPr/>
          <p:nvPr/>
        </p:nvSpPr>
        <p:spPr>
          <a:xfrm>
            <a:off x="2029968" y="4123944"/>
            <a:ext cx="13716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2057400" y="4123944"/>
            <a:ext cx="1325880" cy="310896"/>
          </a:xfrm>
          <a:prstGeom prst="rect">
            <a:avLst/>
          </a:prstGeom>
          <a:noFill/>
        </p:spPr>
        <p:txBody>
          <a:bodyPr wrap="square"/>
          <a:lstStyle/>
          <a:p>
            <a:pPr algn="l"/>
            <a:r>
              <a:rPr sz="900" b="0" i="0">
                <a:solidFill>
                  <a:srgbClr val="FFFFFF"/>
                </a:solidFill>
                <a:latin typeface="Calibri"/>
              </a:rPr>
              <a:t>4-WHEELER</a:t>
            </a:r>
          </a:p>
        </p:txBody>
      </p:sp>
      <p:sp>
        <p:nvSpPr>
          <p:cNvPr id="119" name="Rectangle 118"/>
          <p:cNvSpPr/>
          <p:nvPr/>
        </p:nvSpPr>
        <p:spPr>
          <a:xfrm>
            <a:off x="3419856" y="4123944"/>
            <a:ext cx="13716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3447288" y="4123944"/>
            <a:ext cx="1325880" cy="310896"/>
          </a:xfrm>
          <a:prstGeom prst="rect">
            <a:avLst/>
          </a:prstGeom>
          <a:noFill/>
        </p:spPr>
        <p:txBody>
          <a:bodyPr wrap="square"/>
          <a:lstStyle/>
          <a:p>
            <a:pPr algn="l"/>
            <a:r>
              <a:rPr sz="900" b="0" i="0">
                <a:solidFill>
                  <a:srgbClr val="FFFFFF"/>
                </a:solidFill>
                <a:latin typeface="Calibri"/>
              </a:rPr>
              <a:t>4-WHEELER</a:t>
            </a:r>
          </a:p>
        </p:txBody>
      </p:sp>
      <p:sp>
        <p:nvSpPr>
          <p:cNvPr id="121" name="Rectangle 120"/>
          <p:cNvSpPr/>
          <p:nvPr/>
        </p:nvSpPr>
        <p:spPr>
          <a:xfrm>
            <a:off x="4809744" y="4123944"/>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4837176" y="4123944"/>
            <a:ext cx="868680" cy="310896"/>
          </a:xfrm>
          <a:prstGeom prst="rect">
            <a:avLst/>
          </a:prstGeom>
          <a:noFill/>
        </p:spPr>
        <p:txBody>
          <a:bodyPr wrap="square"/>
          <a:lstStyle/>
          <a:p>
            <a:pPr algn="ctr"/>
            <a:r>
              <a:rPr sz="900" b="0" i="0">
                <a:solidFill>
                  <a:srgbClr val="FFFFFF"/>
                </a:solidFill>
                <a:latin typeface="Calibri"/>
              </a:rPr>
              <a:t>99.44%</a:t>
            </a:r>
          </a:p>
        </p:txBody>
      </p:sp>
      <p:sp>
        <p:nvSpPr>
          <p:cNvPr id="123" name="Rectangle 122"/>
          <p:cNvSpPr/>
          <p:nvPr/>
        </p:nvSpPr>
        <p:spPr>
          <a:xfrm>
            <a:off x="5742432" y="4123944"/>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769864" y="4123944"/>
            <a:ext cx="868680" cy="310896"/>
          </a:xfrm>
          <a:prstGeom prst="rect">
            <a:avLst/>
          </a:prstGeom>
          <a:noFill/>
        </p:spPr>
        <p:txBody>
          <a:bodyPr wrap="square"/>
          <a:lstStyle/>
          <a:p>
            <a:pPr algn="ctr"/>
            <a:r>
              <a:rPr sz="900" b="0" i="0">
                <a:solidFill>
                  <a:srgbClr val="FFFFFF"/>
                </a:solidFill>
                <a:latin typeface="Calibri"/>
              </a:rPr>
              <a:t>66.67%</a:t>
            </a:r>
          </a:p>
        </p:txBody>
      </p:sp>
      <p:sp>
        <p:nvSpPr>
          <p:cNvPr id="125" name="Rectangle 124"/>
          <p:cNvSpPr/>
          <p:nvPr/>
        </p:nvSpPr>
        <p:spPr>
          <a:xfrm>
            <a:off x="6675120" y="4123944"/>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6702552" y="4123944"/>
            <a:ext cx="868680" cy="310896"/>
          </a:xfrm>
          <a:prstGeom prst="rect">
            <a:avLst/>
          </a:prstGeom>
          <a:noFill/>
        </p:spPr>
        <p:txBody>
          <a:bodyPr wrap="square"/>
          <a:lstStyle/>
          <a:p>
            <a:pPr algn="ctr"/>
            <a:r>
              <a:rPr sz="900" b="0" i="0">
                <a:solidFill>
                  <a:srgbClr val="FFFFFF"/>
                </a:solidFill>
                <a:latin typeface="Calibri"/>
              </a:rPr>
              <a:t>99.72%</a:t>
            </a:r>
          </a:p>
        </p:txBody>
      </p:sp>
      <p:sp>
        <p:nvSpPr>
          <p:cNvPr id="127" name="Rectangle 126"/>
          <p:cNvSpPr/>
          <p:nvPr/>
        </p:nvSpPr>
        <p:spPr>
          <a:xfrm>
            <a:off x="7607808" y="4123944"/>
            <a:ext cx="914400" cy="310896"/>
          </a:xfrm>
          <a:prstGeom prst="rect">
            <a:avLst/>
          </a:prstGeom>
          <a:solidFill>
            <a:srgbClr val="1E3A5F"/>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7635240" y="4123944"/>
            <a:ext cx="868680" cy="310896"/>
          </a:xfrm>
          <a:prstGeom prst="rect">
            <a:avLst/>
          </a:prstGeom>
          <a:noFill/>
        </p:spPr>
        <p:txBody>
          <a:bodyPr wrap="square"/>
          <a:lstStyle/>
          <a:p>
            <a:pPr algn="ctr"/>
            <a:r>
              <a:rPr sz="900" b="0" i="0">
                <a:solidFill>
                  <a:srgbClr val="FFFFFF"/>
                </a:solidFill>
                <a:latin typeface="Calibri"/>
              </a:rPr>
              <a:t>74.86%</a:t>
            </a:r>
          </a:p>
        </p:txBody>
      </p:sp>
      <p:sp>
        <p:nvSpPr>
          <p:cNvPr id="129" name="Rectangle 128"/>
          <p:cNvSpPr/>
          <p:nvPr/>
        </p:nvSpPr>
        <p:spPr>
          <a:xfrm>
            <a:off x="8540496" y="4123944"/>
            <a:ext cx="822960" cy="310896"/>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8567928" y="4123944"/>
            <a:ext cx="777240" cy="310896"/>
          </a:xfrm>
          <a:prstGeom prst="rect">
            <a:avLst/>
          </a:prstGeom>
          <a:noFill/>
        </p:spPr>
        <p:txBody>
          <a:bodyPr wrap="square"/>
          <a:lstStyle/>
          <a:p>
            <a:pPr algn="ctr"/>
            <a:r>
              <a:rPr sz="900" b="1" i="0">
                <a:solidFill>
                  <a:srgbClr val="FFFFFF"/>
                </a:solidFill>
                <a:latin typeface="Calibri"/>
              </a:rPr>
              <a:t>✔</a:t>
            </a:r>
          </a:p>
        </p:txBody>
      </p:sp>
      <p:sp>
        <p:nvSpPr>
          <p:cNvPr id="131" name="Rectangle 130"/>
          <p:cNvSpPr/>
          <p:nvPr/>
        </p:nvSpPr>
        <p:spPr>
          <a:xfrm>
            <a:off x="91440" y="4453128"/>
            <a:ext cx="192024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118872" y="4453128"/>
            <a:ext cx="1874520" cy="310896"/>
          </a:xfrm>
          <a:prstGeom prst="rect">
            <a:avLst/>
          </a:prstGeom>
          <a:noFill/>
        </p:spPr>
        <p:txBody>
          <a:bodyPr wrap="square"/>
          <a:lstStyle/>
          <a:p>
            <a:pPr algn="l"/>
            <a:r>
              <a:rPr sz="900" b="0" i="0">
                <a:solidFill>
                  <a:srgbClr val="FFFFFF"/>
                </a:solidFill>
                <a:latin typeface="Calibri"/>
              </a:rPr>
              <a:t>Exp B — Cross-Vehicle</a:t>
            </a:r>
          </a:p>
        </p:txBody>
      </p:sp>
      <p:sp>
        <p:nvSpPr>
          <p:cNvPr id="133" name="Rectangle 132"/>
          <p:cNvSpPr/>
          <p:nvPr/>
        </p:nvSpPr>
        <p:spPr>
          <a:xfrm>
            <a:off x="2029968" y="4453128"/>
            <a:ext cx="13716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2057400" y="4453128"/>
            <a:ext cx="1325880" cy="310896"/>
          </a:xfrm>
          <a:prstGeom prst="rect">
            <a:avLst/>
          </a:prstGeom>
          <a:noFill/>
        </p:spPr>
        <p:txBody>
          <a:bodyPr wrap="square"/>
          <a:lstStyle/>
          <a:p>
            <a:pPr algn="l"/>
            <a:r>
              <a:rPr sz="900" b="0" i="0">
                <a:solidFill>
                  <a:srgbClr val="FFFFFF"/>
                </a:solidFill>
                <a:latin typeface="Calibri"/>
              </a:rPr>
              <a:t>2W + 3W</a:t>
            </a:r>
          </a:p>
        </p:txBody>
      </p:sp>
      <p:sp>
        <p:nvSpPr>
          <p:cNvPr id="135" name="Rectangle 134"/>
          <p:cNvSpPr/>
          <p:nvPr/>
        </p:nvSpPr>
        <p:spPr>
          <a:xfrm>
            <a:off x="3419856" y="4453128"/>
            <a:ext cx="13716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3447288" y="4453128"/>
            <a:ext cx="1325880" cy="310896"/>
          </a:xfrm>
          <a:prstGeom prst="rect">
            <a:avLst/>
          </a:prstGeom>
          <a:noFill/>
        </p:spPr>
        <p:txBody>
          <a:bodyPr wrap="square"/>
          <a:lstStyle/>
          <a:p>
            <a:pPr algn="l"/>
            <a:r>
              <a:rPr sz="900" b="0" i="0">
                <a:solidFill>
                  <a:srgbClr val="FFFFFF"/>
                </a:solidFill>
                <a:latin typeface="Calibri"/>
              </a:rPr>
              <a:t>4-WHEELER</a:t>
            </a:r>
          </a:p>
        </p:txBody>
      </p:sp>
      <p:sp>
        <p:nvSpPr>
          <p:cNvPr id="137" name="Rectangle 136"/>
          <p:cNvSpPr/>
          <p:nvPr/>
        </p:nvSpPr>
        <p:spPr>
          <a:xfrm>
            <a:off x="4809744" y="4453128"/>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4837176" y="4453128"/>
            <a:ext cx="868680" cy="310896"/>
          </a:xfrm>
          <a:prstGeom prst="rect">
            <a:avLst/>
          </a:prstGeom>
          <a:noFill/>
        </p:spPr>
        <p:txBody>
          <a:bodyPr wrap="square"/>
          <a:lstStyle/>
          <a:p>
            <a:pPr algn="ctr"/>
            <a:r>
              <a:rPr sz="900" b="0" i="0">
                <a:solidFill>
                  <a:srgbClr val="FFFFFF"/>
                </a:solidFill>
                <a:latin typeface="Calibri"/>
              </a:rPr>
              <a:t>97.57%</a:t>
            </a:r>
          </a:p>
        </p:txBody>
      </p:sp>
      <p:sp>
        <p:nvSpPr>
          <p:cNvPr id="139" name="Rectangle 138"/>
          <p:cNvSpPr/>
          <p:nvPr/>
        </p:nvSpPr>
        <p:spPr>
          <a:xfrm>
            <a:off x="5742432" y="4453128"/>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5769864" y="4453128"/>
            <a:ext cx="868680" cy="310896"/>
          </a:xfrm>
          <a:prstGeom prst="rect">
            <a:avLst/>
          </a:prstGeom>
          <a:noFill/>
        </p:spPr>
        <p:txBody>
          <a:bodyPr wrap="square"/>
          <a:lstStyle/>
          <a:p>
            <a:pPr algn="ctr"/>
            <a:r>
              <a:rPr sz="900" b="0" i="0">
                <a:solidFill>
                  <a:srgbClr val="FFFFFF"/>
                </a:solidFill>
                <a:latin typeface="Calibri"/>
              </a:rPr>
              <a:t>65.18%</a:t>
            </a:r>
          </a:p>
        </p:txBody>
      </p:sp>
      <p:sp>
        <p:nvSpPr>
          <p:cNvPr id="141" name="Rectangle 140"/>
          <p:cNvSpPr/>
          <p:nvPr/>
        </p:nvSpPr>
        <p:spPr>
          <a:xfrm>
            <a:off x="6675120" y="4453128"/>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6702552" y="4453128"/>
            <a:ext cx="868680" cy="310896"/>
          </a:xfrm>
          <a:prstGeom prst="rect">
            <a:avLst/>
          </a:prstGeom>
          <a:noFill/>
        </p:spPr>
        <p:txBody>
          <a:bodyPr wrap="square"/>
          <a:lstStyle/>
          <a:p>
            <a:pPr algn="ctr"/>
            <a:r>
              <a:rPr sz="900" b="0" i="0">
                <a:solidFill>
                  <a:srgbClr val="FFFFFF"/>
                </a:solidFill>
                <a:latin typeface="Calibri"/>
              </a:rPr>
              <a:t>65.11%</a:t>
            </a:r>
          </a:p>
        </p:txBody>
      </p:sp>
      <p:sp>
        <p:nvSpPr>
          <p:cNvPr id="143" name="Rectangle 142"/>
          <p:cNvSpPr/>
          <p:nvPr/>
        </p:nvSpPr>
        <p:spPr>
          <a:xfrm>
            <a:off x="7607808" y="4453128"/>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7635240" y="4453128"/>
            <a:ext cx="868680" cy="310896"/>
          </a:xfrm>
          <a:prstGeom prst="rect">
            <a:avLst/>
          </a:prstGeom>
          <a:noFill/>
        </p:spPr>
        <p:txBody>
          <a:bodyPr wrap="square"/>
          <a:lstStyle/>
          <a:p>
            <a:pPr algn="ctr"/>
            <a:r>
              <a:rPr sz="900" b="0" i="0">
                <a:solidFill>
                  <a:srgbClr val="FFFFFF"/>
                </a:solidFill>
                <a:latin typeface="Calibri"/>
              </a:rPr>
              <a:t>65.14%</a:t>
            </a:r>
          </a:p>
        </p:txBody>
      </p:sp>
      <p:sp>
        <p:nvSpPr>
          <p:cNvPr id="145" name="Rectangle 144"/>
          <p:cNvSpPr/>
          <p:nvPr/>
        </p:nvSpPr>
        <p:spPr>
          <a:xfrm>
            <a:off x="8540496" y="4453128"/>
            <a:ext cx="822960" cy="310896"/>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8567928" y="4453128"/>
            <a:ext cx="777240" cy="310896"/>
          </a:xfrm>
          <a:prstGeom prst="rect">
            <a:avLst/>
          </a:prstGeom>
          <a:noFill/>
        </p:spPr>
        <p:txBody>
          <a:bodyPr wrap="square"/>
          <a:lstStyle/>
          <a:p>
            <a:pPr algn="ctr"/>
            <a:r>
              <a:rPr sz="900" b="1" i="0">
                <a:solidFill>
                  <a:srgbClr val="FFFFFF"/>
                </a:solidFill>
                <a:latin typeface="Calibri"/>
              </a:rPr>
              <a:t>✔</a:t>
            </a:r>
          </a:p>
        </p:txBody>
      </p:sp>
      <p:sp>
        <p:nvSpPr>
          <p:cNvPr id="147" name="Rectangle 146"/>
          <p:cNvSpPr/>
          <p:nvPr/>
        </p:nvSpPr>
        <p:spPr>
          <a:xfrm>
            <a:off x="91440" y="4782312"/>
            <a:ext cx="192024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118872" y="4782312"/>
            <a:ext cx="1874520" cy="310896"/>
          </a:xfrm>
          <a:prstGeom prst="rect">
            <a:avLst/>
          </a:prstGeom>
          <a:noFill/>
        </p:spPr>
        <p:txBody>
          <a:bodyPr wrap="square"/>
          <a:lstStyle/>
          <a:p>
            <a:pPr algn="l"/>
            <a:r>
              <a:rPr sz="900" b="0" i="0">
                <a:solidFill>
                  <a:srgbClr val="FFFFFF"/>
                </a:solidFill>
                <a:latin typeface="Calibri"/>
              </a:rPr>
              <a:t>Exp B — Cross-Vehicle</a:t>
            </a:r>
          </a:p>
        </p:txBody>
      </p:sp>
      <p:sp>
        <p:nvSpPr>
          <p:cNvPr id="149" name="Rectangle 148"/>
          <p:cNvSpPr/>
          <p:nvPr/>
        </p:nvSpPr>
        <p:spPr>
          <a:xfrm>
            <a:off x="2029968" y="4782312"/>
            <a:ext cx="13716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2057400" y="4782312"/>
            <a:ext cx="1325880" cy="310896"/>
          </a:xfrm>
          <a:prstGeom prst="rect">
            <a:avLst/>
          </a:prstGeom>
          <a:noFill/>
        </p:spPr>
        <p:txBody>
          <a:bodyPr wrap="square"/>
          <a:lstStyle/>
          <a:p>
            <a:pPr algn="l"/>
            <a:r>
              <a:rPr sz="900" b="0" i="0">
                <a:solidFill>
                  <a:srgbClr val="FFFFFF"/>
                </a:solidFill>
                <a:latin typeface="Calibri"/>
              </a:rPr>
              <a:t>2W + 4W</a:t>
            </a:r>
          </a:p>
        </p:txBody>
      </p:sp>
      <p:sp>
        <p:nvSpPr>
          <p:cNvPr id="151" name="Rectangle 150"/>
          <p:cNvSpPr/>
          <p:nvPr/>
        </p:nvSpPr>
        <p:spPr>
          <a:xfrm>
            <a:off x="3419856" y="4782312"/>
            <a:ext cx="13716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3447288" y="4782312"/>
            <a:ext cx="1325880" cy="310896"/>
          </a:xfrm>
          <a:prstGeom prst="rect">
            <a:avLst/>
          </a:prstGeom>
          <a:noFill/>
        </p:spPr>
        <p:txBody>
          <a:bodyPr wrap="square"/>
          <a:lstStyle/>
          <a:p>
            <a:pPr algn="l"/>
            <a:r>
              <a:rPr sz="900" b="0" i="0">
                <a:solidFill>
                  <a:srgbClr val="FFFFFF"/>
                </a:solidFill>
                <a:latin typeface="Calibri"/>
              </a:rPr>
              <a:t>3-WHEELER</a:t>
            </a:r>
          </a:p>
        </p:txBody>
      </p:sp>
      <p:sp>
        <p:nvSpPr>
          <p:cNvPr id="153" name="Rectangle 152"/>
          <p:cNvSpPr/>
          <p:nvPr/>
        </p:nvSpPr>
        <p:spPr>
          <a:xfrm>
            <a:off x="4809744" y="4782312"/>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4837176" y="4782312"/>
            <a:ext cx="868680" cy="310896"/>
          </a:xfrm>
          <a:prstGeom prst="rect">
            <a:avLst/>
          </a:prstGeom>
          <a:noFill/>
        </p:spPr>
        <p:txBody>
          <a:bodyPr wrap="square"/>
          <a:lstStyle/>
          <a:p>
            <a:pPr algn="ctr"/>
            <a:r>
              <a:rPr sz="900" b="0" i="0">
                <a:solidFill>
                  <a:srgbClr val="FFFFFF"/>
                </a:solidFill>
                <a:latin typeface="Calibri"/>
              </a:rPr>
              <a:t>97.57%</a:t>
            </a:r>
          </a:p>
        </p:txBody>
      </p:sp>
      <p:sp>
        <p:nvSpPr>
          <p:cNvPr id="155" name="Rectangle 154"/>
          <p:cNvSpPr/>
          <p:nvPr/>
        </p:nvSpPr>
        <p:spPr>
          <a:xfrm>
            <a:off x="5742432" y="4782312"/>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5769864" y="4782312"/>
            <a:ext cx="868680" cy="310896"/>
          </a:xfrm>
          <a:prstGeom prst="rect">
            <a:avLst/>
          </a:prstGeom>
          <a:noFill/>
        </p:spPr>
        <p:txBody>
          <a:bodyPr wrap="square"/>
          <a:lstStyle/>
          <a:p>
            <a:pPr algn="ctr"/>
            <a:r>
              <a:rPr sz="900" b="0" i="0">
                <a:solidFill>
                  <a:srgbClr val="FFFFFF"/>
                </a:solidFill>
                <a:latin typeface="Calibri"/>
              </a:rPr>
              <a:t>65.14%</a:t>
            </a:r>
          </a:p>
        </p:txBody>
      </p:sp>
      <p:sp>
        <p:nvSpPr>
          <p:cNvPr id="157" name="Rectangle 156"/>
          <p:cNvSpPr/>
          <p:nvPr/>
        </p:nvSpPr>
        <p:spPr>
          <a:xfrm>
            <a:off x="6675120" y="4782312"/>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6702552" y="4782312"/>
            <a:ext cx="868680" cy="310896"/>
          </a:xfrm>
          <a:prstGeom prst="rect">
            <a:avLst/>
          </a:prstGeom>
          <a:noFill/>
        </p:spPr>
        <p:txBody>
          <a:bodyPr wrap="square"/>
          <a:lstStyle/>
          <a:p>
            <a:pPr algn="ctr"/>
            <a:r>
              <a:rPr sz="900" b="0" i="0">
                <a:solidFill>
                  <a:srgbClr val="FFFFFF"/>
                </a:solidFill>
                <a:latin typeface="Calibri"/>
              </a:rPr>
              <a:t>65.29%</a:t>
            </a:r>
          </a:p>
        </p:txBody>
      </p:sp>
      <p:sp>
        <p:nvSpPr>
          <p:cNvPr id="159" name="Rectangle 158"/>
          <p:cNvSpPr/>
          <p:nvPr/>
        </p:nvSpPr>
        <p:spPr>
          <a:xfrm>
            <a:off x="7607808" y="4782312"/>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7635240" y="4782312"/>
            <a:ext cx="868680" cy="310896"/>
          </a:xfrm>
          <a:prstGeom prst="rect">
            <a:avLst/>
          </a:prstGeom>
          <a:noFill/>
        </p:spPr>
        <p:txBody>
          <a:bodyPr wrap="square"/>
          <a:lstStyle/>
          <a:p>
            <a:pPr algn="ctr"/>
            <a:r>
              <a:rPr sz="900" b="0" i="0">
                <a:solidFill>
                  <a:srgbClr val="FFFFFF"/>
                </a:solidFill>
                <a:latin typeface="Calibri"/>
              </a:rPr>
              <a:t>65.20%</a:t>
            </a:r>
          </a:p>
        </p:txBody>
      </p:sp>
      <p:sp>
        <p:nvSpPr>
          <p:cNvPr id="161" name="Rectangle 160"/>
          <p:cNvSpPr/>
          <p:nvPr/>
        </p:nvSpPr>
        <p:spPr>
          <a:xfrm>
            <a:off x="8540496" y="4782312"/>
            <a:ext cx="822960" cy="310896"/>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8567928" y="4782312"/>
            <a:ext cx="777240" cy="310896"/>
          </a:xfrm>
          <a:prstGeom prst="rect">
            <a:avLst/>
          </a:prstGeom>
          <a:noFill/>
        </p:spPr>
        <p:txBody>
          <a:bodyPr wrap="square"/>
          <a:lstStyle/>
          <a:p>
            <a:pPr algn="ctr"/>
            <a:r>
              <a:rPr sz="900" b="1" i="0">
                <a:solidFill>
                  <a:srgbClr val="FFFFFF"/>
                </a:solidFill>
                <a:latin typeface="Calibri"/>
              </a:rPr>
              <a:t>✔</a:t>
            </a:r>
          </a:p>
        </p:txBody>
      </p:sp>
      <p:sp>
        <p:nvSpPr>
          <p:cNvPr id="163" name="Rectangle 162"/>
          <p:cNvSpPr/>
          <p:nvPr/>
        </p:nvSpPr>
        <p:spPr>
          <a:xfrm>
            <a:off x="91440" y="5111496"/>
            <a:ext cx="192024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118872" y="5111496"/>
            <a:ext cx="1874520" cy="310896"/>
          </a:xfrm>
          <a:prstGeom prst="rect">
            <a:avLst/>
          </a:prstGeom>
          <a:noFill/>
        </p:spPr>
        <p:txBody>
          <a:bodyPr wrap="square"/>
          <a:lstStyle/>
          <a:p>
            <a:pPr algn="l"/>
            <a:r>
              <a:rPr sz="900" b="0" i="0">
                <a:solidFill>
                  <a:srgbClr val="FFFFFF"/>
                </a:solidFill>
                <a:latin typeface="Calibri"/>
              </a:rPr>
              <a:t>Exp B — Cross-Vehicle</a:t>
            </a:r>
          </a:p>
        </p:txBody>
      </p:sp>
      <p:sp>
        <p:nvSpPr>
          <p:cNvPr id="165" name="Rectangle 164"/>
          <p:cNvSpPr/>
          <p:nvPr/>
        </p:nvSpPr>
        <p:spPr>
          <a:xfrm>
            <a:off x="2029968" y="5111496"/>
            <a:ext cx="13716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2057400" y="5111496"/>
            <a:ext cx="1325880" cy="310896"/>
          </a:xfrm>
          <a:prstGeom prst="rect">
            <a:avLst/>
          </a:prstGeom>
          <a:noFill/>
        </p:spPr>
        <p:txBody>
          <a:bodyPr wrap="square"/>
          <a:lstStyle/>
          <a:p>
            <a:pPr algn="l"/>
            <a:r>
              <a:rPr sz="900" b="0" i="0">
                <a:solidFill>
                  <a:srgbClr val="FFFFFF"/>
                </a:solidFill>
                <a:latin typeface="Calibri"/>
              </a:rPr>
              <a:t>3W + 4W</a:t>
            </a:r>
          </a:p>
        </p:txBody>
      </p:sp>
      <p:sp>
        <p:nvSpPr>
          <p:cNvPr id="167" name="Rectangle 166"/>
          <p:cNvSpPr/>
          <p:nvPr/>
        </p:nvSpPr>
        <p:spPr>
          <a:xfrm>
            <a:off x="3419856" y="5111496"/>
            <a:ext cx="13716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3447288" y="5111496"/>
            <a:ext cx="1325880" cy="310896"/>
          </a:xfrm>
          <a:prstGeom prst="rect">
            <a:avLst/>
          </a:prstGeom>
          <a:noFill/>
        </p:spPr>
        <p:txBody>
          <a:bodyPr wrap="square"/>
          <a:lstStyle/>
          <a:p>
            <a:pPr algn="l"/>
            <a:r>
              <a:rPr sz="900" b="0" i="0">
                <a:solidFill>
                  <a:srgbClr val="FFFFFF"/>
                </a:solidFill>
                <a:latin typeface="Calibri"/>
              </a:rPr>
              <a:t>2-WHEELER</a:t>
            </a:r>
          </a:p>
        </p:txBody>
      </p:sp>
      <p:sp>
        <p:nvSpPr>
          <p:cNvPr id="169" name="Rectangle 168"/>
          <p:cNvSpPr/>
          <p:nvPr/>
        </p:nvSpPr>
        <p:spPr>
          <a:xfrm>
            <a:off x="4809744" y="5111496"/>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4837176" y="5111496"/>
            <a:ext cx="868680" cy="310896"/>
          </a:xfrm>
          <a:prstGeom prst="rect">
            <a:avLst/>
          </a:prstGeom>
          <a:noFill/>
        </p:spPr>
        <p:txBody>
          <a:bodyPr wrap="square"/>
          <a:lstStyle/>
          <a:p>
            <a:pPr algn="ctr"/>
            <a:r>
              <a:rPr sz="900" b="0" i="0">
                <a:solidFill>
                  <a:srgbClr val="FFFFFF"/>
                </a:solidFill>
                <a:latin typeface="Calibri"/>
              </a:rPr>
              <a:t>80.35%</a:t>
            </a:r>
          </a:p>
        </p:txBody>
      </p:sp>
      <p:sp>
        <p:nvSpPr>
          <p:cNvPr id="171" name="Rectangle 170"/>
          <p:cNvSpPr/>
          <p:nvPr/>
        </p:nvSpPr>
        <p:spPr>
          <a:xfrm>
            <a:off x="5742432" y="5111496"/>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5769864" y="5111496"/>
            <a:ext cx="868680" cy="310896"/>
          </a:xfrm>
          <a:prstGeom prst="rect">
            <a:avLst/>
          </a:prstGeom>
          <a:noFill/>
        </p:spPr>
        <p:txBody>
          <a:bodyPr wrap="square"/>
          <a:lstStyle/>
          <a:p>
            <a:pPr algn="ctr"/>
            <a:r>
              <a:rPr sz="900" b="0" i="0">
                <a:solidFill>
                  <a:srgbClr val="FFFFFF"/>
                </a:solidFill>
                <a:latin typeface="Calibri"/>
              </a:rPr>
              <a:t>53.61%</a:t>
            </a:r>
          </a:p>
        </p:txBody>
      </p:sp>
      <p:sp>
        <p:nvSpPr>
          <p:cNvPr id="173" name="Rectangle 172"/>
          <p:cNvSpPr/>
          <p:nvPr/>
        </p:nvSpPr>
        <p:spPr>
          <a:xfrm>
            <a:off x="6675120" y="5111496"/>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6702552" y="5111496"/>
            <a:ext cx="868680" cy="310896"/>
          </a:xfrm>
          <a:prstGeom prst="rect">
            <a:avLst/>
          </a:prstGeom>
          <a:noFill/>
        </p:spPr>
        <p:txBody>
          <a:bodyPr wrap="square"/>
          <a:lstStyle/>
          <a:p>
            <a:pPr algn="ctr"/>
            <a:r>
              <a:rPr sz="900" b="0" i="0">
                <a:solidFill>
                  <a:srgbClr val="FFFFFF"/>
                </a:solidFill>
                <a:latin typeface="Calibri"/>
              </a:rPr>
              <a:t>54.42%</a:t>
            </a:r>
          </a:p>
        </p:txBody>
      </p:sp>
      <p:sp>
        <p:nvSpPr>
          <p:cNvPr id="175" name="Rectangle 174"/>
          <p:cNvSpPr/>
          <p:nvPr/>
        </p:nvSpPr>
        <p:spPr>
          <a:xfrm>
            <a:off x="7607808" y="5111496"/>
            <a:ext cx="914400" cy="310896"/>
          </a:xfrm>
          <a:prstGeom prst="rect">
            <a:avLst/>
          </a:prstGeom>
          <a:solidFill>
            <a:srgbClr val="15355A"/>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7635240" y="5111496"/>
            <a:ext cx="868680" cy="310896"/>
          </a:xfrm>
          <a:prstGeom prst="rect">
            <a:avLst/>
          </a:prstGeom>
          <a:noFill/>
        </p:spPr>
        <p:txBody>
          <a:bodyPr wrap="square"/>
          <a:lstStyle/>
          <a:p>
            <a:pPr algn="ctr"/>
            <a:r>
              <a:rPr sz="900" b="0" i="0">
                <a:solidFill>
                  <a:srgbClr val="FFFFFF"/>
                </a:solidFill>
                <a:latin typeface="Calibri"/>
              </a:rPr>
              <a:t>53.97%</a:t>
            </a:r>
          </a:p>
        </p:txBody>
      </p:sp>
      <p:sp>
        <p:nvSpPr>
          <p:cNvPr id="177" name="Rectangle 176"/>
          <p:cNvSpPr/>
          <p:nvPr/>
        </p:nvSpPr>
        <p:spPr>
          <a:xfrm>
            <a:off x="8540496" y="5111496"/>
            <a:ext cx="822960" cy="310896"/>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8567928" y="5111496"/>
            <a:ext cx="777240" cy="310896"/>
          </a:xfrm>
          <a:prstGeom prst="rect">
            <a:avLst/>
          </a:prstGeom>
          <a:noFill/>
        </p:spPr>
        <p:txBody>
          <a:bodyPr wrap="square"/>
          <a:lstStyle/>
          <a:p>
            <a:pPr algn="ctr"/>
            <a:r>
              <a:rPr sz="900" b="1" i="0">
                <a:solidFill>
                  <a:srgbClr val="FFFFFF"/>
                </a:solidFill>
                <a:latin typeface="Calibri"/>
              </a:rPr>
              <a:t>✔</a:t>
            </a:r>
          </a:p>
        </p:txBody>
      </p:sp>
      <p:sp>
        <p:nvSpPr>
          <p:cNvPr id="179" name="Rectangle 178"/>
          <p:cNvSpPr/>
          <p:nvPr/>
        </p:nvSpPr>
        <p:spPr>
          <a:xfrm>
            <a:off x="91440" y="5440680"/>
            <a:ext cx="1920240" cy="310896"/>
          </a:xfrm>
          <a:prstGeom prst="rect">
            <a:avLst/>
          </a:prstGeom>
          <a:solidFill>
            <a:srgbClr val="0A284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118872" y="5440680"/>
            <a:ext cx="1874520" cy="310896"/>
          </a:xfrm>
          <a:prstGeom prst="rect">
            <a:avLst/>
          </a:prstGeom>
          <a:noFill/>
        </p:spPr>
        <p:txBody>
          <a:bodyPr wrap="square"/>
          <a:lstStyle/>
          <a:p>
            <a:pPr algn="l"/>
            <a:r>
              <a:rPr sz="900" b="0" i="0">
                <a:solidFill>
                  <a:srgbClr val="FFFFFF"/>
                </a:solidFill>
                <a:latin typeface="Calibri"/>
              </a:rPr>
              <a:t>Exp C — Combined</a:t>
            </a:r>
          </a:p>
        </p:txBody>
      </p:sp>
      <p:sp>
        <p:nvSpPr>
          <p:cNvPr id="181" name="Rectangle 180"/>
          <p:cNvSpPr/>
          <p:nvPr/>
        </p:nvSpPr>
        <p:spPr>
          <a:xfrm>
            <a:off x="2029968" y="5440680"/>
            <a:ext cx="1371600" cy="310896"/>
          </a:xfrm>
          <a:prstGeom prst="rect">
            <a:avLst/>
          </a:prstGeom>
          <a:solidFill>
            <a:srgbClr val="0A284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2057400" y="5440680"/>
            <a:ext cx="1325880" cy="310896"/>
          </a:xfrm>
          <a:prstGeom prst="rect">
            <a:avLst/>
          </a:prstGeom>
          <a:noFill/>
        </p:spPr>
        <p:txBody>
          <a:bodyPr wrap="square"/>
          <a:lstStyle/>
          <a:p>
            <a:pPr algn="l"/>
            <a:r>
              <a:rPr sz="900" b="0" i="0">
                <a:solidFill>
                  <a:srgbClr val="FFFFFF"/>
                </a:solidFill>
                <a:latin typeface="Calibri"/>
              </a:rPr>
              <a:t>2W+3W+4W</a:t>
            </a:r>
          </a:p>
        </p:txBody>
      </p:sp>
      <p:sp>
        <p:nvSpPr>
          <p:cNvPr id="183" name="Rectangle 182"/>
          <p:cNvSpPr/>
          <p:nvPr/>
        </p:nvSpPr>
        <p:spPr>
          <a:xfrm>
            <a:off x="3419856" y="5440680"/>
            <a:ext cx="1371600" cy="310896"/>
          </a:xfrm>
          <a:prstGeom prst="rect">
            <a:avLst/>
          </a:prstGeom>
          <a:solidFill>
            <a:srgbClr val="0A284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3447288" y="5440680"/>
            <a:ext cx="1325880" cy="310896"/>
          </a:xfrm>
          <a:prstGeom prst="rect">
            <a:avLst/>
          </a:prstGeom>
          <a:noFill/>
        </p:spPr>
        <p:txBody>
          <a:bodyPr wrap="square"/>
          <a:lstStyle/>
          <a:p>
            <a:pPr algn="l"/>
            <a:r>
              <a:rPr sz="900" b="0" i="0">
                <a:solidFill>
                  <a:srgbClr val="FFFFFF"/>
                </a:solidFill>
                <a:latin typeface="Calibri"/>
              </a:rPr>
              <a:t>2W+3W+4W</a:t>
            </a:r>
          </a:p>
        </p:txBody>
      </p:sp>
      <p:sp>
        <p:nvSpPr>
          <p:cNvPr id="185" name="Rectangle 184"/>
          <p:cNvSpPr/>
          <p:nvPr/>
        </p:nvSpPr>
        <p:spPr>
          <a:xfrm>
            <a:off x="4809744" y="5440680"/>
            <a:ext cx="914400" cy="310896"/>
          </a:xfrm>
          <a:prstGeom prst="rect">
            <a:avLst/>
          </a:prstGeom>
          <a:solidFill>
            <a:srgbClr val="0A284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4837176" y="5440680"/>
            <a:ext cx="868680" cy="310896"/>
          </a:xfrm>
          <a:prstGeom prst="rect">
            <a:avLst/>
          </a:prstGeom>
          <a:noFill/>
        </p:spPr>
        <p:txBody>
          <a:bodyPr wrap="square"/>
          <a:lstStyle/>
          <a:p>
            <a:pPr algn="ctr"/>
            <a:r>
              <a:rPr sz="900" b="0" i="0">
                <a:solidFill>
                  <a:srgbClr val="FFFFFF"/>
                </a:solidFill>
                <a:latin typeface="Calibri"/>
              </a:rPr>
              <a:t>80.35%</a:t>
            </a:r>
          </a:p>
        </p:txBody>
      </p:sp>
      <p:sp>
        <p:nvSpPr>
          <p:cNvPr id="187" name="Rectangle 186"/>
          <p:cNvSpPr/>
          <p:nvPr/>
        </p:nvSpPr>
        <p:spPr>
          <a:xfrm>
            <a:off x="5742432" y="5440680"/>
            <a:ext cx="914400" cy="310896"/>
          </a:xfrm>
          <a:prstGeom prst="rect">
            <a:avLst/>
          </a:prstGeom>
          <a:solidFill>
            <a:srgbClr val="0A284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5769864" y="5440680"/>
            <a:ext cx="868680" cy="310896"/>
          </a:xfrm>
          <a:prstGeom prst="rect">
            <a:avLst/>
          </a:prstGeom>
          <a:noFill/>
        </p:spPr>
        <p:txBody>
          <a:bodyPr wrap="square"/>
          <a:lstStyle/>
          <a:p>
            <a:pPr algn="ctr"/>
            <a:r>
              <a:rPr sz="900" b="0" i="0">
                <a:solidFill>
                  <a:srgbClr val="FFFFFF"/>
                </a:solidFill>
                <a:latin typeface="Calibri"/>
              </a:rPr>
              <a:t>53.56%</a:t>
            </a:r>
          </a:p>
        </p:txBody>
      </p:sp>
      <p:sp>
        <p:nvSpPr>
          <p:cNvPr id="189" name="Rectangle 188"/>
          <p:cNvSpPr/>
          <p:nvPr/>
        </p:nvSpPr>
        <p:spPr>
          <a:xfrm>
            <a:off x="6675120" y="5440680"/>
            <a:ext cx="914400" cy="310896"/>
          </a:xfrm>
          <a:prstGeom prst="rect">
            <a:avLst/>
          </a:prstGeom>
          <a:solidFill>
            <a:srgbClr val="0A284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702552" y="5440680"/>
            <a:ext cx="868680" cy="310896"/>
          </a:xfrm>
          <a:prstGeom prst="rect">
            <a:avLst/>
          </a:prstGeom>
          <a:noFill/>
        </p:spPr>
        <p:txBody>
          <a:bodyPr wrap="square"/>
          <a:lstStyle/>
          <a:p>
            <a:pPr algn="ctr"/>
            <a:r>
              <a:rPr sz="900" b="0" i="0">
                <a:solidFill>
                  <a:srgbClr val="FFFFFF"/>
                </a:solidFill>
                <a:latin typeface="Calibri"/>
              </a:rPr>
              <a:t>54.39%</a:t>
            </a:r>
          </a:p>
        </p:txBody>
      </p:sp>
      <p:sp>
        <p:nvSpPr>
          <p:cNvPr id="191" name="Rectangle 190"/>
          <p:cNvSpPr/>
          <p:nvPr/>
        </p:nvSpPr>
        <p:spPr>
          <a:xfrm>
            <a:off x="7607808" y="5440680"/>
            <a:ext cx="914400" cy="310896"/>
          </a:xfrm>
          <a:prstGeom prst="rect">
            <a:avLst/>
          </a:prstGeom>
          <a:solidFill>
            <a:srgbClr val="0A284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7635240" y="5440680"/>
            <a:ext cx="868680" cy="310896"/>
          </a:xfrm>
          <a:prstGeom prst="rect">
            <a:avLst/>
          </a:prstGeom>
          <a:noFill/>
        </p:spPr>
        <p:txBody>
          <a:bodyPr wrap="square"/>
          <a:lstStyle/>
          <a:p>
            <a:pPr algn="ctr"/>
            <a:r>
              <a:rPr sz="900" b="0" i="0">
                <a:solidFill>
                  <a:srgbClr val="FFFFFF"/>
                </a:solidFill>
                <a:latin typeface="Calibri"/>
              </a:rPr>
              <a:t>53.97%</a:t>
            </a:r>
          </a:p>
        </p:txBody>
      </p:sp>
      <p:sp>
        <p:nvSpPr>
          <p:cNvPr id="193" name="Rectangle 192"/>
          <p:cNvSpPr/>
          <p:nvPr/>
        </p:nvSpPr>
        <p:spPr>
          <a:xfrm>
            <a:off x="8540496" y="5440680"/>
            <a:ext cx="822960" cy="310896"/>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8567928" y="5440680"/>
            <a:ext cx="777240" cy="310896"/>
          </a:xfrm>
          <a:prstGeom prst="rect">
            <a:avLst/>
          </a:prstGeom>
          <a:noFill/>
        </p:spPr>
        <p:txBody>
          <a:bodyPr wrap="square"/>
          <a:lstStyle/>
          <a:p>
            <a:pPr algn="ctr"/>
            <a:r>
              <a:rPr sz="900" b="1" i="0">
                <a:solidFill>
                  <a:srgbClr val="FFFFFF"/>
                </a:solidFill>
                <a:latin typeface="Calibri"/>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Challenges Encountered During Implementation</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Documented challenges from source code, logs, and experimental observations</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91440" y="1051560"/>
            <a:ext cx="3200400" cy="66751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 y="1097280"/>
            <a:ext cx="3108960" cy="603504"/>
          </a:xfrm>
          <a:prstGeom prst="rect">
            <a:avLst/>
          </a:prstGeom>
          <a:noFill/>
        </p:spPr>
        <p:txBody>
          <a:bodyPr wrap="square"/>
          <a:lstStyle/>
          <a:p>
            <a:pPr algn="l"/>
            <a:r>
              <a:rPr sz="1000" b="1" i="0">
                <a:solidFill>
                  <a:srgbClr val="FFFFFF"/>
                </a:solidFill>
                <a:latin typeface="Calibri"/>
              </a:rPr>
              <a:t>Sensor Noise &amp; Vehicle-Dependent Motion</a:t>
            </a:r>
          </a:p>
        </p:txBody>
      </p:sp>
      <p:sp>
        <p:nvSpPr>
          <p:cNvPr id="11" name="Rectangle 10"/>
          <p:cNvSpPr/>
          <p:nvPr/>
        </p:nvSpPr>
        <p:spPr>
          <a:xfrm>
            <a:off x="3337560" y="1051560"/>
            <a:ext cx="8778240" cy="66751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9000" y="1088136"/>
            <a:ext cx="8641080" cy="603504"/>
          </a:xfrm>
          <a:prstGeom prst="rect">
            <a:avLst/>
          </a:prstGeom>
          <a:noFill/>
        </p:spPr>
        <p:txBody>
          <a:bodyPr wrap="square"/>
          <a:lstStyle/>
          <a:p>
            <a:pPr algn="l"/>
            <a:r>
              <a:rPr sz="1000" b="0" i="0">
                <a:solidFill>
                  <a:srgbClr val="D0D8E8"/>
                </a:solidFill>
                <a:latin typeface="Calibri"/>
              </a:rPr>
              <a:t>Raw accelerometer/gyroscope signals vary with vehicle mass, suspension, tyre pressure, and mounting position. The same pothole produces different acc-z magnitude on a bike vs car. Addressed via Median-MAD calibration and bandpass filtering.</a:t>
            </a:r>
          </a:p>
        </p:txBody>
      </p:sp>
      <p:sp>
        <p:nvSpPr>
          <p:cNvPr id="13" name="Rectangle 12"/>
          <p:cNvSpPr/>
          <p:nvPr/>
        </p:nvSpPr>
        <p:spPr>
          <a:xfrm>
            <a:off x="91440" y="1746504"/>
            <a:ext cx="3200400" cy="667512"/>
          </a:xfrm>
          <a:prstGeom prst="rect">
            <a:avLst/>
          </a:prstGeom>
          <a:solidFill>
            <a:srgbClr val="0A2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 y="1792224"/>
            <a:ext cx="3108960" cy="603504"/>
          </a:xfrm>
          <a:prstGeom prst="rect">
            <a:avLst/>
          </a:prstGeom>
          <a:noFill/>
        </p:spPr>
        <p:txBody>
          <a:bodyPr wrap="square"/>
          <a:lstStyle/>
          <a:p>
            <a:pPr algn="l"/>
            <a:r>
              <a:rPr sz="1000" b="1" i="0">
                <a:solidFill>
                  <a:srgbClr val="FFFFFF"/>
                </a:solidFill>
                <a:latin typeface="Calibri"/>
              </a:rPr>
              <a:t>Timestamp &amp; Sampling-Rate Inconsistencies</a:t>
            </a:r>
          </a:p>
        </p:txBody>
      </p:sp>
      <p:sp>
        <p:nvSpPr>
          <p:cNvPr id="15" name="Rectangle 14"/>
          <p:cNvSpPr/>
          <p:nvPr/>
        </p:nvSpPr>
        <p:spPr>
          <a:xfrm>
            <a:off x="3337560" y="1746504"/>
            <a:ext cx="8778240" cy="66751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29000" y="1783080"/>
            <a:ext cx="8641080" cy="603504"/>
          </a:xfrm>
          <a:prstGeom prst="rect">
            <a:avLst/>
          </a:prstGeom>
          <a:noFill/>
        </p:spPr>
        <p:txBody>
          <a:bodyPr wrap="square"/>
          <a:lstStyle/>
          <a:p>
            <a:pPr algn="l"/>
            <a:r>
              <a:rPr sz="1000" b="0" i="0">
                <a:solidFill>
                  <a:srgbClr val="D0D8E8"/>
                </a:solidFill>
                <a:latin typeface="Calibri"/>
              </a:rPr>
              <a:t>Raw CSV timestamps were irregular (58.82 Hz actual vs assumed 50 Hz). The pipeline calculates actual SR from timestamps and resamples to 50 Hz to ensure uniform windowing. Solved in app/dsp/sampling.py.</a:t>
            </a:r>
          </a:p>
        </p:txBody>
      </p:sp>
      <p:sp>
        <p:nvSpPr>
          <p:cNvPr id="17" name="Rectangle 16"/>
          <p:cNvSpPr/>
          <p:nvPr/>
        </p:nvSpPr>
        <p:spPr>
          <a:xfrm>
            <a:off x="91440" y="2441448"/>
            <a:ext cx="3200400" cy="66751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 y="2487168"/>
            <a:ext cx="3108960" cy="603504"/>
          </a:xfrm>
          <a:prstGeom prst="rect">
            <a:avLst/>
          </a:prstGeom>
          <a:noFill/>
        </p:spPr>
        <p:txBody>
          <a:bodyPr wrap="square"/>
          <a:lstStyle/>
          <a:p>
            <a:pPr algn="l"/>
            <a:r>
              <a:rPr sz="1000" b="1" i="0">
                <a:solidFill>
                  <a:srgbClr val="FFFFFF"/>
                </a:solidFill>
                <a:latin typeface="Calibri"/>
              </a:rPr>
              <a:t>Missing &amp; Invalid GPS Coordinates</a:t>
            </a:r>
          </a:p>
        </p:txBody>
      </p:sp>
      <p:sp>
        <p:nvSpPr>
          <p:cNvPr id="19" name="Rectangle 18"/>
          <p:cNvSpPr/>
          <p:nvPr/>
        </p:nvSpPr>
        <p:spPr>
          <a:xfrm>
            <a:off x="3337560" y="2441448"/>
            <a:ext cx="8778240" cy="66751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29000" y="2478024"/>
            <a:ext cx="8641080" cy="603504"/>
          </a:xfrm>
          <a:prstGeom prst="rect">
            <a:avLst/>
          </a:prstGeom>
          <a:noFill/>
        </p:spPr>
        <p:txBody>
          <a:bodyPr wrap="square"/>
          <a:lstStyle/>
          <a:p>
            <a:pPr algn="l"/>
            <a:r>
              <a:rPr sz="1000" b="0" i="0">
                <a:solidFill>
                  <a:srgbClr val="D0D8E8"/>
                </a:solidFill>
                <a:latin typeface="Calibri"/>
              </a:rPr>
              <a:t>Many early CSV rows contain empty latitude/longitude (GPS lock delay at recording start). Events are associated with the nearest valid GPS fix within the same session. Map renders only events with gps_accuracy_m ≤ 50 m.</a:t>
            </a:r>
          </a:p>
        </p:txBody>
      </p:sp>
      <p:sp>
        <p:nvSpPr>
          <p:cNvPr id="21" name="Rectangle 20"/>
          <p:cNvSpPr/>
          <p:nvPr/>
        </p:nvSpPr>
        <p:spPr>
          <a:xfrm>
            <a:off x="91440" y="3136392"/>
            <a:ext cx="3200400" cy="667512"/>
          </a:xfrm>
          <a:prstGeom prst="rect">
            <a:avLst/>
          </a:prstGeom>
          <a:solidFill>
            <a:srgbClr val="0A2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7160" y="3182112"/>
            <a:ext cx="3108960" cy="603504"/>
          </a:xfrm>
          <a:prstGeom prst="rect">
            <a:avLst/>
          </a:prstGeom>
          <a:noFill/>
        </p:spPr>
        <p:txBody>
          <a:bodyPr wrap="square"/>
          <a:lstStyle/>
          <a:p>
            <a:pPr algn="l"/>
            <a:r>
              <a:rPr sz="1000" b="1" i="0">
                <a:solidFill>
                  <a:srgbClr val="FFFFFF"/>
                </a:solidFill>
                <a:latin typeface="Calibri"/>
              </a:rPr>
              <a:t>Imbalanced Class Labels (POTHOLE Under-represented)</a:t>
            </a:r>
          </a:p>
        </p:txBody>
      </p:sp>
      <p:sp>
        <p:nvSpPr>
          <p:cNvPr id="23" name="Rectangle 22"/>
          <p:cNvSpPr/>
          <p:nvPr/>
        </p:nvSpPr>
        <p:spPr>
          <a:xfrm>
            <a:off x="3337560" y="3136392"/>
            <a:ext cx="8778240" cy="66751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29000" y="3172968"/>
            <a:ext cx="8641080" cy="603504"/>
          </a:xfrm>
          <a:prstGeom prst="rect">
            <a:avLst/>
          </a:prstGeom>
          <a:noFill/>
        </p:spPr>
        <p:txBody>
          <a:bodyPr wrap="square"/>
          <a:lstStyle/>
          <a:p>
            <a:pPr algn="l"/>
            <a:r>
              <a:rPr sz="1000" b="0" i="0">
                <a:solidFill>
                  <a:srgbClr val="D0D8E8"/>
                </a:solidFill>
                <a:latin typeface="Calibri"/>
              </a:rPr>
              <a:t>Field datasets contain very few labeled POTHOLE rows (7 windows in combined dataset). RF classifier achieves F1=0.000 for POTHOLE. Signal-derived annotation (annotate_signal_labels) mitigates but does not fully solve this.</a:t>
            </a:r>
          </a:p>
        </p:txBody>
      </p:sp>
      <p:sp>
        <p:nvSpPr>
          <p:cNvPr id="25" name="Rectangle 24"/>
          <p:cNvSpPr/>
          <p:nvPr/>
        </p:nvSpPr>
        <p:spPr>
          <a:xfrm>
            <a:off x="91440" y="3831336"/>
            <a:ext cx="3200400" cy="66751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7160" y="3877056"/>
            <a:ext cx="3108960" cy="603504"/>
          </a:xfrm>
          <a:prstGeom prst="rect">
            <a:avLst/>
          </a:prstGeom>
          <a:noFill/>
        </p:spPr>
        <p:txBody>
          <a:bodyPr wrap="square"/>
          <a:lstStyle/>
          <a:p>
            <a:pPr algn="l"/>
            <a:r>
              <a:rPr sz="1000" b="1" i="0">
                <a:solidFill>
                  <a:srgbClr val="FFFFFF"/>
                </a:solidFill>
                <a:latin typeface="Calibri"/>
              </a:rPr>
              <a:t>DSP Ablation Cross-Dataset Mismatch</a:t>
            </a:r>
          </a:p>
        </p:txBody>
      </p:sp>
      <p:sp>
        <p:nvSpPr>
          <p:cNvPr id="27" name="Rectangle 26"/>
          <p:cNvSpPr/>
          <p:nvPr/>
        </p:nvSpPr>
        <p:spPr>
          <a:xfrm>
            <a:off x="3337560" y="3831336"/>
            <a:ext cx="8778240" cy="66751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29000" y="3867912"/>
            <a:ext cx="8641080" cy="603504"/>
          </a:xfrm>
          <a:prstGeom prst="rect">
            <a:avLst/>
          </a:prstGeom>
          <a:noFill/>
        </p:spPr>
        <p:txBody>
          <a:bodyPr wrap="square"/>
          <a:lstStyle/>
          <a:p>
            <a:pPr algn="l"/>
            <a:r>
              <a:rPr sz="1000" b="0" i="0">
                <a:solidFill>
                  <a:srgbClr val="D0D8E8"/>
                </a:solidFill>
                <a:latin typeface="Calibri"/>
              </a:rPr>
              <a:t>Ablation study ran with combined datasets of unequal lengths (51K + 82K + 82K rows). Calibration stages C–E show near-zero accuracy in ablation — cross-dataset label distribution mismatch after Median-MAD scaling. Requires further investigation.</a:t>
            </a:r>
          </a:p>
        </p:txBody>
      </p:sp>
      <p:sp>
        <p:nvSpPr>
          <p:cNvPr id="29" name="Rectangle 28"/>
          <p:cNvSpPr/>
          <p:nvPr/>
        </p:nvSpPr>
        <p:spPr>
          <a:xfrm>
            <a:off x="91440" y="4526280"/>
            <a:ext cx="3200400" cy="667512"/>
          </a:xfrm>
          <a:prstGeom prst="rect">
            <a:avLst/>
          </a:prstGeom>
          <a:solidFill>
            <a:srgbClr val="0A2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7160" y="4572000"/>
            <a:ext cx="3108960" cy="603504"/>
          </a:xfrm>
          <a:prstGeom prst="rect">
            <a:avLst/>
          </a:prstGeom>
          <a:noFill/>
        </p:spPr>
        <p:txBody>
          <a:bodyPr wrap="square"/>
          <a:lstStyle/>
          <a:p>
            <a:pPr algn="l"/>
            <a:r>
              <a:rPr sz="1000" b="1" i="0">
                <a:solidFill>
                  <a:srgbClr val="FFFFFF"/>
                </a:solidFill>
                <a:latin typeface="Calibri"/>
              </a:rPr>
              <a:t>Data Leakage Risk</a:t>
            </a:r>
          </a:p>
        </p:txBody>
      </p:sp>
      <p:sp>
        <p:nvSpPr>
          <p:cNvPr id="31" name="Rectangle 30"/>
          <p:cNvSpPr/>
          <p:nvPr/>
        </p:nvSpPr>
        <p:spPr>
          <a:xfrm>
            <a:off x="3337560" y="4526280"/>
            <a:ext cx="8778240" cy="66751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29000" y="4562856"/>
            <a:ext cx="8641080" cy="603504"/>
          </a:xfrm>
          <a:prstGeom prst="rect">
            <a:avLst/>
          </a:prstGeom>
          <a:noFill/>
        </p:spPr>
        <p:txBody>
          <a:bodyPr wrap="square"/>
          <a:lstStyle/>
          <a:p>
            <a:pPr algn="l"/>
            <a:r>
              <a:rPr sz="1000" b="0" i="0">
                <a:solidFill>
                  <a:srgbClr val="D0D8E8"/>
                </a:solidFill>
                <a:latin typeface="Calibri"/>
              </a:rPr>
              <a:t>Standard random train-test split would place adjacent windows from the same session in both sets. Solved using GroupShuffleSplit on session_id, ensuring no session appears in both train and test.</a:t>
            </a:r>
          </a:p>
        </p:txBody>
      </p:sp>
      <p:sp>
        <p:nvSpPr>
          <p:cNvPr id="33" name="Rectangle 32"/>
          <p:cNvSpPr/>
          <p:nvPr/>
        </p:nvSpPr>
        <p:spPr>
          <a:xfrm>
            <a:off x="91440" y="5221224"/>
            <a:ext cx="3200400" cy="66751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7160" y="5266944"/>
            <a:ext cx="3108960" cy="603504"/>
          </a:xfrm>
          <a:prstGeom prst="rect">
            <a:avLst/>
          </a:prstGeom>
          <a:noFill/>
        </p:spPr>
        <p:txBody>
          <a:bodyPr wrap="square"/>
          <a:lstStyle/>
          <a:p>
            <a:pPr algn="l"/>
            <a:r>
              <a:rPr sz="1000" b="1" i="0">
                <a:solidFill>
                  <a:srgbClr val="FFFFFF"/>
                </a:solidFill>
                <a:latin typeface="Calibri"/>
              </a:rPr>
              <a:t>Map Marker GPS Association</a:t>
            </a:r>
          </a:p>
        </p:txBody>
      </p:sp>
      <p:sp>
        <p:nvSpPr>
          <p:cNvPr id="35" name="Rectangle 34"/>
          <p:cNvSpPr/>
          <p:nvPr/>
        </p:nvSpPr>
        <p:spPr>
          <a:xfrm>
            <a:off x="3337560" y="5221224"/>
            <a:ext cx="8778240" cy="667512"/>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429000" y="5257800"/>
            <a:ext cx="8641080" cy="603504"/>
          </a:xfrm>
          <a:prstGeom prst="rect">
            <a:avLst/>
          </a:prstGeom>
          <a:noFill/>
        </p:spPr>
        <p:txBody>
          <a:bodyPr wrap="square"/>
          <a:lstStyle/>
          <a:p>
            <a:pPr algn="l"/>
            <a:r>
              <a:rPr sz="1000" b="0" i="0">
                <a:solidFill>
                  <a:srgbClr val="D0D8E8"/>
                </a:solidFill>
                <a:latin typeface="Calibri"/>
              </a:rPr>
              <a:t>Anomaly events detected via signal may have no GPS fix at the exact peak timestamp. The pipeline searches for the nearest valid GPS sample within the session — occasionally places markers slightly off the exact anomaly location.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Improvements Since Review 1</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Transition from planned design to working implementation</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Rectangle 8"/>
          <p:cNvSpPr/>
          <p:nvPr/>
        </p:nvSpPr>
        <p:spPr>
          <a:xfrm>
            <a:off x="91440" y="1051560"/>
            <a:ext cx="2743200" cy="4572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 y="1051560"/>
            <a:ext cx="2743200" cy="457200"/>
          </a:xfrm>
          <a:prstGeom prst="rect">
            <a:avLst/>
          </a:prstGeom>
          <a:noFill/>
        </p:spPr>
        <p:txBody>
          <a:bodyPr wrap="square"/>
          <a:lstStyle/>
          <a:p>
            <a:pPr algn="ctr"/>
            <a:r>
              <a:rPr sz="1000" b="1" i="0">
                <a:solidFill>
                  <a:srgbClr val="FFFFFF"/>
                </a:solidFill>
                <a:latin typeface="Calibri"/>
              </a:rPr>
              <a:t>Review 1 Plan</a:t>
            </a:r>
          </a:p>
        </p:txBody>
      </p:sp>
      <p:sp>
        <p:nvSpPr>
          <p:cNvPr id="11" name="Rectangle 10"/>
          <p:cNvSpPr/>
          <p:nvPr/>
        </p:nvSpPr>
        <p:spPr>
          <a:xfrm>
            <a:off x="2852928" y="1051560"/>
            <a:ext cx="7315200" cy="4572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52928" y="1051560"/>
            <a:ext cx="7315200" cy="457200"/>
          </a:xfrm>
          <a:prstGeom prst="rect">
            <a:avLst/>
          </a:prstGeom>
          <a:noFill/>
        </p:spPr>
        <p:txBody>
          <a:bodyPr wrap="square"/>
          <a:lstStyle/>
          <a:p>
            <a:pPr algn="ctr"/>
            <a:r>
              <a:rPr sz="1000" b="1" i="0">
                <a:solidFill>
                  <a:srgbClr val="FFFFFF"/>
                </a:solidFill>
                <a:latin typeface="Calibri"/>
              </a:rPr>
              <a:t>Review 2 — Implemented</a:t>
            </a:r>
          </a:p>
        </p:txBody>
      </p:sp>
      <p:sp>
        <p:nvSpPr>
          <p:cNvPr id="13" name="Rectangle 12"/>
          <p:cNvSpPr/>
          <p:nvPr/>
        </p:nvSpPr>
        <p:spPr>
          <a:xfrm>
            <a:off x="10186416" y="1051560"/>
            <a:ext cx="1737360" cy="4572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186416" y="1051560"/>
            <a:ext cx="1737360" cy="457200"/>
          </a:xfrm>
          <a:prstGeom prst="rect">
            <a:avLst/>
          </a:prstGeom>
          <a:noFill/>
        </p:spPr>
        <p:txBody>
          <a:bodyPr wrap="square"/>
          <a:lstStyle/>
          <a:p>
            <a:pPr algn="ctr"/>
            <a:r>
              <a:rPr sz="1000" b="1" i="0">
                <a:solidFill>
                  <a:srgbClr val="FFFFFF"/>
                </a:solidFill>
                <a:latin typeface="Calibri"/>
              </a:rPr>
              <a:t>Status</a:t>
            </a:r>
          </a:p>
        </p:txBody>
      </p:sp>
      <p:sp>
        <p:nvSpPr>
          <p:cNvPr id="15" name="Rectangle 14"/>
          <p:cNvSpPr/>
          <p:nvPr/>
        </p:nvSpPr>
        <p:spPr>
          <a:xfrm>
            <a:off x="91440" y="1508760"/>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 y="1527048"/>
            <a:ext cx="2670048" cy="420624"/>
          </a:xfrm>
          <a:prstGeom prst="rect">
            <a:avLst/>
          </a:prstGeom>
          <a:noFill/>
        </p:spPr>
        <p:txBody>
          <a:bodyPr wrap="square"/>
          <a:lstStyle/>
          <a:p>
            <a:pPr algn="l"/>
            <a:r>
              <a:rPr sz="900" b="0" i="0">
                <a:solidFill>
                  <a:srgbClr val="FFFFFF"/>
                </a:solidFill>
                <a:latin typeface="Calibri"/>
              </a:rPr>
              <a:t>CSV upload described as a requirement</a:t>
            </a:r>
          </a:p>
        </p:txBody>
      </p:sp>
      <p:sp>
        <p:nvSpPr>
          <p:cNvPr id="17" name="Rectangle 16"/>
          <p:cNvSpPr/>
          <p:nvPr/>
        </p:nvSpPr>
        <p:spPr>
          <a:xfrm>
            <a:off x="2852928" y="1508760"/>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98648" y="1527048"/>
            <a:ext cx="7242048" cy="420624"/>
          </a:xfrm>
          <a:prstGeom prst="rect">
            <a:avLst/>
          </a:prstGeom>
          <a:noFill/>
        </p:spPr>
        <p:txBody>
          <a:bodyPr wrap="square"/>
          <a:lstStyle/>
          <a:p>
            <a:pPr algn="l"/>
            <a:r>
              <a:rPr sz="900" b="0" i="0">
                <a:solidFill>
                  <a:srgbClr val="FFFFFF"/>
                </a:solidFill>
                <a:latin typeface="Calibri"/>
              </a:rPr>
              <a:t>Working CSV upload with schema validation, missing-column detection, and session-aware parsing</a:t>
            </a:r>
          </a:p>
        </p:txBody>
      </p:sp>
      <p:sp>
        <p:nvSpPr>
          <p:cNvPr id="19" name="Rectangle 18"/>
          <p:cNvSpPr/>
          <p:nvPr/>
        </p:nvSpPr>
        <p:spPr>
          <a:xfrm>
            <a:off x="10186416" y="1508760"/>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32136" y="1527048"/>
            <a:ext cx="1664208" cy="420624"/>
          </a:xfrm>
          <a:prstGeom prst="rect">
            <a:avLst/>
          </a:prstGeom>
          <a:noFill/>
        </p:spPr>
        <p:txBody>
          <a:bodyPr wrap="square"/>
          <a:lstStyle/>
          <a:p>
            <a:pPr algn="ctr"/>
            <a:r>
              <a:rPr sz="900" b="1" i="0">
                <a:solidFill>
                  <a:srgbClr val="FFFFFF"/>
                </a:solidFill>
                <a:latin typeface="Calibri"/>
              </a:rPr>
              <a:t>✔ DONE</a:t>
            </a:r>
          </a:p>
        </p:txBody>
      </p:sp>
      <p:sp>
        <p:nvSpPr>
          <p:cNvPr id="21" name="Rectangle 20"/>
          <p:cNvSpPr/>
          <p:nvPr/>
        </p:nvSpPr>
        <p:spPr>
          <a:xfrm>
            <a:off x="91440" y="1993392"/>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7160" y="2011680"/>
            <a:ext cx="2670048" cy="420624"/>
          </a:xfrm>
          <a:prstGeom prst="rect">
            <a:avLst/>
          </a:prstGeom>
          <a:noFill/>
        </p:spPr>
        <p:txBody>
          <a:bodyPr wrap="square"/>
          <a:lstStyle/>
          <a:p>
            <a:pPr algn="l"/>
            <a:r>
              <a:rPr sz="900" b="0" i="0">
                <a:solidFill>
                  <a:srgbClr val="FFFFFF"/>
                </a:solidFill>
                <a:latin typeface="Calibri"/>
              </a:rPr>
              <a:t>DSP described as a proposed pipeline</a:t>
            </a:r>
          </a:p>
        </p:txBody>
      </p:sp>
      <p:sp>
        <p:nvSpPr>
          <p:cNvPr id="23" name="Rectangle 22"/>
          <p:cNvSpPr/>
          <p:nvPr/>
        </p:nvSpPr>
        <p:spPr>
          <a:xfrm>
            <a:off x="2852928" y="1993392"/>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898648" y="2011680"/>
            <a:ext cx="7242048" cy="420624"/>
          </a:xfrm>
          <a:prstGeom prst="rect">
            <a:avLst/>
          </a:prstGeom>
          <a:noFill/>
        </p:spPr>
        <p:txBody>
          <a:bodyPr wrap="square"/>
          <a:lstStyle/>
          <a:p>
            <a:pPr algn="l"/>
            <a:r>
              <a:rPr sz="900" b="0" i="0">
                <a:solidFill>
                  <a:srgbClr val="FFFFFF"/>
                </a:solidFill>
                <a:latin typeface="Calibri"/>
              </a:rPr>
              <a:t>All 8 DSP stages implemented in app/dsp/ (Hampel, Gravity, Butterworth, Jerk, Calibration, Windowing)</a:t>
            </a:r>
          </a:p>
        </p:txBody>
      </p:sp>
      <p:sp>
        <p:nvSpPr>
          <p:cNvPr id="25" name="Rectangle 24"/>
          <p:cNvSpPr/>
          <p:nvPr/>
        </p:nvSpPr>
        <p:spPr>
          <a:xfrm>
            <a:off x="10186416" y="1993392"/>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32136" y="2011680"/>
            <a:ext cx="1664208" cy="420624"/>
          </a:xfrm>
          <a:prstGeom prst="rect">
            <a:avLst/>
          </a:prstGeom>
          <a:noFill/>
        </p:spPr>
        <p:txBody>
          <a:bodyPr wrap="square"/>
          <a:lstStyle/>
          <a:p>
            <a:pPr algn="ctr"/>
            <a:r>
              <a:rPr sz="900" b="1" i="0">
                <a:solidFill>
                  <a:srgbClr val="FFFFFF"/>
                </a:solidFill>
                <a:latin typeface="Calibri"/>
              </a:rPr>
              <a:t>✔ DONE</a:t>
            </a:r>
          </a:p>
        </p:txBody>
      </p:sp>
      <p:sp>
        <p:nvSpPr>
          <p:cNvPr id="27" name="Rectangle 26"/>
          <p:cNvSpPr/>
          <p:nvPr/>
        </p:nvSpPr>
        <p:spPr>
          <a:xfrm>
            <a:off x="91440" y="2478024"/>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7160" y="2496312"/>
            <a:ext cx="2670048" cy="420624"/>
          </a:xfrm>
          <a:prstGeom prst="rect">
            <a:avLst/>
          </a:prstGeom>
          <a:noFill/>
        </p:spPr>
        <p:txBody>
          <a:bodyPr wrap="square"/>
          <a:lstStyle/>
          <a:p>
            <a:pPr algn="l"/>
            <a:r>
              <a:rPr sz="900" b="0" i="0">
                <a:solidFill>
                  <a:srgbClr val="FFFFFF"/>
                </a:solidFill>
                <a:latin typeface="Calibri"/>
              </a:rPr>
              <a:t>ML classification as an expected outcome</a:t>
            </a:r>
          </a:p>
        </p:txBody>
      </p:sp>
      <p:sp>
        <p:nvSpPr>
          <p:cNvPr id="29" name="Rectangle 28"/>
          <p:cNvSpPr/>
          <p:nvPr/>
        </p:nvSpPr>
        <p:spPr>
          <a:xfrm>
            <a:off x="2852928" y="2478024"/>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898648" y="2496312"/>
            <a:ext cx="7242048" cy="420624"/>
          </a:xfrm>
          <a:prstGeom prst="rect">
            <a:avLst/>
          </a:prstGeom>
          <a:noFill/>
        </p:spPr>
        <p:txBody>
          <a:bodyPr wrap="square"/>
          <a:lstStyle/>
          <a:p>
            <a:pPr algn="l"/>
            <a:r>
              <a:rPr sz="900" b="0" i="0">
                <a:solidFill>
                  <a:srgbClr val="FFFFFF"/>
                </a:solidFill>
                <a:latin typeface="Calibri"/>
              </a:rPr>
              <a:t>Random Forest trained, evaluated, predictions saved to data/predictions/predictions.csv</a:t>
            </a:r>
          </a:p>
        </p:txBody>
      </p:sp>
      <p:sp>
        <p:nvSpPr>
          <p:cNvPr id="31" name="Rectangle 30"/>
          <p:cNvSpPr/>
          <p:nvPr/>
        </p:nvSpPr>
        <p:spPr>
          <a:xfrm>
            <a:off x="10186416" y="2478024"/>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32136" y="2496312"/>
            <a:ext cx="1664208" cy="420624"/>
          </a:xfrm>
          <a:prstGeom prst="rect">
            <a:avLst/>
          </a:prstGeom>
          <a:noFill/>
        </p:spPr>
        <p:txBody>
          <a:bodyPr wrap="square"/>
          <a:lstStyle/>
          <a:p>
            <a:pPr algn="ctr"/>
            <a:r>
              <a:rPr sz="900" b="1" i="0">
                <a:solidFill>
                  <a:srgbClr val="FFFFFF"/>
                </a:solidFill>
                <a:latin typeface="Calibri"/>
              </a:rPr>
              <a:t>✔ DONE</a:t>
            </a:r>
          </a:p>
        </p:txBody>
      </p:sp>
      <p:sp>
        <p:nvSpPr>
          <p:cNvPr id="33" name="Rectangle 32"/>
          <p:cNvSpPr/>
          <p:nvPr/>
        </p:nvSpPr>
        <p:spPr>
          <a:xfrm>
            <a:off x="91440" y="2962656"/>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7160" y="2980944"/>
            <a:ext cx="2670048" cy="420624"/>
          </a:xfrm>
          <a:prstGeom prst="rect">
            <a:avLst/>
          </a:prstGeom>
          <a:noFill/>
        </p:spPr>
        <p:txBody>
          <a:bodyPr wrap="square"/>
          <a:lstStyle/>
          <a:p>
            <a:pPr algn="l"/>
            <a:r>
              <a:rPr sz="900" b="0" i="0">
                <a:solidFill>
                  <a:srgbClr val="FFFFFF"/>
                </a:solidFill>
                <a:latin typeface="Calibri"/>
              </a:rPr>
              <a:t>GPS visualization as an expected outcome</a:t>
            </a:r>
          </a:p>
        </p:txBody>
      </p:sp>
      <p:sp>
        <p:nvSpPr>
          <p:cNvPr id="35" name="Rectangle 34"/>
          <p:cNvSpPr/>
          <p:nvPr/>
        </p:nvSpPr>
        <p:spPr>
          <a:xfrm>
            <a:off x="2852928" y="2962656"/>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98648" y="2980944"/>
            <a:ext cx="7242048" cy="420624"/>
          </a:xfrm>
          <a:prstGeom prst="rect">
            <a:avLst/>
          </a:prstGeom>
          <a:noFill/>
        </p:spPr>
        <p:txBody>
          <a:bodyPr wrap="square"/>
          <a:lstStyle/>
          <a:p>
            <a:pPr algn="l"/>
            <a:r>
              <a:rPr sz="900" b="0" i="0">
                <a:solidFill>
                  <a:srgbClr val="FFFFFF"/>
                </a:solidFill>
                <a:latin typeface="Calibri"/>
              </a:rPr>
              <a:t>Interactive Folium map (road_map.html) with vehicle filter, anomaly markers, road polylines</a:t>
            </a:r>
          </a:p>
        </p:txBody>
      </p:sp>
      <p:sp>
        <p:nvSpPr>
          <p:cNvPr id="37" name="Rectangle 36"/>
          <p:cNvSpPr/>
          <p:nvPr/>
        </p:nvSpPr>
        <p:spPr>
          <a:xfrm>
            <a:off x="10186416" y="2962656"/>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232136" y="2980944"/>
            <a:ext cx="1664208" cy="420624"/>
          </a:xfrm>
          <a:prstGeom prst="rect">
            <a:avLst/>
          </a:prstGeom>
          <a:noFill/>
        </p:spPr>
        <p:txBody>
          <a:bodyPr wrap="square"/>
          <a:lstStyle/>
          <a:p>
            <a:pPr algn="ctr"/>
            <a:r>
              <a:rPr sz="900" b="1" i="0">
                <a:solidFill>
                  <a:srgbClr val="FFFFFF"/>
                </a:solidFill>
                <a:latin typeface="Calibri"/>
              </a:rPr>
              <a:t>✔ DONE</a:t>
            </a:r>
          </a:p>
        </p:txBody>
      </p:sp>
      <p:sp>
        <p:nvSpPr>
          <p:cNvPr id="39" name="Rectangle 38"/>
          <p:cNvSpPr/>
          <p:nvPr/>
        </p:nvSpPr>
        <p:spPr>
          <a:xfrm>
            <a:off x="91440" y="3447288"/>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37160" y="3465576"/>
            <a:ext cx="2670048" cy="420624"/>
          </a:xfrm>
          <a:prstGeom prst="rect">
            <a:avLst/>
          </a:prstGeom>
          <a:noFill/>
        </p:spPr>
        <p:txBody>
          <a:bodyPr wrap="square"/>
          <a:lstStyle/>
          <a:p>
            <a:pPr algn="l"/>
            <a:r>
              <a:rPr sz="900" b="0" i="0">
                <a:solidFill>
                  <a:srgbClr val="FFFFFF"/>
                </a:solidFill>
                <a:latin typeface="Calibri"/>
              </a:rPr>
              <a:t>Three vehicle datasets as a requirement</a:t>
            </a:r>
          </a:p>
        </p:txBody>
      </p:sp>
      <p:sp>
        <p:nvSpPr>
          <p:cNvPr id="41" name="Rectangle 40"/>
          <p:cNvSpPr/>
          <p:nvPr/>
        </p:nvSpPr>
        <p:spPr>
          <a:xfrm>
            <a:off x="2852928" y="3447288"/>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898648" y="3465576"/>
            <a:ext cx="7242048" cy="420624"/>
          </a:xfrm>
          <a:prstGeom prst="rect">
            <a:avLst/>
          </a:prstGeom>
          <a:noFill/>
        </p:spPr>
        <p:txBody>
          <a:bodyPr wrap="square"/>
          <a:lstStyle/>
          <a:p>
            <a:pPr algn="l"/>
            <a:r>
              <a:rPr sz="900" b="0" i="0">
                <a:solidFill>
                  <a:srgbClr val="FFFFFF"/>
                </a:solidFill>
                <a:latin typeface="Calibri"/>
              </a:rPr>
              <a:t>data1.csv (2W), 3W_Auto.csv, 4W_Car.csv collected and validated</a:t>
            </a:r>
          </a:p>
        </p:txBody>
      </p:sp>
      <p:sp>
        <p:nvSpPr>
          <p:cNvPr id="43" name="Rectangle 42"/>
          <p:cNvSpPr/>
          <p:nvPr/>
        </p:nvSpPr>
        <p:spPr>
          <a:xfrm>
            <a:off x="10186416" y="3447288"/>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32136" y="3465576"/>
            <a:ext cx="1664208" cy="420624"/>
          </a:xfrm>
          <a:prstGeom prst="rect">
            <a:avLst/>
          </a:prstGeom>
          <a:noFill/>
        </p:spPr>
        <p:txBody>
          <a:bodyPr wrap="square"/>
          <a:lstStyle/>
          <a:p>
            <a:pPr algn="ctr"/>
            <a:r>
              <a:rPr sz="900" b="1" i="0">
                <a:solidFill>
                  <a:srgbClr val="FFFFFF"/>
                </a:solidFill>
                <a:latin typeface="Calibri"/>
              </a:rPr>
              <a:t>✔ DONE</a:t>
            </a:r>
          </a:p>
        </p:txBody>
      </p:sp>
      <p:sp>
        <p:nvSpPr>
          <p:cNvPr id="45" name="Rectangle 44"/>
          <p:cNvSpPr/>
          <p:nvPr/>
        </p:nvSpPr>
        <p:spPr>
          <a:xfrm>
            <a:off x="91440" y="3931920"/>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7160" y="3950208"/>
            <a:ext cx="2670048" cy="420624"/>
          </a:xfrm>
          <a:prstGeom prst="rect">
            <a:avLst/>
          </a:prstGeom>
          <a:noFill/>
        </p:spPr>
        <p:txBody>
          <a:bodyPr wrap="square"/>
          <a:lstStyle/>
          <a:p>
            <a:pPr algn="l"/>
            <a:r>
              <a:rPr sz="900" b="0" i="0">
                <a:solidFill>
                  <a:srgbClr val="FFFFFF"/>
                </a:solidFill>
                <a:latin typeface="Calibri"/>
              </a:rPr>
              <a:t>Cross-vehicle evaluation as a planned experiment</a:t>
            </a:r>
          </a:p>
        </p:txBody>
      </p:sp>
      <p:sp>
        <p:nvSpPr>
          <p:cNvPr id="47" name="Rectangle 46"/>
          <p:cNvSpPr/>
          <p:nvPr/>
        </p:nvSpPr>
        <p:spPr>
          <a:xfrm>
            <a:off x="2852928" y="3931920"/>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898648" y="3950208"/>
            <a:ext cx="7242048" cy="420624"/>
          </a:xfrm>
          <a:prstGeom prst="rect">
            <a:avLst/>
          </a:prstGeom>
          <a:noFill/>
        </p:spPr>
        <p:txBody>
          <a:bodyPr wrap="square"/>
          <a:lstStyle/>
          <a:p>
            <a:pPr algn="l"/>
            <a:r>
              <a:rPr sz="900" b="0" i="0">
                <a:solidFill>
                  <a:srgbClr val="FFFFFF"/>
                </a:solidFill>
                <a:latin typeface="Calibri"/>
              </a:rPr>
              <a:t>Experiments A, B, C fully executed — 7 experiment rows with accuracy, precision, recall, F1</a:t>
            </a:r>
          </a:p>
        </p:txBody>
      </p:sp>
      <p:sp>
        <p:nvSpPr>
          <p:cNvPr id="49" name="Rectangle 48"/>
          <p:cNvSpPr/>
          <p:nvPr/>
        </p:nvSpPr>
        <p:spPr>
          <a:xfrm>
            <a:off x="10186416" y="3931920"/>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232136" y="3950208"/>
            <a:ext cx="1664208" cy="420624"/>
          </a:xfrm>
          <a:prstGeom prst="rect">
            <a:avLst/>
          </a:prstGeom>
          <a:noFill/>
        </p:spPr>
        <p:txBody>
          <a:bodyPr wrap="square"/>
          <a:lstStyle/>
          <a:p>
            <a:pPr algn="ctr"/>
            <a:r>
              <a:rPr sz="900" b="1" i="0">
                <a:solidFill>
                  <a:srgbClr val="FFFFFF"/>
                </a:solidFill>
                <a:latin typeface="Calibri"/>
              </a:rPr>
              <a:t>✔ DONE</a:t>
            </a:r>
          </a:p>
        </p:txBody>
      </p:sp>
      <p:sp>
        <p:nvSpPr>
          <p:cNvPr id="51" name="Rectangle 50"/>
          <p:cNvSpPr/>
          <p:nvPr/>
        </p:nvSpPr>
        <p:spPr>
          <a:xfrm>
            <a:off x="91440" y="4416552"/>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7160" y="4434840"/>
            <a:ext cx="2670048" cy="420624"/>
          </a:xfrm>
          <a:prstGeom prst="rect">
            <a:avLst/>
          </a:prstGeom>
          <a:noFill/>
        </p:spPr>
        <p:txBody>
          <a:bodyPr wrap="square"/>
          <a:lstStyle/>
          <a:p>
            <a:pPr algn="l"/>
            <a:r>
              <a:rPr sz="900" b="0" i="0">
                <a:solidFill>
                  <a:srgbClr val="FFFFFF"/>
                </a:solidFill>
                <a:latin typeface="Calibri"/>
              </a:rPr>
              <a:t>Pothole / Speed Breaker distinction not detailed</a:t>
            </a:r>
          </a:p>
        </p:txBody>
      </p:sp>
      <p:sp>
        <p:nvSpPr>
          <p:cNvPr id="53" name="Rectangle 52"/>
          <p:cNvSpPr/>
          <p:nvPr/>
        </p:nvSpPr>
        <p:spPr>
          <a:xfrm>
            <a:off x="2852928" y="4416552"/>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898648" y="4434840"/>
            <a:ext cx="7242048" cy="420624"/>
          </a:xfrm>
          <a:prstGeom prst="rect">
            <a:avLst/>
          </a:prstGeom>
          <a:noFill/>
        </p:spPr>
        <p:txBody>
          <a:bodyPr wrap="square"/>
          <a:lstStyle/>
          <a:p>
            <a:pPr algn="l"/>
            <a:r>
              <a:rPr sz="900" b="0" i="0">
                <a:solidFill>
                  <a:srgbClr val="FFFFFF"/>
                </a:solidFill>
                <a:latin typeface="Calibri"/>
              </a:rPr>
              <a:t>Signal-based classification: duration &lt; 2 s → Pothole; duration ≥ 2 s or gyro &gt; 3 rad/s → Speed Breaker</a:t>
            </a:r>
          </a:p>
        </p:txBody>
      </p:sp>
      <p:sp>
        <p:nvSpPr>
          <p:cNvPr id="55" name="Rectangle 54"/>
          <p:cNvSpPr/>
          <p:nvPr/>
        </p:nvSpPr>
        <p:spPr>
          <a:xfrm>
            <a:off x="10186416" y="4416552"/>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232136" y="4434840"/>
            <a:ext cx="1664208" cy="420624"/>
          </a:xfrm>
          <a:prstGeom prst="rect">
            <a:avLst/>
          </a:prstGeom>
          <a:noFill/>
        </p:spPr>
        <p:txBody>
          <a:bodyPr wrap="square"/>
          <a:lstStyle/>
          <a:p>
            <a:pPr algn="ctr"/>
            <a:r>
              <a:rPr sz="900" b="1" i="0">
                <a:solidFill>
                  <a:srgbClr val="FFFFFF"/>
                </a:solidFill>
                <a:latin typeface="Calibri"/>
              </a:rPr>
              <a:t>✔ DONE</a:t>
            </a:r>
          </a:p>
        </p:txBody>
      </p:sp>
      <p:sp>
        <p:nvSpPr>
          <p:cNvPr id="57" name="Rectangle 56"/>
          <p:cNvSpPr/>
          <p:nvPr/>
        </p:nvSpPr>
        <p:spPr>
          <a:xfrm>
            <a:off x="91440" y="4901184"/>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37160" y="4919472"/>
            <a:ext cx="2670048" cy="420624"/>
          </a:xfrm>
          <a:prstGeom prst="rect">
            <a:avLst/>
          </a:prstGeom>
          <a:noFill/>
        </p:spPr>
        <p:txBody>
          <a:bodyPr wrap="square"/>
          <a:lstStyle/>
          <a:p>
            <a:pPr algn="l"/>
            <a:r>
              <a:rPr sz="900" b="0" i="0">
                <a:solidFill>
                  <a:srgbClr val="FFFFFF"/>
                </a:solidFill>
                <a:latin typeface="Calibri"/>
              </a:rPr>
              <a:t>Evaluation metrics listed as expected</a:t>
            </a:r>
          </a:p>
        </p:txBody>
      </p:sp>
      <p:sp>
        <p:nvSpPr>
          <p:cNvPr id="59" name="Rectangle 58"/>
          <p:cNvSpPr/>
          <p:nvPr/>
        </p:nvSpPr>
        <p:spPr>
          <a:xfrm>
            <a:off x="2852928" y="4901184"/>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898648" y="4919472"/>
            <a:ext cx="7242048" cy="420624"/>
          </a:xfrm>
          <a:prstGeom prst="rect">
            <a:avLst/>
          </a:prstGeom>
          <a:noFill/>
        </p:spPr>
        <p:txBody>
          <a:bodyPr wrap="square"/>
          <a:lstStyle/>
          <a:p>
            <a:pPr algn="l"/>
            <a:r>
              <a:rPr sz="900" b="0" i="0">
                <a:solidFill>
                  <a:srgbClr val="FFFFFF"/>
                </a:solidFill>
                <a:latin typeface="Calibri"/>
              </a:rPr>
              <a:t>GroupShuffleSplit session-aware evaluation prevents data leakage between sessions</a:t>
            </a:r>
          </a:p>
        </p:txBody>
      </p:sp>
      <p:sp>
        <p:nvSpPr>
          <p:cNvPr id="61" name="Rectangle 60"/>
          <p:cNvSpPr/>
          <p:nvPr/>
        </p:nvSpPr>
        <p:spPr>
          <a:xfrm>
            <a:off x="10186416" y="4901184"/>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232136" y="4919472"/>
            <a:ext cx="1664208" cy="420624"/>
          </a:xfrm>
          <a:prstGeom prst="rect">
            <a:avLst/>
          </a:prstGeom>
          <a:noFill/>
        </p:spPr>
        <p:txBody>
          <a:bodyPr wrap="square"/>
          <a:lstStyle/>
          <a:p>
            <a:pPr algn="ctr"/>
            <a:r>
              <a:rPr sz="900" b="1" i="0">
                <a:solidFill>
                  <a:srgbClr val="FFFFFF"/>
                </a:solidFill>
                <a:latin typeface="Calibri"/>
              </a:rPr>
              <a:t>✔ DONE</a:t>
            </a:r>
          </a:p>
        </p:txBody>
      </p:sp>
      <p:sp>
        <p:nvSpPr>
          <p:cNvPr id="63" name="Rectangle 62"/>
          <p:cNvSpPr/>
          <p:nvPr/>
        </p:nvSpPr>
        <p:spPr>
          <a:xfrm>
            <a:off x="91440" y="5385816"/>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37160" y="5404104"/>
            <a:ext cx="2670048" cy="420624"/>
          </a:xfrm>
          <a:prstGeom prst="rect">
            <a:avLst/>
          </a:prstGeom>
          <a:noFill/>
        </p:spPr>
        <p:txBody>
          <a:bodyPr wrap="square"/>
          <a:lstStyle/>
          <a:p>
            <a:pPr algn="l"/>
            <a:r>
              <a:rPr sz="900" b="0" i="0">
                <a:solidFill>
                  <a:srgbClr val="FFFFFF"/>
                </a:solidFill>
                <a:latin typeface="Calibri"/>
              </a:rPr>
              <a:t>Vehicle type mentioned as metadata — not confirmed in code</a:t>
            </a:r>
          </a:p>
        </p:txBody>
      </p:sp>
      <p:sp>
        <p:nvSpPr>
          <p:cNvPr id="65" name="Rectangle 64"/>
          <p:cNvSpPr/>
          <p:nvPr/>
        </p:nvSpPr>
        <p:spPr>
          <a:xfrm>
            <a:off x="2852928" y="5385816"/>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898648" y="5404104"/>
            <a:ext cx="7242048" cy="420624"/>
          </a:xfrm>
          <a:prstGeom prst="rect">
            <a:avLst/>
          </a:prstGeom>
          <a:noFill/>
        </p:spPr>
        <p:txBody>
          <a:bodyPr wrap="square"/>
          <a:lstStyle/>
          <a:p>
            <a:pPr algn="l"/>
            <a:r>
              <a:rPr sz="900" b="0" i="0">
                <a:solidFill>
                  <a:srgbClr val="FFFFFF"/>
                </a:solidFill>
                <a:latin typeface="Calibri"/>
              </a:rPr>
              <a:t>vehicle_type column preserved as metadata throughout — never used as ML class label</a:t>
            </a:r>
          </a:p>
        </p:txBody>
      </p:sp>
      <p:sp>
        <p:nvSpPr>
          <p:cNvPr id="67" name="Rectangle 66"/>
          <p:cNvSpPr/>
          <p:nvPr/>
        </p:nvSpPr>
        <p:spPr>
          <a:xfrm>
            <a:off x="10186416" y="5385816"/>
            <a:ext cx="1737360" cy="457200"/>
          </a:xfrm>
          <a:prstGeom prst="rect">
            <a:avLst/>
          </a:prstGeom>
          <a:solidFill>
            <a:srgbClr val="00C864"/>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232136" y="5404104"/>
            <a:ext cx="1664208" cy="420624"/>
          </a:xfrm>
          <a:prstGeom prst="rect">
            <a:avLst/>
          </a:prstGeom>
          <a:noFill/>
        </p:spPr>
        <p:txBody>
          <a:bodyPr wrap="square"/>
          <a:lstStyle/>
          <a:p>
            <a:pPr algn="ctr"/>
            <a:r>
              <a:rPr sz="900" b="1" i="0">
                <a:solidFill>
                  <a:srgbClr val="FFFFFF"/>
                </a:solidFill>
                <a:latin typeface="Calibri"/>
              </a:rPr>
              <a:t>✔ CONFIRMED</a:t>
            </a:r>
          </a:p>
        </p:txBody>
      </p:sp>
      <p:sp>
        <p:nvSpPr>
          <p:cNvPr id="69" name="Rectangle 68"/>
          <p:cNvSpPr/>
          <p:nvPr/>
        </p:nvSpPr>
        <p:spPr>
          <a:xfrm>
            <a:off x="91440" y="5870448"/>
            <a:ext cx="2743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37160" y="5888736"/>
            <a:ext cx="2670048" cy="420624"/>
          </a:xfrm>
          <a:prstGeom prst="rect">
            <a:avLst/>
          </a:prstGeom>
          <a:noFill/>
        </p:spPr>
        <p:txBody>
          <a:bodyPr wrap="square"/>
          <a:lstStyle/>
          <a:p>
            <a:pPr algn="l"/>
            <a:r>
              <a:rPr sz="900" b="0" i="0">
                <a:solidFill>
                  <a:srgbClr val="FFFFFF"/>
                </a:solidFill>
                <a:latin typeface="Calibri"/>
              </a:rPr>
              <a:t>Pothole class performance not known</a:t>
            </a:r>
          </a:p>
        </p:txBody>
      </p:sp>
      <p:sp>
        <p:nvSpPr>
          <p:cNvPr id="71" name="Rectangle 70"/>
          <p:cNvSpPr/>
          <p:nvPr/>
        </p:nvSpPr>
        <p:spPr>
          <a:xfrm>
            <a:off x="2852928" y="5870448"/>
            <a:ext cx="7315200" cy="457200"/>
          </a:xfrm>
          <a:prstGeom prst="rect">
            <a:avLst/>
          </a:prstGeom>
          <a:solidFill>
            <a:srgbClr val="1A2E45"/>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898648" y="5888736"/>
            <a:ext cx="7242048" cy="420624"/>
          </a:xfrm>
          <a:prstGeom prst="rect">
            <a:avLst/>
          </a:prstGeom>
          <a:noFill/>
        </p:spPr>
        <p:txBody>
          <a:bodyPr wrap="square"/>
          <a:lstStyle/>
          <a:p>
            <a:pPr algn="l"/>
            <a:r>
              <a:rPr sz="900" b="0" i="0">
                <a:solidFill>
                  <a:srgbClr val="FFFFFF"/>
                </a:solidFill>
                <a:latin typeface="Calibri"/>
              </a:rPr>
              <a:t>POTHOLE F1 = 0.000 due to 7 labeled windows — clearly documented limitation</a:t>
            </a:r>
          </a:p>
        </p:txBody>
      </p:sp>
      <p:sp>
        <p:nvSpPr>
          <p:cNvPr id="73" name="Rectangle 72"/>
          <p:cNvSpPr/>
          <p:nvPr/>
        </p:nvSpPr>
        <p:spPr>
          <a:xfrm>
            <a:off x="10186416" y="5870448"/>
            <a:ext cx="1737360" cy="457200"/>
          </a:xfrm>
          <a:prstGeom prst="rect">
            <a:avLst/>
          </a:prstGeom>
          <a:solidFill>
            <a:srgbClr val="FF8C00"/>
          </a:solidFill>
          <a:ln w="6350">
            <a:solidFill>
              <a:srgbClr val="305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0232136" y="5888736"/>
            <a:ext cx="1664208" cy="420624"/>
          </a:xfrm>
          <a:prstGeom prst="rect">
            <a:avLst/>
          </a:prstGeom>
          <a:noFill/>
        </p:spPr>
        <p:txBody>
          <a:bodyPr wrap="square"/>
          <a:lstStyle/>
          <a:p>
            <a:pPr algn="ctr"/>
            <a:r>
              <a:rPr sz="900" b="1" i="0">
                <a:solidFill>
                  <a:srgbClr val="FFFFFF"/>
                </a:solidFill>
                <a:latin typeface="Calibri"/>
              </a:rPr>
              <a:t>⏳ PENDING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Text 4"/>
          <p:cNvSpPr txBox="1"/>
          <p:nvPr/>
        </p:nvSpPr>
        <p:spPr>
          <a:xfrm>
            <a:off x="11064240" y="6080760"/>
            <a:ext cx="457200" cy="274320"/>
          </a:xfrm>
          <a:prstGeom prst="rect">
            <a:avLst/>
          </a:prstGeom>
          <a:ln/>
        </p:spPr>
        <p:style>
          <a:lnRef idx="3">
            <a:schemeClr val="lt1"/>
          </a:lnRef>
          <a:fillRef idx="1">
            <a:schemeClr val="dk1"/>
          </a:fillRef>
          <a:effectRef idx="1">
            <a:schemeClr val="dk1"/>
          </a:effectRef>
          <a:fontRef idx="minor">
            <a:schemeClr val="lt1"/>
          </a:fontRef>
        </p:style>
        <p:txBody>
          <a:bodyPr wrap="square" lIns="0" tIns="0" rIns="0" bIns="0" rtlCol="0" anchor="ctr"/>
          <a:lstStyle/>
          <a:p>
            <a:pPr marL="0" indent="0" algn="r">
              <a:buNone/>
            </a:pPr>
            <a:r>
              <a:rPr lang="en-US" sz="900" dirty="0">
                <a:solidFill>
                  <a:srgbClr val="888888"/>
                </a:solidFill>
                <a:latin typeface="Calibri" pitchFamily="34" charset="0"/>
                <a:ea typeface="Calibri" pitchFamily="34" charset="-122"/>
                <a:cs typeface="Calibri" pitchFamily="34" charset="-120"/>
              </a:rPr>
              <a:t>6</a:t>
            </a:r>
            <a:endParaRPr lang="en-US" sz="900" dirty="0"/>
          </a:p>
        </p:txBody>
      </p:sp>
      <p:sp>
        <p:nvSpPr>
          <p:cNvPr id="5" name="Text 3"/>
          <p:cNvSpPr txBox="1"/>
          <p:nvPr/>
        </p:nvSpPr>
        <p:spPr>
          <a:xfrm>
            <a:off x="640080" y="6080760"/>
            <a:ext cx="8229600" cy="274320"/>
          </a:xfrm>
          <a:prstGeom prst="rect">
            <a:avLst/>
          </a:prstGeom>
          <a:ln/>
        </p:spPr>
        <p:style>
          <a:lnRef idx="3">
            <a:schemeClr val="lt1"/>
          </a:lnRef>
          <a:fillRef idx="1">
            <a:schemeClr val="dk1"/>
          </a:fillRef>
          <a:effectRef idx="1">
            <a:schemeClr val="dk1"/>
          </a:effectRef>
          <a:fontRef idx="minor">
            <a:schemeClr val="lt1"/>
          </a:fontRef>
        </p:style>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KL University, Hyderabad  |  First Review</a:t>
            </a:r>
            <a:endParaRPr lang="en-US" sz="900" dirty="0"/>
          </a:p>
        </p:txBody>
      </p:sp>
      <p:sp>
        <p:nvSpPr>
          <p:cNvPr id="3" name="Text 1"/>
          <p:cNvSpPr txBox="1"/>
          <p:nvPr/>
        </p:nvSpPr>
        <p:spPr>
          <a:xfrm>
            <a:off x="822960" y="1371600"/>
            <a:ext cx="10515600" cy="4389120"/>
          </a:xfrm>
          <a:prstGeom prst="rect">
            <a:avLst/>
          </a:prstGeom>
          <a:ln/>
        </p:spPr>
        <p:style>
          <a:lnRef idx="3">
            <a:schemeClr val="lt1"/>
          </a:lnRef>
          <a:fillRef idx="1">
            <a:schemeClr val="dk1"/>
          </a:fillRef>
          <a:effectRef idx="1">
            <a:schemeClr val="dk1"/>
          </a:effectRef>
          <a:fontRef idx="minor">
            <a:schemeClr val="lt1"/>
          </a:fontRef>
        </p:style>
        <p:txBody>
          <a:bodyPr wrap="square" lIns="0" tIns="0" rIns="0" bIns="0" rtlCol="0" anchor="t"/>
          <a:lstStyle/>
          <a:p>
            <a:r>
              <a:rPr lang="en-US" b="1" dirty="0"/>
              <a:t>1. Sattar et al. (2018) — Road Surface Monitoring Using Smartphone Sensors: A Review</a:t>
            </a:r>
            <a:endParaRPr lang="en-US" dirty="0"/>
          </a:p>
          <a:p>
            <a:pPr marL="285750" lvl="0" indent="-285750">
              <a:buFont typeface="Wingdings" panose="05000000000000000000" pitchFamily="2" charset="2"/>
              <a:buChar char="v"/>
            </a:pPr>
            <a:r>
              <a:rPr lang="en-US" b="1" dirty="0"/>
              <a:t>Method:</a:t>
            </a:r>
            <a:r>
              <a:rPr lang="en-US" dirty="0"/>
              <a:t> Reviewed smartphone-based road monitoring using accelerometer, gyroscope and GPS. </a:t>
            </a:r>
          </a:p>
          <a:p>
            <a:pPr marL="285750" lvl="0" indent="-285750">
              <a:buFont typeface="Wingdings" panose="05000000000000000000" pitchFamily="2" charset="2"/>
              <a:buChar char="v"/>
            </a:pPr>
            <a:r>
              <a:rPr lang="en-US" b="1" dirty="0"/>
              <a:t>Observation:</a:t>
            </a:r>
            <a:r>
              <a:rPr lang="en-US" dirty="0"/>
              <a:t> Sensor position, vehicle suspension and speed can influence measurements. </a:t>
            </a:r>
          </a:p>
          <a:p>
            <a:pPr marL="285750" lvl="0" indent="-285750">
              <a:buFont typeface="Wingdings" panose="05000000000000000000" pitchFamily="2" charset="2"/>
              <a:buChar char="v"/>
            </a:pPr>
            <a:r>
              <a:rPr lang="en-US" b="1" dirty="0"/>
              <a:t>Gap:</a:t>
            </a:r>
            <a:r>
              <a:rPr lang="en-US" dirty="0"/>
              <a:t> Robustness to changing vehicle and operating conditions remains challenging. </a:t>
            </a:r>
          </a:p>
          <a:p>
            <a:pPr lvl="0"/>
            <a:endParaRPr lang="en-US" dirty="0"/>
          </a:p>
          <a:p>
            <a:r>
              <a:rPr lang="en-US" b="1" dirty="0"/>
              <a:t>2. Singh et al. (2017) — Smart Patrolling</a:t>
            </a:r>
            <a:endParaRPr lang="en-US" dirty="0"/>
          </a:p>
          <a:p>
            <a:pPr marL="285750" lvl="0" indent="-285750">
              <a:buFont typeface="Wingdings" panose="05000000000000000000" pitchFamily="2" charset="2"/>
              <a:buChar char="v"/>
            </a:pPr>
            <a:r>
              <a:rPr lang="en-US" b="1" dirty="0"/>
              <a:t>Method:</a:t>
            </a:r>
            <a:r>
              <a:rPr lang="en-US" dirty="0"/>
              <a:t> Smartphone accelerometer + GPS with road-event detection and crowdsourcing. </a:t>
            </a:r>
          </a:p>
          <a:p>
            <a:pPr marL="285750" lvl="0" indent="-285750">
              <a:buFont typeface="Wingdings" panose="05000000000000000000" pitchFamily="2" charset="2"/>
              <a:buChar char="v"/>
            </a:pPr>
            <a:r>
              <a:rPr lang="en-US" b="1" dirty="0"/>
              <a:t>Observation:</a:t>
            </a:r>
            <a:r>
              <a:rPr lang="en-US" dirty="0"/>
              <a:t> Addressed variable speed, vehicles and road conditions. </a:t>
            </a:r>
          </a:p>
          <a:p>
            <a:pPr marL="285750" lvl="0" indent="-285750">
              <a:buFont typeface="Wingdings" panose="05000000000000000000" pitchFamily="2" charset="2"/>
              <a:buChar char="v"/>
            </a:pPr>
            <a:r>
              <a:rPr lang="en-US" b="1" dirty="0"/>
              <a:t>Limitation:</a:t>
            </a:r>
            <a:r>
              <a:rPr lang="en-US" dirty="0"/>
              <a:t> Robust performance across changing conditions remains an important challenge. </a:t>
            </a:r>
          </a:p>
          <a:p>
            <a:pPr marL="285750" lvl="0" indent="-285750">
              <a:buFont typeface="Wingdings" panose="05000000000000000000" pitchFamily="2" charset="2"/>
              <a:buChar char="v"/>
            </a:pPr>
            <a:endParaRPr lang="en-US" dirty="0"/>
          </a:p>
          <a:p>
            <a:r>
              <a:rPr lang="en-US" b="1" dirty="0"/>
              <a:t>3. Wu et al. (2020) — Automated Machine-Learning Approach for Road Pothole Detection</a:t>
            </a:r>
            <a:endParaRPr lang="en-US" dirty="0"/>
          </a:p>
          <a:p>
            <a:pPr marL="285750" lvl="0" indent="-285750">
              <a:buFont typeface="Wingdings" panose="05000000000000000000" pitchFamily="2" charset="2"/>
              <a:buChar char="v"/>
            </a:pPr>
            <a:r>
              <a:rPr lang="en-US" b="1" dirty="0"/>
              <a:t>Method:</a:t>
            </a:r>
            <a:r>
              <a:rPr lang="en-US" dirty="0"/>
              <a:t> Smartphone accelerometer + GPS, preprocessing, sliding windows, time/frequency features and ML. </a:t>
            </a:r>
          </a:p>
          <a:p>
            <a:pPr marL="285750" lvl="0" indent="-285750">
              <a:buFont typeface="Wingdings" panose="05000000000000000000" pitchFamily="2" charset="2"/>
              <a:buChar char="v"/>
            </a:pPr>
            <a:r>
              <a:rPr lang="en-US" b="1" dirty="0"/>
              <a:t>Result:</a:t>
            </a:r>
            <a:r>
              <a:rPr lang="en-US" dirty="0"/>
              <a:t> Demonstrated effective smartphone-based pothole detection. </a:t>
            </a:r>
          </a:p>
          <a:p>
            <a:pPr marL="285750" lvl="0" indent="-285750">
              <a:buFont typeface="Wingdings" panose="05000000000000000000" pitchFamily="2" charset="2"/>
              <a:buChar char="v"/>
            </a:pPr>
            <a:r>
              <a:rPr lang="en-US" b="1" dirty="0"/>
              <a:t>Limitation:</a:t>
            </a:r>
            <a:r>
              <a:rPr lang="en-US" dirty="0"/>
              <a:t> Evaluation was performed under specific experimental conditions.</a:t>
            </a:r>
          </a:p>
          <a:p>
            <a:pPr marL="228600" indent="-228600">
              <a:lnSpc>
                <a:spcPct val="110000"/>
              </a:lnSpc>
              <a:spcAft>
                <a:spcPts val="1600"/>
              </a:spcAft>
              <a:buSzPct val="100000"/>
              <a:buChar cha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5A7B75-7FAE-E607-19FC-E84AF56D967E}"/>
              </a:ext>
            </a:extLst>
          </p:cNvPr>
          <p:cNvSpPr txBox="1"/>
          <p:nvPr/>
        </p:nvSpPr>
        <p:spPr>
          <a:xfrm>
            <a:off x="1203648" y="1028343"/>
            <a:ext cx="9540551" cy="4801314"/>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buNone/>
            </a:pPr>
            <a:r>
              <a:rPr lang="en-US" b="1" dirty="0"/>
              <a:t>4. Alam et al. (2020) — Device, Vehicle and Road-Surface Independent Road Profiling</a:t>
            </a:r>
          </a:p>
          <a:p>
            <a:pPr>
              <a:buNone/>
            </a:pPr>
            <a:endParaRPr lang="en-US" dirty="0"/>
          </a:p>
          <a:p>
            <a:pPr marL="342900" lvl="0" indent="-342900">
              <a:buFont typeface="Wingdings" panose="05000000000000000000" pitchFamily="2" charset="2"/>
              <a:buChar char="v"/>
            </a:pPr>
            <a:r>
              <a:rPr lang="en-US" b="1" dirty="0"/>
              <a:t>Method:</a:t>
            </a:r>
            <a:r>
              <a:rPr lang="en-US" dirty="0"/>
              <a:t> Smartphone accelerometer/gyroscope, orientation correction, ML and GPS across different vehicle types. </a:t>
            </a:r>
          </a:p>
          <a:p>
            <a:pPr marL="342900" lvl="0" indent="-342900">
              <a:buFont typeface="Wingdings" panose="05000000000000000000" pitchFamily="2" charset="2"/>
              <a:buChar char="v"/>
            </a:pPr>
            <a:r>
              <a:rPr lang="en-US" b="1" dirty="0"/>
              <a:t>Observation:</a:t>
            </a:r>
            <a:r>
              <a:rPr lang="en-US" dirty="0"/>
              <a:t> Investigated device and vehicle independence. </a:t>
            </a:r>
          </a:p>
          <a:p>
            <a:pPr marL="342900" lvl="0" indent="-342900">
              <a:buFont typeface="Wingdings" panose="05000000000000000000" pitchFamily="2" charset="2"/>
              <a:buChar char="v"/>
            </a:pPr>
            <a:r>
              <a:rPr lang="en-US" b="1" dirty="0"/>
              <a:t>Limitation:</a:t>
            </a:r>
            <a:r>
              <a:rPr lang="en-US" dirty="0"/>
              <a:t> Real-world variability and generalization remain important considerations. </a:t>
            </a:r>
          </a:p>
          <a:p>
            <a:pPr>
              <a:buNone/>
            </a:pPr>
            <a:r>
              <a:rPr lang="en-US" b="1" dirty="0"/>
              <a:t>5. </a:t>
            </a:r>
            <a:r>
              <a:rPr lang="en-US" b="1" dirty="0" err="1"/>
              <a:t>Zareei</a:t>
            </a:r>
            <a:r>
              <a:rPr lang="en-US" b="1" dirty="0"/>
              <a:t> et al. (2025) — Machine Learning Model for Road Anomaly Detection</a:t>
            </a:r>
          </a:p>
          <a:p>
            <a:pPr>
              <a:buNone/>
            </a:pPr>
            <a:endParaRPr lang="en-US" dirty="0"/>
          </a:p>
          <a:p>
            <a:pPr marL="342900" lvl="0" indent="-342900">
              <a:buFont typeface="Wingdings" panose="05000000000000000000" pitchFamily="2" charset="2"/>
              <a:buChar char="v"/>
            </a:pPr>
            <a:r>
              <a:rPr lang="en-US" b="1" dirty="0"/>
              <a:t>Method:</a:t>
            </a:r>
            <a:r>
              <a:rPr lang="en-US" dirty="0"/>
              <a:t> Smartphone accelerometer + gyroscope + GPS, filtering and CNN-based classification. </a:t>
            </a:r>
          </a:p>
          <a:p>
            <a:pPr marL="342900" lvl="0" indent="-342900">
              <a:buFont typeface="Wingdings" panose="05000000000000000000" pitchFamily="2" charset="2"/>
              <a:buChar char="v"/>
            </a:pPr>
            <a:r>
              <a:rPr lang="en-US" b="1" dirty="0"/>
              <a:t>Observation:</a:t>
            </a:r>
            <a:r>
              <a:rPr lang="en-US" dirty="0"/>
              <a:t> Demonstrated that combining inertial sensors can improve classification. </a:t>
            </a:r>
          </a:p>
          <a:p>
            <a:pPr marL="342900" lvl="0" indent="-342900">
              <a:buFont typeface="Wingdings" panose="05000000000000000000" pitchFamily="2" charset="2"/>
              <a:buChar char="v"/>
            </a:pPr>
            <a:r>
              <a:rPr lang="en-US" b="1" dirty="0"/>
              <a:t>Limitation:</a:t>
            </a:r>
            <a:r>
              <a:rPr lang="en-US" dirty="0"/>
              <a:t> Further evaluation across broader speed and motion conditions is relevant. </a:t>
            </a:r>
          </a:p>
          <a:p>
            <a:pPr marL="342900" lvl="0" indent="-342900">
              <a:buFont typeface="Arial" panose="020B0604020202020204" pitchFamily="34" charset="0"/>
              <a:buChar char="•"/>
            </a:pPr>
            <a:endParaRPr lang="en-US" dirty="0"/>
          </a:p>
          <a:p>
            <a:pPr>
              <a:buNone/>
            </a:pPr>
            <a:r>
              <a:rPr lang="en-US" b="1" dirty="0"/>
              <a:t>Key Observation</a:t>
            </a:r>
          </a:p>
          <a:p>
            <a:pPr>
              <a:buNone/>
            </a:pPr>
            <a:endParaRPr lang="en-US" b="1" dirty="0"/>
          </a:p>
          <a:p>
            <a:pPr marL="285750" indent="-285750">
              <a:buFont typeface="Wingdings" panose="05000000000000000000" pitchFamily="2" charset="2"/>
              <a:buChar char="Ø"/>
            </a:pPr>
            <a:r>
              <a:rPr lang="en-US" b="1" dirty="0"/>
              <a:t>Smartphone-based road-anomaly detection is already well established. Our focus is on evaluating robustness under changing speed and vehicle-motion conditions using a DSP-centered processing pipeline.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09728"/>
            <a:ext cx="10515600" cy="640080"/>
          </a:xfrm>
          <a:prstGeom prst="rect">
            <a:avLst/>
          </a:prstGeom>
          <a:noFill/>
        </p:spPr>
        <p:txBody>
          <a:bodyPr wrap="square"/>
          <a:lstStyle/>
          <a:p>
            <a:pPr algn="l"/>
            <a:r>
              <a:rPr sz="2800" b="1" i="0">
                <a:solidFill>
                  <a:srgbClr val="FFFFFF"/>
                </a:solidFill>
                <a:latin typeface="Calibri"/>
              </a:rPr>
              <a:t>Limitations &amp; Future Work</a:t>
            </a:r>
          </a:p>
        </p:txBody>
      </p:sp>
      <p:sp>
        <p:nvSpPr>
          <p:cNvPr id="5" name="TextBox 4"/>
          <p:cNvSpPr txBox="1"/>
          <p:nvPr/>
        </p:nvSpPr>
        <p:spPr>
          <a:xfrm>
            <a:off x="228600" y="658368"/>
            <a:ext cx="10515600" cy="320040"/>
          </a:xfrm>
          <a:prstGeom prst="rect">
            <a:avLst/>
          </a:prstGeom>
          <a:noFill/>
        </p:spPr>
        <p:txBody>
          <a:bodyPr wrap="square"/>
          <a:lstStyle/>
          <a:p>
            <a:pPr algn="l"/>
            <a:r>
              <a:rPr sz="1300" b="0" i="0">
                <a:solidFill>
                  <a:srgbClr val="00C8FF"/>
                </a:solidFill>
                <a:latin typeface="Calibri"/>
              </a:rPr>
              <a:t>Based on actual implementation gaps and experimental observations</a:t>
            </a:r>
          </a:p>
        </p:txBody>
      </p:sp>
      <p:sp>
        <p:nvSpPr>
          <p:cNvPr id="6" name="Rectangle 5"/>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0" y="6510528"/>
            <a:ext cx="2468880" cy="274320"/>
          </a:xfrm>
          <a:prstGeom prst="rect">
            <a:avLst/>
          </a:prstGeom>
          <a:noFill/>
        </p:spPr>
        <p:txBody>
          <a:bodyPr wrap="square"/>
          <a:lstStyle/>
          <a:p>
            <a:pPr algn="r"/>
            <a:r>
              <a:rPr sz="900" b="1" i="0">
                <a:solidFill>
                  <a:srgbClr val="00C8FF"/>
                </a:solidFill>
                <a:latin typeface="Calibri"/>
              </a:rPr>
              <a:t>RoadSense AI</a:t>
            </a:r>
          </a:p>
        </p:txBody>
      </p:sp>
      <p:sp>
        <p:nvSpPr>
          <p:cNvPr id="9" name="TextBox 8"/>
          <p:cNvSpPr txBox="1"/>
          <p:nvPr/>
        </p:nvSpPr>
        <p:spPr>
          <a:xfrm>
            <a:off x="91440" y="1051560"/>
            <a:ext cx="5943600" cy="274320"/>
          </a:xfrm>
          <a:prstGeom prst="rect">
            <a:avLst/>
          </a:prstGeom>
          <a:noFill/>
        </p:spPr>
        <p:txBody>
          <a:bodyPr wrap="square"/>
          <a:lstStyle/>
          <a:p>
            <a:pPr algn="l"/>
            <a:r>
              <a:rPr sz="1300" b="1" i="0">
                <a:solidFill>
                  <a:srgbClr val="00C8FF"/>
                </a:solidFill>
                <a:latin typeface="Calibri"/>
              </a:rPr>
              <a:t>Current Limitations</a:t>
            </a:r>
          </a:p>
        </p:txBody>
      </p:sp>
      <p:sp>
        <p:nvSpPr>
          <p:cNvPr id="10" name="Rectangle 9"/>
          <p:cNvSpPr/>
          <p:nvPr/>
        </p:nvSpPr>
        <p:spPr>
          <a:xfrm>
            <a:off x="91440" y="1417320"/>
            <a:ext cx="5943600" cy="896112"/>
          </a:xfrm>
          <a:prstGeom prst="rect">
            <a:avLst/>
          </a:prstGeom>
          <a:solidFill>
            <a:srgbClr val="1A2E45"/>
          </a:solidFill>
          <a:ln w="1016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1440" y="1417320"/>
            <a:ext cx="256032" cy="896112"/>
          </a:xfrm>
          <a:prstGeom prst="rect">
            <a:avLst/>
          </a:prstGeom>
          <a:solidFill>
            <a:srgbClr val="F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 y="1417320"/>
            <a:ext cx="256032" cy="896112"/>
          </a:xfrm>
          <a:prstGeom prst="rect">
            <a:avLst/>
          </a:prstGeom>
          <a:noFill/>
        </p:spPr>
        <p:txBody>
          <a:bodyPr wrap="square"/>
          <a:lstStyle/>
          <a:p>
            <a:pPr algn="ctr"/>
            <a:r>
              <a:rPr sz="1200" b="1" i="0">
                <a:solidFill>
                  <a:srgbClr val="FFFFFF"/>
                </a:solidFill>
                <a:latin typeface="Calibri"/>
              </a:rPr>
              <a:t>1</a:t>
            </a:r>
          </a:p>
        </p:txBody>
      </p:sp>
      <p:sp>
        <p:nvSpPr>
          <p:cNvPr id="13" name="TextBox 12"/>
          <p:cNvSpPr txBox="1"/>
          <p:nvPr/>
        </p:nvSpPr>
        <p:spPr>
          <a:xfrm>
            <a:off x="393192" y="1490472"/>
            <a:ext cx="5596128" cy="777240"/>
          </a:xfrm>
          <a:prstGeom prst="rect">
            <a:avLst/>
          </a:prstGeom>
          <a:noFill/>
        </p:spPr>
        <p:txBody>
          <a:bodyPr wrap="square"/>
          <a:lstStyle/>
          <a:p>
            <a:pPr algn="l"/>
            <a:r>
              <a:rPr sz="1000" b="0" i="0">
                <a:solidFill>
                  <a:srgbClr val="D0D8E8"/>
                </a:solidFill>
                <a:latin typeface="Calibri"/>
              </a:rPr>
              <a:t>POTHOLE class F1 = 0.000 — only 7 labeled windows available
(field datasets labelled 'OTHER' by default)</a:t>
            </a:r>
          </a:p>
        </p:txBody>
      </p:sp>
      <p:sp>
        <p:nvSpPr>
          <p:cNvPr id="14" name="Rectangle 13"/>
          <p:cNvSpPr/>
          <p:nvPr/>
        </p:nvSpPr>
        <p:spPr>
          <a:xfrm>
            <a:off x="91440" y="2359152"/>
            <a:ext cx="5943600" cy="896112"/>
          </a:xfrm>
          <a:prstGeom prst="rect">
            <a:avLst/>
          </a:prstGeom>
          <a:solidFill>
            <a:srgbClr val="1A2E45"/>
          </a:solidFill>
          <a:ln w="1016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1440" y="2359152"/>
            <a:ext cx="256032" cy="896112"/>
          </a:xfrm>
          <a:prstGeom prst="rect">
            <a:avLst/>
          </a:prstGeom>
          <a:solidFill>
            <a:srgbClr val="F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 y="2359152"/>
            <a:ext cx="256032" cy="896112"/>
          </a:xfrm>
          <a:prstGeom prst="rect">
            <a:avLst/>
          </a:prstGeom>
          <a:noFill/>
        </p:spPr>
        <p:txBody>
          <a:bodyPr wrap="square"/>
          <a:lstStyle/>
          <a:p>
            <a:pPr algn="ctr"/>
            <a:r>
              <a:rPr sz="1200" b="1" i="0">
                <a:solidFill>
                  <a:srgbClr val="FFFFFF"/>
                </a:solidFill>
                <a:latin typeface="Calibri"/>
              </a:rPr>
              <a:t>2</a:t>
            </a:r>
          </a:p>
        </p:txBody>
      </p:sp>
      <p:sp>
        <p:nvSpPr>
          <p:cNvPr id="17" name="TextBox 16"/>
          <p:cNvSpPr txBox="1"/>
          <p:nvPr/>
        </p:nvSpPr>
        <p:spPr>
          <a:xfrm>
            <a:off x="393192" y="2432304"/>
            <a:ext cx="5596128" cy="777240"/>
          </a:xfrm>
          <a:prstGeom prst="rect">
            <a:avLst/>
          </a:prstGeom>
          <a:noFill/>
        </p:spPr>
        <p:txBody>
          <a:bodyPr wrap="square"/>
          <a:lstStyle/>
          <a:p>
            <a:pPr algn="l"/>
            <a:r>
              <a:rPr sz="1000" b="0" i="0">
                <a:solidFill>
                  <a:srgbClr val="D0D8E8"/>
                </a:solidFill>
                <a:latin typeface="Calibri"/>
              </a:rPr>
              <a:t>DSP ablation stages C–E show near-zero accuracy — cross-dataset
Median-MAD scaling requires recalibration within single dataset</a:t>
            </a:r>
          </a:p>
        </p:txBody>
      </p:sp>
      <p:sp>
        <p:nvSpPr>
          <p:cNvPr id="18" name="Rectangle 17"/>
          <p:cNvSpPr/>
          <p:nvPr/>
        </p:nvSpPr>
        <p:spPr>
          <a:xfrm>
            <a:off x="91440" y="3300984"/>
            <a:ext cx="5943600" cy="896112"/>
          </a:xfrm>
          <a:prstGeom prst="rect">
            <a:avLst/>
          </a:prstGeom>
          <a:solidFill>
            <a:srgbClr val="1A2E45"/>
          </a:solidFill>
          <a:ln w="1016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 y="3300984"/>
            <a:ext cx="256032" cy="896112"/>
          </a:xfrm>
          <a:prstGeom prst="rect">
            <a:avLst/>
          </a:prstGeom>
          <a:solidFill>
            <a:srgbClr val="F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 y="3300984"/>
            <a:ext cx="256032" cy="896112"/>
          </a:xfrm>
          <a:prstGeom prst="rect">
            <a:avLst/>
          </a:prstGeom>
          <a:noFill/>
        </p:spPr>
        <p:txBody>
          <a:bodyPr wrap="square"/>
          <a:lstStyle/>
          <a:p>
            <a:pPr algn="ctr"/>
            <a:r>
              <a:rPr sz="1200" b="1" i="0">
                <a:solidFill>
                  <a:srgbClr val="FFFFFF"/>
                </a:solidFill>
                <a:latin typeface="Calibri"/>
              </a:rPr>
              <a:t>3</a:t>
            </a:r>
          </a:p>
        </p:txBody>
      </p:sp>
      <p:sp>
        <p:nvSpPr>
          <p:cNvPr id="21" name="TextBox 20"/>
          <p:cNvSpPr txBox="1"/>
          <p:nvPr/>
        </p:nvSpPr>
        <p:spPr>
          <a:xfrm>
            <a:off x="393192" y="3374136"/>
            <a:ext cx="5596128" cy="777240"/>
          </a:xfrm>
          <a:prstGeom prst="rect">
            <a:avLst/>
          </a:prstGeom>
          <a:noFill/>
        </p:spPr>
        <p:txBody>
          <a:bodyPr wrap="square"/>
          <a:lstStyle/>
          <a:p>
            <a:pPr algn="l"/>
            <a:r>
              <a:rPr sz="1000" b="0" i="0">
                <a:solidFill>
                  <a:srgbClr val="D0D8E8"/>
                </a:solidFill>
                <a:latin typeface="Calibri"/>
              </a:rPr>
              <a:t>2-Wheeler recording is shorter (926 s vs 2,387 s) — unequal
dataset sizes affect cross-vehicle evaluation fairness</a:t>
            </a:r>
          </a:p>
        </p:txBody>
      </p:sp>
      <p:sp>
        <p:nvSpPr>
          <p:cNvPr id="22" name="Rectangle 21"/>
          <p:cNvSpPr/>
          <p:nvPr/>
        </p:nvSpPr>
        <p:spPr>
          <a:xfrm>
            <a:off x="91440" y="4242816"/>
            <a:ext cx="5943600" cy="896112"/>
          </a:xfrm>
          <a:prstGeom prst="rect">
            <a:avLst/>
          </a:prstGeom>
          <a:solidFill>
            <a:srgbClr val="1A2E45"/>
          </a:solidFill>
          <a:ln w="1016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440" y="4242816"/>
            <a:ext cx="256032" cy="896112"/>
          </a:xfrm>
          <a:prstGeom prst="rect">
            <a:avLst/>
          </a:prstGeom>
          <a:solidFill>
            <a:srgbClr val="F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 y="4242816"/>
            <a:ext cx="256032" cy="896112"/>
          </a:xfrm>
          <a:prstGeom prst="rect">
            <a:avLst/>
          </a:prstGeom>
          <a:noFill/>
        </p:spPr>
        <p:txBody>
          <a:bodyPr wrap="square"/>
          <a:lstStyle/>
          <a:p>
            <a:pPr algn="ctr"/>
            <a:r>
              <a:rPr sz="1200" b="1" i="0">
                <a:solidFill>
                  <a:srgbClr val="FFFFFF"/>
                </a:solidFill>
                <a:latin typeface="Calibri"/>
              </a:rPr>
              <a:t>4</a:t>
            </a:r>
          </a:p>
        </p:txBody>
      </p:sp>
      <p:sp>
        <p:nvSpPr>
          <p:cNvPr id="25" name="TextBox 24"/>
          <p:cNvSpPr txBox="1"/>
          <p:nvPr/>
        </p:nvSpPr>
        <p:spPr>
          <a:xfrm>
            <a:off x="393192" y="4315968"/>
            <a:ext cx="5596128" cy="777240"/>
          </a:xfrm>
          <a:prstGeom prst="rect">
            <a:avLst/>
          </a:prstGeom>
          <a:noFill/>
        </p:spPr>
        <p:txBody>
          <a:bodyPr wrap="square"/>
          <a:lstStyle/>
          <a:p>
            <a:pPr algn="l"/>
            <a:r>
              <a:rPr sz="1000" b="0" i="0">
                <a:solidFill>
                  <a:srgbClr val="D0D8E8"/>
                </a:solidFill>
                <a:latin typeface="Calibri"/>
              </a:rPr>
              <a:t>GPS lock delay at recording start — first few minutes
have no valid latitude/longitude</a:t>
            </a:r>
          </a:p>
        </p:txBody>
      </p:sp>
      <p:sp>
        <p:nvSpPr>
          <p:cNvPr id="26" name="Rectangle 25"/>
          <p:cNvSpPr/>
          <p:nvPr/>
        </p:nvSpPr>
        <p:spPr>
          <a:xfrm>
            <a:off x="91440" y="5184648"/>
            <a:ext cx="5943600" cy="896112"/>
          </a:xfrm>
          <a:prstGeom prst="rect">
            <a:avLst/>
          </a:prstGeom>
          <a:solidFill>
            <a:srgbClr val="1A2E45"/>
          </a:solidFill>
          <a:ln w="1016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1440" y="5184648"/>
            <a:ext cx="256032" cy="896112"/>
          </a:xfrm>
          <a:prstGeom prst="rect">
            <a:avLst/>
          </a:prstGeom>
          <a:solidFill>
            <a:srgbClr val="FF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 y="5184648"/>
            <a:ext cx="256032" cy="896112"/>
          </a:xfrm>
          <a:prstGeom prst="rect">
            <a:avLst/>
          </a:prstGeom>
          <a:noFill/>
        </p:spPr>
        <p:txBody>
          <a:bodyPr wrap="square"/>
          <a:lstStyle/>
          <a:p>
            <a:pPr algn="ctr"/>
            <a:r>
              <a:rPr sz="1200" b="1" i="0">
                <a:solidFill>
                  <a:srgbClr val="FFFFFF"/>
                </a:solidFill>
                <a:latin typeface="Calibri"/>
              </a:rPr>
              <a:t>5</a:t>
            </a:r>
          </a:p>
        </p:txBody>
      </p:sp>
      <p:sp>
        <p:nvSpPr>
          <p:cNvPr id="29" name="TextBox 28"/>
          <p:cNvSpPr txBox="1"/>
          <p:nvPr/>
        </p:nvSpPr>
        <p:spPr>
          <a:xfrm>
            <a:off x="393192" y="5257800"/>
            <a:ext cx="5596128" cy="777240"/>
          </a:xfrm>
          <a:prstGeom prst="rect">
            <a:avLst/>
          </a:prstGeom>
          <a:noFill/>
        </p:spPr>
        <p:txBody>
          <a:bodyPr wrap="square"/>
          <a:lstStyle/>
          <a:p>
            <a:pPr algn="l"/>
            <a:r>
              <a:rPr sz="1000" b="0" i="0">
                <a:solidFill>
                  <a:srgbClr val="D0D8E8"/>
                </a:solidFill>
                <a:latin typeface="Calibri"/>
              </a:rPr>
              <a:t>Map markers placed at nearest GPS fix — not exact anomaly
coordinate (up to ~1–2 s offset)</a:t>
            </a:r>
          </a:p>
        </p:txBody>
      </p:sp>
      <p:sp>
        <p:nvSpPr>
          <p:cNvPr id="30" name="TextBox 29"/>
          <p:cNvSpPr txBox="1"/>
          <p:nvPr/>
        </p:nvSpPr>
        <p:spPr>
          <a:xfrm>
            <a:off x="6263640" y="1051560"/>
            <a:ext cx="5852160" cy="274320"/>
          </a:xfrm>
          <a:prstGeom prst="rect">
            <a:avLst/>
          </a:prstGeom>
          <a:noFill/>
        </p:spPr>
        <p:txBody>
          <a:bodyPr wrap="square"/>
          <a:lstStyle/>
          <a:p>
            <a:pPr algn="l"/>
            <a:r>
              <a:rPr sz="1300" b="1" i="0">
                <a:solidFill>
                  <a:srgbClr val="00C864"/>
                </a:solidFill>
                <a:latin typeface="Calibri"/>
              </a:rPr>
              <a:t>Planned Next Steps</a:t>
            </a:r>
          </a:p>
        </p:txBody>
      </p:sp>
      <p:sp>
        <p:nvSpPr>
          <p:cNvPr id="31" name="Rectangle 30"/>
          <p:cNvSpPr/>
          <p:nvPr/>
        </p:nvSpPr>
        <p:spPr>
          <a:xfrm>
            <a:off x="6263640" y="1417320"/>
            <a:ext cx="5852160" cy="896112"/>
          </a:xfrm>
          <a:prstGeom prst="rect">
            <a:avLst/>
          </a:prstGeom>
          <a:solidFill>
            <a:srgbClr val="1A2E45"/>
          </a:solidFill>
          <a:ln w="10160">
            <a:solidFill>
              <a:srgbClr val="00C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63640" y="1417320"/>
            <a:ext cx="256032" cy="896112"/>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63640" y="1417320"/>
            <a:ext cx="256032" cy="896112"/>
          </a:xfrm>
          <a:prstGeom prst="rect">
            <a:avLst/>
          </a:prstGeom>
          <a:noFill/>
        </p:spPr>
        <p:txBody>
          <a:bodyPr wrap="square"/>
          <a:lstStyle/>
          <a:p>
            <a:pPr algn="ctr"/>
            <a:r>
              <a:rPr sz="1200" b="1" i="0">
                <a:solidFill>
                  <a:srgbClr val="FFFFFF"/>
                </a:solidFill>
                <a:latin typeface="Calibri"/>
              </a:rPr>
              <a:t>1</a:t>
            </a:r>
          </a:p>
        </p:txBody>
      </p:sp>
      <p:sp>
        <p:nvSpPr>
          <p:cNvPr id="34" name="TextBox 33"/>
          <p:cNvSpPr txBox="1"/>
          <p:nvPr/>
        </p:nvSpPr>
        <p:spPr>
          <a:xfrm>
            <a:off x="6565392" y="1490472"/>
            <a:ext cx="5504688" cy="777240"/>
          </a:xfrm>
          <a:prstGeom prst="rect">
            <a:avLst/>
          </a:prstGeom>
          <a:noFill/>
        </p:spPr>
        <p:txBody>
          <a:bodyPr wrap="square"/>
          <a:lstStyle/>
          <a:p>
            <a:pPr algn="l"/>
            <a:r>
              <a:rPr sz="1000" b="0" i="0">
                <a:solidFill>
                  <a:srgbClr val="D0D8E8"/>
                </a:solidFill>
                <a:latin typeface="Calibri"/>
              </a:rPr>
              <a:t>Collect more labeled POTHOLE and ROUGH road recordings
using all three vehicle types with precise GPS</a:t>
            </a:r>
          </a:p>
        </p:txBody>
      </p:sp>
      <p:sp>
        <p:nvSpPr>
          <p:cNvPr id="35" name="Rectangle 34"/>
          <p:cNvSpPr/>
          <p:nvPr/>
        </p:nvSpPr>
        <p:spPr>
          <a:xfrm>
            <a:off x="6263640" y="2359152"/>
            <a:ext cx="5852160" cy="896112"/>
          </a:xfrm>
          <a:prstGeom prst="rect">
            <a:avLst/>
          </a:prstGeom>
          <a:solidFill>
            <a:srgbClr val="1A2E45"/>
          </a:solidFill>
          <a:ln w="10160">
            <a:solidFill>
              <a:srgbClr val="00C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63640" y="2359152"/>
            <a:ext cx="256032" cy="896112"/>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63640" y="2359152"/>
            <a:ext cx="256032" cy="896112"/>
          </a:xfrm>
          <a:prstGeom prst="rect">
            <a:avLst/>
          </a:prstGeom>
          <a:noFill/>
        </p:spPr>
        <p:txBody>
          <a:bodyPr wrap="square"/>
          <a:lstStyle/>
          <a:p>
            <a:pPr algn="ctr"/>
            <a:r>
              <a:rPr sz="1200" b="1" i="0">
                <a:solidFill>
                  <a:srgbClr val="FFFFFF"/>
                </a:solidFill>
                <a:latin typeface="Calibri"/>
              </a:rPr>
              <a:t>2</a:t>
            </a:r>
          </a:p>
        </p:txBody>
      </p:sp>
      <p:sp>
        <p:nvSpPr>
          <p:cNvPr id="38" name="TextBox 37"/>
          <p:cNvSpPr txBox="1"/>
          <p:nvPr/>
        </p:nvSpPr>
        <p:spPr>
          <a:xfrm>
            <a:off x="6565392" y="2432304"/>
            <a:ext cx="5504688" cy="777240"/>
          </a:xfrm>
          <a:prstGeom prst="rect">
            <a:avLst/>
          </a:prstGeom>
          <a:noFill/>
        </p:spPr>
        <p:txBody>
          <a:bodyPr wrap="square"/>
          <a:lstStyle/>
          <a:p>
            <a:pPr algn="l"/>
            <a:r>
              <a:rPr sz="1000" b="0" i="0">
                <a:solidFill>
                  <a:srgbClr val="D0D8E8"/>
                </a:solidFill>
                <a:latin typeface="Calibri"/>
              </a:rPr>
              <a:t>Fix DSP ablation: run calibration within each vehicle dataset
separately (not across datasets)</a:t>
            </a:r>
          </a:p>
        </p:txBody>
      </p:sp>
      <p:sp>
        <p:nvSpPr>
          <p:cNvPr id="39" name="Rectangle 38"/>
          <p:cNvSpPr/>
          <p:nvPr/>
        </p:nvSpPr>
        <p:spPr>
          <a:xfrm>
            <a:off x="6263640" y="3300984"/>
            <a:ext cx="5852160" cy="896112"/>
          </a:xfrm>
          <a:prstGeom prst="rect">
            <a:avLst/>
          </a:prstGeom>
          <a:solidFill>
            <a:srgbClr val="1A2E45"/>
          </a:solidFill>
          <a:ln w="10160">
            <a:solidFill>
              <a:srgbClr val="00C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263640" y="3300984"/>
            <a:ext cx="256032" cy="896112"/>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63640" y="3300984"/>
            <a:ext cx="256032" cy="896112"/>
          </a:xfrm>
          <a:prstGeom prst="rect">
            <a:avLst/>
          </a:prstGeom>
          <a:noFill/>
        </p:spPr>
        <p:txBody>
          <a:bodyPr wrap="square"/>
          <a:lstStyle/>
          <a:p>
            <a:pPr algn="ctr"/>
            <a:r>
              <a:rPr sz="1200" b="1" i="0">
                <a:solidFill>
                  <a:srgbClr val="FFFFFF"/>
                </a:solidFill>
                <a:latin typeface="Calibri"/>
              </a:rPr>
              <a:t>3</a:t>
            </a:r>
          </a:p>
        </p:txBody>
      </p:sp>
      <p:sp>
        <p:nvSpPr>
          <p:cNvPr id="42" name="TextBox 41"/>
          <p:cNvSpPr txBox="1"/>
          <p:nvPr/>
        </p:nvSpPr>
        <p:spPr>
          <a:xfrm>
            <a:off x="6565392" y="3374136"/>
            <a:ext cx="5504688" cy="777240"/>
          </a:xfrm>
          <a:prstGeom prst="rect">
            <a:avLst/>
          </a:prstGeom>
          <a:noFill/>
        </p:spPr>
        <p:txBody>
          <a:bodyPr wrap="square"/>
          <a:lstStyle/>
          <a:p>
            <a:pPr algn="l"/>
            <a:r>
              <a:rPr sz="1000" b="0" i="0">
                <a:solidFill>
                  <a:srgbClr val="D0D8E8"/>
                </a:solidFill>
                <a:latin typeface="Calibri"/>
              </a:rPr>
              <a:t>Balance class labels using oversampling (SMOTE) or
weighted loss for minority classes</a:t>
            </a:r>
          </a:p>
        </p:txBody>
      </p:sp>
      <p:sp>
        <p:nvSpPr>
          <p:cNvPr id="43" name="Rectangle 42"/>
          <p:cNvSpPr/>
          <p:nvPr/>
        </p:nvSpPr>
        <p:spPr>
          <a:xfrm>
            <a:off x="6263640" y="4242816"/>
            <a:ext cx="5852160" cy="896112"/>
          </a:xfrm>
          <a:prstGeom prst="rect">
            <a:avLst/>
          </a:prstGeom>
          <a:solidFill>
            <a:srgbClr val="1A2E45"/>
          </a:solidFill>
          <a:ln w="10160">
            <a:solidFill>
              <a:srgbClr val="00C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63640" y="4242816"/>
            <a:ext cx="256032" cy="896112"/>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63640" y="4242816"/>
            <a:ext cx="256032" cy="896112"/>
          </a:xfrm>
          <a:prstGeom prst="rect">
            <a:avLst/>
          </a:prstGeom>
          <a:noFill/>
        </p:spPr>
        <p:txBody>
          <a:bodyPr wrap="square"/>
          <a:lstStyle/>
          <a:p>
            <a:pPr algn="ctr"/>
            <a:r>
              <a:rPr sz="1200" b="1" i="0">
                <a:solidFill>
                  <a:srgbClr val="FFFFFF"/>
                </a:solidFill>
                <a:latin typeface="Calibri"/>
              </a:rPr>
              <a:t>4</a:t>
            </a:r>
          </a:p>
        </p:txBody>
      </p:sp>
      <p:sp>
        <p:nvSpPr>
          <p:cNvPr id="46" name="TextBox 45"/>
          <p:cNvSpPr txBox="1"/>
          <p:nvPr/>
        </p:nvSpPr>
        <p:spPr>
          <a:xfrm>
            <a:off x="6565392" y="4315968"/>
            <a:ext cx="5504688" cy="777240"/>
          </a:xfrm>
          <a:prstGeom prst="rect">
            <a:avLst/>
          </a:prstGeom>
          <a:noFill/>
        </p:spPr>
        <p:txBody>
          <a:bodyPr wrap="square"/>
          <a:lstStyle/>
          <a:p>
            <a:pPr algn="l"/>
            <a:r>
              <a:rPr sz="1000" b="0" i="0">
                <a:solidFill>
                  <a:srgbClr val="D0D8E8"/>
                </a:solidFill>
                <a:latin typeface="Calibri"/>
              </a:rPr>
              <a:t>Validate GPS localization accuracy against ground-truth
coordinates for known potholes</a:t>
            </a:r>
          </a:p>
        </p:txBody>
      </p:sp>
      <p:sp>
        <p:nvSpPr>
          <p:cNvPr id="47" name="Rectangle 46"/>
          <p:cNvSpPr/>
          <p:nvPr/>
        </p:nvSpPr>
        <p:spPr>
          <a:xfrm>
            <a:off x="6263640" y="5184648"/>
            <a:ext cx="5852160" cy="896112"/>
          </a:xfrm>
          <a:prstGeom prst="rect">
            <a:avLst/>
          </a:prstGeom>
          <a:solidFill>
            <a:srgbClr val="1A2E45"/>
          </a:solidFill>
          <a:ln w="10160">
            <a:solidFill>
              <a:srgbClr val="00C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263640" y="5184648"/>
            <a:ext cx="256032" cy="896112"/>
          </a:xfrm>
          <a:prstGeom prst="rect">
            <a:avLst/>
          </a:prstGeom>
          <a:solidFill>
            <a:srgbClr val="00C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263640" y="5184648"/>
            <a:ext cx="256032" cy="896112"/>
          </a:xfrm>
          <a:prstGeom prst="rect">
            <a:avLst/>
          </a:prstGeom>
          <a:noFill/>
        </p:spPr>
        <p:txBody>
          <a:bodyPr wrap="square"/>
          <a:lstStyle/>
          <a:p>
            <a:pPr algn="ctr"/>
            <a:r>
              <a:rPr sz="1200" b="1" i="0">
                <a:solidFill>
                  <a:srgbClr val="FFFFFF"/>
                </a:solidFill>
                <a:latin typeface="Calibri"/>
              </a:rPr>
              <a:t>5</a:t>
            </a:r>
          </a:p>
        </p:txBody>
      </p:sp>
      <p:sp>
        <p:nvSpPr>
          <p:cNvPr id="50" name="TextBox 49"/>
          <p:cNvSpPr txBox="1"/>
          <p:nvPr/>
        </p:nvSpPr>
        <p:spPr>
          <a:xfrm>
            <a:off x="6565392" y="5257800"/>
            <a:ext cx="5504688" cy="777240"/>
          </a:xfrm>
          <a:prstGeom prst="rect">
            <a:avLst/>
          </a:prstGeom>
          <a:noFill/>
        </p:spPr>
        <p:txBody>
          <a:bodyPr wrap="square"/>
          <a:lstStyle/>
          <a:p>
            <a:pPr algn="l"/>
            <a:r>
              <a:rPr sz="1000" b="0" i="0">
                <a:solidFill>
                  <a:srgbClr val="D0D8E8"/>
                </a:solidFill>
                <a:latin typeface="Calibri"/>
              </a:rPr>
              <a:t>Test on an external independent dataset (different city /
different smartphone model)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137160"/>
            <a:ext cx="10972800" cy="640080"/>
          </a:xfrm>
          <a:prstGeom prst="rect">
            <a:avLst/>
          </a:prstGeom>
          <a:noFill/>
        </p:spPr>
        <p:txBody>
          <a:bodyPr wrap="square"/>
          <a:lstStyle/>
          <a:p>
            <a:pPr algn="l"/>
            <a:r>
              <a:rPr sz="2800" b="1" i="0">
                <a:solidFill>
                  <a:srgbClr val="FFFFFF"/>
                </a:solidFill>
                <a:latin typeface="Calibri"/>
              </a:rPr>
              <a:t>Conclusion</a:t>
            </a:r>
          </a:p>
        </p:txBody>
      </p:sp>
      <p:sp>
        <p:nvSpPr>
          <p:cNvPr id="5" name="Rectangle 4"/>
          <p:cNvSpPr/>
          <p:nvPr/>
        </p:nvSpPr>
        <p:spPr>
          <a:xfrm>
            <a:off x="0" y="6492240"/>
            <a:ext cx="12188952" cy="365760"/>
          </a:xfrm>
          <a:prstGeom prst="rect">
            <a:avLst/>
          </a:prstGeom>
          <a:solidFill>
            <a:srgbClr val="070F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 y="1051560"/>
            <a:ext cx="384048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 y="1051560"/>
            <a:ext cx="3840480" cy="292608"/>
          </a:xfrm>
          <a:prstGeom prst="rect">
            <a:avLst/>
          </a:prstGeom>
          <a:noFill/>
        </p:spPr>
        <p:txBody>
          <a:bodyPr wrap="square"/>
          <a:lstStyle/>
          <a:p>
            <a:pPr algn="ctr"/>
            <a:r>
              <a:rPr sz="1000" b="1" i="0">
                <a:solidFill>
                  <a:srgbClr val="0D1B2A"/>
                </a:solidFill>
                <a:latin typeface="Calibri"/>
              </a:rPr>
              <a:t>✔  What Has Been Implemented</a:t>
            </a:r>
          </a:p>
        </p:txBody>
      </p:sp>
      <p:sp>
        <p:nvSpPr>
          <p:cNvPr id="9" name="Rectangle 8"/>
          <p:cNvSpPr/>
          <p:nvPr/>
        </p:nvSpPr>
        <p:spPr>
          <a:xfrm>
            <a:off x="91440" y="1344168"/>
            <a:ext cx="3840480" cy="5029200"/>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 y="1417320"/>
            <a:ext cx="3657600" cy="4846320"/>
          </a:xfrm>
          <a:prstGeom prst="rect">
            <a:avLst/>
          </a:prstGeom>
          <a:noFill/>
        </p:spPr>
        <p:txBody>
          <a:bodyPr wrap="square">
            <a:spAutoFit/>
          </a:bodyPr>
          <a:lstStyle/>
          <a:p>
            <a:pPr algn="l">
              <a:lnSpc>
                <a:spcPts val="1700"/>
              </a:lnSpc>
            </a:pPr>
            <a:r>
              <a:rPr sz="1000" b="0">
                <a:solidFill>
                  <a:srgbClr val="D0D8E8"/>
                </a:solidFill>
                <a:latin typeface="Calibri"/>
              </a:rPr>
              <a:t>• End-to-end pipeline: CSV upload → 8-stage DSP → 77-feature extraction → Random Forest classification → GPS Folium map</a:t>
            </a:r>
          </a:p>
          <a:p>
            <a:pPr algn="l">
              <a:lnSpc>
                <a:spcPts val="1700"/>
              </a:lnSpc>
            </a:pPr>
            <a:r>
              <a:rPr sz="1000" b="0">
                <a:solidFill>
                  <a:srgbClr val="D0D8E8"/>
                </a:solidFill>
                <a:latin typeface="Calibri"/>
              </a:rPr>
              <a:t>• Three vehicle datasets collected and validated (2W: 51K rows, 3W: 82K rows, 4W: 82K rows)</a:t>
            </a:r>
          </a:p>
          <a:p>
            <a:pPr algn="l">
              <a:lnSpc>
                <a:spcPts val="1700"/>
              </a:lnSpc>
            </a:pPr>
            <a:r>
              <a:rPr sz="1000" b="0">
                <a:solidFill>
                  <a:srgbClr val="D0D8E8"/>
                </a:solidFill>
                <a:latin typeface="Calibri"/>
              </a:rPr>
              <a:t>• Adaptive jerk-based anomaly detection with POTHOLE / SPEED BREAKER signal discrimination</a:t>
            </a:r>
          </a:p>
          <a:p>
            <a:pPr algn="l">
              <a:lnSpc>
                <a:spcPts val="1700"/>
              </a:lnSpc>
            </a:pPr>
            <a:r>
              <a:rPr sz="1000" b="0">
                <a:solidFill>
                  <a:srgbClr val="D0D8E8"/>
                </a:solidFill>
                <a:latin typeface="Calibri"/>
              </a:rPr>
              <a:t>• Session-aware GroupShuffleSplit evaluation to prevent data leakage</a:t>
            </a:r>
          </a:p>
        </p:txBody>
      </p:sp>
      <p:sp>
        <p:nvSpPr>
          <p:cNvPr id="11" name="Rectangle 10"/>
          <p:cNvSpPr/>
          <p:nvPr/>
        </p:nvSpPr>
        <p:spPr>
          <a:xfrm>
            <a:off x="4133088" y="1051560"/>
            <a:ext cx="3840480" cy="29260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33088" y="1051560"/>
            <a:ext cx="3840480" cy="292608"/>
          </a:xfrm>
          <a:prstGeom prst="rect">
            <a:avLst/>
          </a:prstGeom>
          <a:noFill/>
        </p:spPr>
        <p:txBody>
          <a:bodyPr wrap="square"/>
          <a:lstStyle/>
          <a:p>
            <a:pPr algn="ctr"/>
            <a:r>
              <a:rPr sz="1000" b="1" i="0">
                <a:solidFill>
                  <a:srgbClr val="0D1B2A"/>
                </a:solidFill>
                <a:latin typeface="Calibri"/>
              </a:rPr>
              <a:t>📊  What the Results Show</a:t>
            </a:r>
          </a:p>
        </p:txBody>
      </p:sp>
      <p:sp>
        <p:nvSpPr>
          <p:cNvPr id="13" name="Rectangle 12"/>
          <p:cNvSpPr/>
          <p:nvPr/>
        </p:nvSpPr>
        <p:spPr>
          <a:xfrm>
            <a:off x="4133088" y="1344168"/>
            <a:ext cx="3840480" cy="5029200"/>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24528" y="1417320"/>
            <a:ext cx="3657600" cy="4846320"/>
          </a:xfrm>
          <a:prstGeom prst="rect">
            <a:avLst/>
          </a:prstGeom>
          <a:noFill/>
        </p:spPr>
        <p:txBody>
          <a:bodyPr wrap="square">
            <a:spAutoFit/>
          </a:bodyPr>
          <a:lstStyle/>
          <a:p>
            <a:pPr algn="l">
              <a:lnSpc>
                <a:spcPts val="1700"/>
              </a:lnSpc>
            </a:pPr>
            <a:r>
              <a:rPr sz="1000" b="0">
                <a:solidFill>
                  <a:srgbClr val="D0D8E8"/>
                </a:solidFill>
                <a:latin typeface="Calibri"/>
              </a:rPr>
              <a:t>• Individual-vehicle accuracy: 89.9% (2W), 99.4% (3W), 99.4% (4W)</a:t>
            </a:r>
          </a:p>
          <a:p>
            <a:pPr algn="l">
              <a:lnSpc>
                <a:spcPts val="1700"/>
              </a:lnSpc>
            </a:pPr>
            <a:r>
              <a:rPr sz="1000" b="0">
                <a:solidFill>
                  <a:srgbClr val="D0D8E8"/>
                </a:solidFill>
                <a:latin typeface="Calibri"/>
              </a:rPr>
              <a:t>• Cross-vehicle (Exp B): 97.6% when testing on unseen 4W or 3W; drops to 80.4% for unseen 2W</a:t>
            </a:r>
          </a:p>
          <a:p>
            <a:pPr algn="l">
              <a:lnSpc>
                <a:spcPts val="1700"/>
              </a:lnSpc>
            </a:pPr>
            <a:r>
              <a:rPr sz="1000" b="0">
                <a:solidFill>
                  <a:srgbClr val="D0D8E8"/>
                </a:solidFill>
                <a:latin typeface="Calibri"/>
              </a:rPr>
              <a:t>• SMOOTH and SPEED BREAKER classes well-classified (F1 ≈ 0.81–0.81); POTHOLE requires more labeled data</a:t>
            </a:r>
          </a:p>
          <a:p>
            <a:pPr algn="l">
              <a:lnSpc>
                <a:spcPts val="1700"/>
              </a:lnSpc>
            </a:pPr>
            <a:r>
              <a:rPr sz="1000" b="0">
                <a:solidFill>
                  <a:srgbClr val="D0D8E8"/>
                </a:solidFill>
                <a:latin typeface="Calibri"/>
              </a:rPr>
              <a:t>• DSP calibration appears to enable generalization — further controlled ablation needed to confirm</a:t>
            </a:r>
          </a:p>
        </p:txBody>
      </p:sp>
      <p:sp>
        <p:nvSpPr>
          <p:cNvPr id="15" name="Rectangle 14"/>
          <p:cNvSpPr/>
          <p:nvPr/>
        </p:nvSpPr>
        <p:spPr>
          <a:xfrm>
            <a:off x="8174736" y="1051560"/>
            <a:ext cx="3840480" cy="29260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74736" y="1051560"/>
            <a:ext cx="3840480" cy="292608"/>
          </a:xfrm>
          <a:prstGeom prst="rect">
            <a:avLst/>
          </a:prstGeom>
          <a:noFill/>
        </p:spPr>
        <p:txBody>
          <a:bodyPr wrap="square"/>
          <a:lstStyle/>
          <a:p>
            <a:pPr algn="ctr"/>
            <a:r>
              <a:rPr sz="1000" b="1" i="0">
                <a:solidFill>
                  <a:srgbClr val="0D1B2A"/>
                </a:solidFill>
                <a:latin typeface="Calibri"/>
              </a:rPr>
              <a:t>⏳  Research Question Status</a:t>
            </a:r>
          </a:p>
        </p:txBody>
      </p:sp>
      <p:sp>
        <p:nvSpPr>
          <p:cNvPr id="17" name="Rectangle 16"/>
          <p:cNvSpPr/>
          <p:nvPr/>
        </p:nvSpPr>
        <p:spPr>
          <a:xfrm>
            <a:off x="8174736" y="1344168"/>
            <a:ext cx="3840480" cy="5029200"/>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66176" y="1417320"/>
            <a:ext cx="3657600" cy="4846320"/>
          </a:xfrm>
          <a:prstGeom prst="rect">
            <a:avLst/>
          </a:prstGeom>
          <a:noFill/>
        </p:spPr>
        <p:txBody>
          <a:bodyPr wrap="square">
            <a:spAutoFit/>
          </a:bodyPr>
          <a:lstStyle/>
          <a:p>
            <a:pPr algn="l">
              <a:lnSpc>
                <a:spcPts val="1700"/>
              </a:lnSpc>
            </a:pPr>
            <a:r>
              <a:rPr sz="1000" b="0">
                <a:solidFill>
                  <a:srgbClr val="D0D8E8"/>
                </a:solidFill>
                <a:latin typeface="Calibri"/>
              </a:rPr>
              <a:t>• Can DSP calibration reduce vehicle-dependent variation for cross-vehicle road anomaly classification?</a:t>
            </a:r>
          </a:p>
          <a:p>
            <a:pPr algn="l">
              <a:lnSpc>
                <a:spcPts val="1700"/>
              </a:lnSpc>
            </a:pPr>
            <a:r>
              <a:rPr sz="1000" b="0">
                <a:solidFill>
                  <a:srgbClr val="D0D8E8"/>
                </a:solidFill>
                <a:latin typeface="Calibri"/>
              </a:rPr>
              <a:t>• Preliminary results are encouraging — 97.6% cross-vehicle accuracy for 4W and 3W test vehicles</a:t>
            </a:r>
          </a:p>
          <a:p>
            <a:pPr algn="l">
              <a:lnSpc>
                <a:spcPts val="1700"/>
              </a:lnSpc>
            </a:pPr>
            <a:r>
              <a:rPr sz="1000" b="0">
                <a:solidFill>
                  <a:srgbClr val="D0D8E8"/>
                </a:solidFill>
                <a:latin typeface="Calibri"/>
              </a:rPr>
              <a:t>• 2-Wheeler generalization (80.4%) needs larger dataset and balanced class representation</a:t>
            </a:r>
          </a:p>
          <a:p>
            <a:pPr algn="l">
              <a:lnSpc>
                <a:spcPts val="1700"/>
              </a:lnSpc>
            </a:pPr>
            <a:r>
              <a:rPr sz="1000" b="0">
                <a:solidFill>
                  <a:srgbClr val="D0D8E8"/>
                </a:solidFill>
                <a:latin typeface="Calibri"/>
              </a:rPr>
              <a:t>• Controlled DSP ablation study (raw vs calibrated with matched datasets) is pending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803136"/>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457200" cy="68580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972800" cy="1280160"/>
          </a:xfrm>
          <a:prstGeom prst="rect">
            <a:avLst/>
          </a:prstGeom>
          <a:noFill/>
        </p:spPr>
        <p:txBody>
          <a:bodyPr wrap="square"/>
          <a:lstStyle/>
          <a:p>
            <a:pPr algn="ctr"/>
            <a:r>
              <a:rPr sz="5600" b="1" i="0">
                <a:solidFill>
                  <a:srgbClr val="FFFFFF"/>
                </a:solidFill>
                <a:latin typeface="Calibri"/>
              </a:rPr>
              <a:t>Thank You</a:t>
            </a:r>
          </a:p>
        </p:txBody>
      </p:sp>
      <p:sp>
        <p:nvSpPr>
          <p:cNvPr id="6" name="Rectangle 5"/>
          <p:cNvSpPr/>
          <p:nvPr/>
        </p:nvSpPr>
        <p:spPr>
          <a:xfrm>
            <a:off x="1828800" y="2743200"/>
            <a:ext cx="8229600" cy="36576"/>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834640"/>
            <a:ext cx="10972800" cy="457200"/>
          </a:xfrm>
          <a:prstGeom prst="rect">
            <a:avLst/>
          </a:prstGeom>
          <a:noFill/>
        </p:spPr>
        <p:txBody>
          <a:bodyPr wrap="square"/>
          <a:lstStyle/>
          <a:p>
            <a:pPr algn="ctr"/>
            <a:r>
              <a:rPr sz="1600" b="0" i="0">
                <a:solidFill>
                  <a:srgbClr val="D0D8E8"/>
                </a:solidFill>
                <a:latin typeface="Calibri"/>
              </a:rPr>
              <a:t>Vehicle-Independent Road Anomaly Classification Through DSP-Based Signal Calibration</a:t>
            </a:r>
          </a:p>
        </p:txBody>
      </p:sp>
      <p:sp>
        <p:nvSpPr>
          <p:cNvPr id="8" name="Rectangle 7"/>
          <p:cNvSpPr/>
          <p:nvPr/>
        </p:nvSpPr>
        <p:spPr>
          <a:xfrm>
            <a:off x="2286000" y="3520440"/>
            <a:ext cx="7315200" cy="2286000"/>
          </a:xfrm>
          <a:prstGeom prst="rect">
            <a:avLst/>
          </a:prstGeom>
          <a:solidFill>
            <a:srgbClr val="1A2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68880" y="3611880"/>
            <a:ext cx="6949440" cy="2103120"/>
          </a:xfrm>
          <a:prstGeom prst="rect">
            <a:avLst/>
          </a:prstGeom>
          <a:noFill/>
        </p:spPr>
        <p:txBody>
          <a:bodyPr wrap="square">
            <a:spAutoFit/>
          </a:bodyPr>
          <a:lstStyle/>
          <a:p>
            <a:pPr algn="l">
              <a:lnSpc>
                <a:spcPts val="1800"/>
              </a:lnSpc>
            </a:pPr>
            <a:r>
              <a:rPr sz="1200" b="1" dirty="0">
                <a:solidFill>
                  <a:srgbClr val="00C8FF"/>
                </a:solidFill>
                <a:latin typeface="Calibri"/>
              </a:rPr>
              <a:t>Research Question</a:t>
            </a:r>
          </a:p>
          <a:p>
            <a:pPr algn="l">
              <a:lnSpc>
                <a:spcPts val="1800"/>
              </a:lnSpc>
            </a:pPr>
            <a:r>
              <a:rPr sz="1100" b="0" dirty="0">
                <a:solidFill>
                  <a:srgbClr val="D0D8E8"/>
                </a:solidFill>
                <a:latin typeface="Calibri"/>
              </a:rPr>
              <a:t>Can DSP-based signal calibration reduce vehicle-dependent variation in smartphone</a:t>
            </a:r>
          </a:p>
          <a:p>
            <a:pPr algn="l">
              <a:lnSpc>
                <a:spcPts val="1800"/>
              </a:lnSpc>
            </a:pPr>
            <a:r>
              <a:rPr sz="1100" b="0" dirty="0">
                <a:solidFill>
                  <a:srgbClr val="D0D8E8"/>
                </a:solidFill>
                <a:latin typeface="Calibri"/>
              </a:rPr>
              <a:t>accelerometer/gyroscope signals and improve road-anomaly classification consistency</a:t>
            </a:r>
          </a:p>
          <a:p>
            <a:pPr algn="l">
              <a:lnSpc>
                <a:spcPts val="1800"/>
              </a:lnSpc>
            </a:pPr>
            <a:r>
              <a:rPr sz="1100" b="0" dirty="0">
                <a:solidFill>
                  <a:srgbClr val="D0D8E8"/>
                </a:solidFill>
                <a:latin typeface="Calibri"/>
              </a:rPr>
              <a:t>across different vehicle types?</a:t>
            </a:r>
          </a:p>
          <a:p>
            <a:pPr algn="l">
              <a:lnSpc>
                <a:spcPts val="1800"/>
              </a:lnSpc>
            </a:pPr>
            <a:endParaRPr sz="1100" b="0" dirty="0">
              <a:solidFill>
                <a:srgbClr val="D0D8E8"/>
              </a:solidFill>
              <a:latin typeface="Calibri"/>
            </a:endParaRPr>
          </a:p>
          <a:p>
            <a:pPr algn="l">
              <a:lnSpc>
                <a:spcPts val="1800"/>
              </a:lnSpc>
            </a:pPr>
            <a:r>
              <a:rPr sz="1100" b="0" dirty="0">
                <a:solidFill>
                  <a:srgbClr val="D0D8E8"/>
                </a:solidFill>
                <a:latin typeface="Calibri"/>
              </a:rPr>
              <a:t>Team: Rahul Bodduna · Guna Shekar · Pavan </a:t>
            </a:r>
            <a:r>
              <a:rPr sz="1100" b="0" dirty="0" err="1">
                <a:solidFill>
                  <a:srgbClr val="D0D8E8"/>
                </a:solidFill>
                <a:latin typeface="Calibri"/>
              </a:rPr>
              <a:t>Biradhar</a:t>
            </a:r>
            <a:endParaRPr sz="1100" b="0" dirty="0">
              <a:solidFill>
                <a:srgbClr val="D0D8E8"/>
              </a:solidFill>
              <a:latin typeface="Calibri"/>
            </a:endParaRPr>
          </a:p>
          <a:p>
            <a:pPr algn="l">
              <a:lnSpc>
                <a:spcPts val="1800"/>
              </a:lnSpc>
            </a:pPr>
            <a:r>
              <a:rPr sz="1000" b="0" dirty="0">
                <a:solidFill>
                  <a:srgbClr val="D0D8E8"/>
                </a:solidFill>
                <a:latin typeface="Calibri"/>
              </a:rPr>
              <a:t>Supervisor: Dr. V. Sahiti  |  ECE, KLH University, Hyderabad  |  2025–26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TotalTime>
  <Words>2777</Words>
  <Application>Microsoft Office PowerPoint</Application>
  <PresentationFormat>Custom</PresentationFormat>
  <Paragraphs>402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Rahul Bodduna</cp:lastModifiedBy>
  <cp:revision>5</cp:revision>
  <dcterms:created xsi:type="dcterms:W3CDTF">2013-01-27T09:14:16Z</dcterms:created>
  <dcterms:modified xsi:type="dcterms:W3CDTF">2026-10-15T13:57:51Z</dcterms:modified>
  <cp:category/>
</cp:coreProperties>
</file>